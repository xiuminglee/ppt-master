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1E3A5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5" name="SVG Image 1"/>
          <p:cNvGrpSpPr/>
          <p:nvPr/>
        </p:nvGrpSpPr>
        <p:grpSpPr>
          <a:xfrm>
            <a:off x="571500" y="638175"/>
            <a:ext cx="1524000" cy="733425"/>
            <a:chOff x="571500" y="638175"/>
            <a:chExt cx="1524000" cy="733425"/>
          </a:xfrm>
          <a:solidFill>
            <a:srgbClr val="22D3EE"/>
          </a:solidFill>
        </p:grpSpPr>
        <p:sp>
          <p:nvSpPr>
            <p:cNvPr id="6" name="文本框 5"/>
            <p:cNvSpPr txBox="1"/>
            <p:nvPr/>
          </p:nvSpPr>
          <p:spPr>
            <a:xfrm>
              <a:off x="480060" y="592455"/>
              <a:ext cx="792480" cy="2533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50" spc="0" baseline="0">
                  <a:solidFill>
                    <a:srgbClr val="22D3EE"/>
                  </a:solidFill>
                  <a:latin typeface="Consolas" panose="020B0609020204030204"/>
                  <a:sym typeface="Consolas" panose="020B0609020204030204"/>
                  <a:rtl val="0"/>
                </a:rPr>
                <a:t>&lt;coding&gt;</a:t>
              </a:r>
              <a:endParaRPr lang="zh-CN" altLang="en-US" sz="1050" spc="0" baseline="0">
                <a:solidFill>
                  <a:srgbClr val="22D3EE"/>
                </a:solidFill>
                <a:latin typeface="Consolas" panose="020B0609020204030204"/>
                <a:sym typeface="Consolas" panose="020B0609020204030204"/>
                <a:rtl val="0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480060" y="782955"/>
              <a:ext cx="1706880" cy="2533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50" spc="0" baseline="0">
                  <a:solidFill>
                    <a:srgbClr val="22D3EE"/>
                  </a:solidFill>
                  <a:latin typeface="Consolas" panose="020B0609020204030204"/>
                  <a:sym typeface="Consolas" panose="020B0609020204030204"/>
                  <a:rtl val="0"/>
                </a:rPr>
                <a:t>const ai = new AI();</a:t>
              </a:r>
              <a:endParaRPr lang="zh-CN" altLang="en-US" sz="1050" spc="0" baseline="0">
                <a:solidFill>
                  <a:srgbClr val="22D3EE"/>
                </a:solidFill>
                <a:latin typeface="Consolas" panose="020B0609020204030204"/>
                <a:sym typeface="Consolas" panose="020B0609020204030204"/>
                <a:rtl val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480060" y="973455"/>
              <a:ext cx="1478280" cy="2533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50" spc="0" baseline="0">
                  <a:solidFill>
                    <a:srgbClr val="22D3EE"/>
                  </a:solidFill>
                  <a:latin typeface="Consolas" panose="020B0609020204030204"/>
                  <a:sym typeface="Consolas" panose="020B0609020204030204"/>
                  <a:rtl val="0"/>
                </a:rPr>
                <a:t>ai.generate(app);</a:t>
              </a:r>
              <a:endParaRPr lang="zh-CN" altLang="en-US" sz="1050" spc="0" baseline="0">
                <a:solidFill>
                  <a:srgbClr val="22D3EE"/>
                </a:solidFill>
                <a:latin typeface="Consolas" panose="020B0609020204030204"/>
                <a:sym typeface="Consolas" panose="020B0609020204030204"/>
                <a:rtl val="0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480060" y="1163955"/>
              <a:ext cx="868680" cy="2533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50" spc="0" baseline="0">
                  <a:solidFill>
                    <a:srgbClr val="22D3EE"/>
                  </a:solidFill>
                  <a:latin typeface="Consolas" panose="020B0609020204030204"/>
                  <a:sym typeface="Consolas" panose="020B0609020204030204"/>
                  <a:rtl val="0"/>
                </a:rPr>
                <a:t>&lt;/coding&gt;</a:t>
              </a:r>
              <a:endParaRPr lang="zh-CN" altLang="en-US" sz="1050" spc="0" baseline="0">
                <a:solidFill>
                  <a:srgbClr val="22D3EE"/>
                </a:solidFill>
                <a:latin typeface="Consolas" panose="020B0609020204030204"/>
                <a:sym typeface="Consolas" panose="020B0609020204030204"/>
                <a:rtl val="0"/>
              </a:endParaRPr>
            </a:p>
          </p:txBody>
        </p:sp>
      </p:grpSp>
      <p:grpSp>
        <p:nvGrpSpPr>
          <p:cNvPr id="10" name="SVG Image 1"/>
          <p:cNvGrpSpPr/>
          <p:nvPr/>
        </p:nvGrpSpPr>
        <p:grpSpPr>
          <a:xfrm>
            <a:off x="9048750" y="5400675"/>
            <a:ext cx="1371600" cy="352425"/>
            <a:chOff x="9048750" y="5400675"/>
            <a:chExt cx="1371600" cy="352425"/>
          </a:xfrm>
          <a:solidFill>
            <a:srgbClr val="22D3EE"/>
          </a:solidFill>
        </p:grpSpPr>
        <p:sp>
          <p:nvSpPr>
            <p:cNvPr id="11" name="文本框 10"/>
            <p:cNvSpPr txBox="1"/>
            <p:nvPr/>
          </p:nvSpPr>
          <p:spPr>
            <a:xfrm>
              <a:off x="8957310" y="5354955"/>
              <a:ext cx="1554480" cy="2533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50" spc="0" baseline="0">
                  <a:solidFill>
                    <a:srgbClr val="22D3EE"/>
                  </a:solidFill>
                  <a:latin typeface="Consolas" panose="020B0609020204030204"/>
                  <a:sym typeface="Consolas" panose="020B0609020204030204"/>
                  <a:rtl val="0"/>
                </a:rPr>
                <a:t>npm install ai-dev</a:t>
              </a:r>
              <a:endParaRPr lang="zh-CN" altLang="en-US" sz="1050" spc="0" baseline="0">
                <a:solidFill>
                  <a:srgbClr val="22D3EE"/>
                </a:solidFill>
                <a:latin typeface="Consolas" panose="020B0609020204030204"/>
                <a:sym typeface="Consolas" panose="020B0609020204030204"/>
                <a:rtl val="0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8957310" y="5526405"/>
              <a:ext cx="1344930" cy="2724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50" spc="0" baseline="0">
                  <a:solidFill>
                    <a:srgbClr val="22D3EE"/>
                  </a:solidFill>
                  <a:latin typeface="Segoe UI Symbol" panose="020B0502040204020203"/>
                  <a:sym typeface="Segoe UI Symbol" panose="020B0502040204020203"/>
                  <a:rtl val="0"/>
                </a:rPr>
                <a:t>✓</a:t>
              </a:r>
              <a:r>
                <a:rPr lang="zh-CN" altLang="en-US" sz="1050" spc="0" baseline="0">
                  <a:solidFill>
                    <a:srgbClr val="22D3EE"/>
                  </a:solidFill>
                  <a:latin typeface="Consolas" panose="020B0609020204030204"/>
                  <a:sym typeface="Consolas" panose="020B0609020204030204"/>
                  <a:rtl val="0"/>
                </a:rPr>
                <a:t> Built in 3.2s</a:t>
              </a:r>
              <a:endParaRPr lang="zh-CN" altLang="en-US" sz="1050" spc="0" baseline="0">
                <a:solidFill>
                  <a:srgbClr val="22D3EE"/>
                </a:solidFill>
                <a:latin typeface="Consolas" panose="020B0609020204030204"/>
                <a:sym typeface="Consolas" panose="020B0609020204030204"/>
                <a:rtl val="0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>
          <a:xfrm>
            <a:off x="8763000" y="-285750"/>
            <a:ext cx="3429000" cy="3429000"/>
          </a:xfrm>
          <a:custGeom>
            <a:avLst/>
            <a:gdLst>
              <a:gd name="connsiteX0" fmla="*/ 3429000 w 3429000"/>
              <a:gd name="connsiteY0" fmla="*/ 1714500 h 3429000"/>
              <a:gd name="connsiteX1" fmla="*/ 1714500 w 3429000"/>
              <a:gd name="connsiteY1" fmla="*/ 3429000 h 3429000"/>
              <a:gd name="connsiteX2" fmla="*/ 0 w 3429000"/>
              <a:gd name="connsiteY2" fmla="*/ 1714500 h 3429000"/>
              <a:gd name="connsiteX3" fmla="*/ 1714500 w 3429000"/>
              <a:gd name="connsiteY3" fmla="*/ 0 h 3429000"/>
              <a:gd name="connsiteX4" fmla="*/ 3429000 w 3429000"/>
              <a:gd name="connsiteY4" fmla="*/ 17145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9000" h="3429000">
                <a:moveTo>
                  <a:pt x="3429000" y="1714500"/>
                </a:moveTo>
                <a:cubicBezTo>
                  <a:pt x="3429000" y="2661392"/>
                  <a:pt x="2661392" y="3429000"/>
                  <a:pt x="1714500" y="3429000"/>
                </a:cubicBezTo>
                <a:cubicBezTo>
                  <a:pt x="767608" y="3429000"/>
                  <a:pt x="0" y="2661392"/>
                  <a:pt x="0" y="1714500"/>
                </a:cubicBezTo>
                <a:cubicBezTo>
                  <a:pt x="0" y="767608"/>
                  <a:pt x="767608" y="0"/>
                  <a:pt x="1714500" y="0"/>
                </a:cubicBezTo>
                <a:cubicBezTo>
                  <a:pt x="2661392" y="0"/>
                  <a:pt x="3429000" y="767608"/>
                  <a:pt x="3429000" y="1714500"/>
                </a:cubicBezTo>
                <a:close/>
              </a:path>
            </a:pathLst>
          </a:custGeom>
          <a:solidFill>
            <a:srgbClr val="22D3EE">
              <a:alpha val="15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任意多边形: 形状 13"/>
          <p:cNvSpPr/>
          <p:nvPr/>
        </p:nvSpPr>
        <p:spPr>
          <a:xfrm>
            <a:off x="571500" y="4572000"/>
            <a:ext cx="2286000" cy="2286000"/>
          </a:xfrm>
          <a:custGeom>
            <a:avLst/>
            <a:gdLst>
              <a:gd name="connsiteX0" fmla="*/ 2286000 w 2286000"/>
              <a:gd name="connsiteY0" fmla="*/ 1143000 h 2286000"/>
              <a:gd name="connsiteX1" fmla="*/ 1143000 w 2286000"/>
              <a:gd name="connsiteY1" fmla="*/ 2286000 h 2286000"/>
              <a:gd name="connsiteX2" fmla="*/ 0 w 2286000"/>
              <a:gd name="connsiteY2" fmla="*/ 1143000 h 2286000"/>
              <a:gd name="connsiteX3" fmla="*/ 1143000 w 2286000"/>
              <a:gd name="connsiteY3" fmla="*/ 0 h 2286000"/>
              <a:gd name="connsiteX4" fmla="*/ 2286000 w 2286000"/>
              <a:gd name="connsiteY4" fmla="*/ 114300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0" h="2286000">
                <a:moveTo>
                  <a:pt x="2286000" y="1143000"/>
                </a:moveTo>
                <a:cubicBezTo>
                  <a:pt x="2286000" y="1774262"/>
                  <a:pt x="1774262" y="2286000"/>
                  <a:pt x="1143000" y="2286000"/>
                </a:cubicBezTo>
                <a:cubicBezTo>
                  <a:pt x="511739" y="2286000"/>
                  <a:pt x="0" y="1774262"/>
                  <a:pt x="0" y="1143000"/>
                </a:cubicBezTo>
                <a:cubicBezTo>
                  <a:pt x="0" y="511739"/>
                  <a:pt x="511739" y="0"/>
                  <a:pt x="1143000" y="0"/>
                </a:cubicBezTo>
                <a:cubicBezTo>
                  <a:pt x="1774262" y="0"/>
                  <a:pt x="2286000" y="511739"/>
                  <a:pt x="2286000" y="1143000"/>
                </a:cubicBezTo>
                <a:close/>
              </a:path>
            </a:pathLst>
          </a:custGeom>
          <a:solidFill>
            <a:srgbClr val="6366F1">
              <a:alpha val="12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2699385" y="2049780"/>
            <a:ext cx="6793230" cy="8058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4200" b="1" spc="0" baseline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rPr>
              <a:t>AI 驱动的全栈开发实践指南</a:t>
            </a:r>
            <a:endParaRPr lang="zh-CN" altLang="en-US" sz="4200" b="1" spc="0" baseline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  <a:rtl val="0"/>
            </a:endParaRPr>
          </a:p>
        </p:txBody>
      </p:sp>
      <p:sp>
        <p:nvSpPr>
          <p:cNvPr id="16" name="任意多边形: 形状 15"/>
          <p:cNvSpPr/>
          <p:nvPr/>
        </p:nvSpPr>
        <p:spPr>
          <a:xfrm>
            <a:off x="5143500" y="3048000"/>
            <a:ext cx="1905000" cy="28575"/>
          </a:xfrm>
          <a:custGeom>
            <a:avLst/>
            <a:gdLst>
              <a:gd name="connsiteX0" fmla="*/ 0 w 1905000"/>
              <a:gd name="connsiteY0" fmla="*/ 0 h 28575"/>
              <a:gd name="connsiteX1" fmla="*/ 1905000 w 1905000"/>
              <a:gd name="connsiteY1" fmla="*/ 0 h 28575"/>
              <a:gd name="connsiteX2" fmla="*/ 1905000 w 1905000"/>
              <a:gd name="connsiteY2" fmla="*/ 28575 h 28575"/>
              <a:gd name="connsiteX3" fmla="*/ 0 w 1905000"/>
              <a:gd name="connsiteY3" fmla="*/ 28575 h 28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5000" h="28575">
                <a:moveTo>
                  <a:pt x="0" y="0"/>
                </a:moveTo>
                <a:lnTo>
                  <a:pt x="1905000" y="0"/>
                </a:lnTo>
                <a:lnTo>
                  <a:pt x="1905000" y="28575"/>
                </a:lnTo>
                <a:lnTo>
                  <a:pt x="0" y="28575"/>
                </a:lnTo>
                <a:close/>
              </a:path>
            </a:pathLst>
          </a:custGeom>
          <a:solidFill>
            <a:srgbClr val="22D3E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3737610" y="3297555"/>
            <a:ext cx="4716780" cy="434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100" spc="0" baseline="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rPr>
              <a:t>从零代码基础到产品落地的效能与边界</a:t>
            </a:r>
            <a:endParaRPr lang="zh-CN" altLang="en-US" sz="2100" spc="0" baseline="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  <a:rtl val="0"/>
            </a:endParaRPr>
          </a:p>
        </p:txBody>
      </p:sp>
      <p:grpSp>
        <p:nvGrpSpPr>
          <p:cNvPr id="18" name="SVG Image 1"/>
          <p:cNvGrpSpPr/>
          <p:nvPr/>
        </p:nvGrpSpPr>
        <p:grpSpPr>
          <a:xfrm>
            <a:off x="5429250" y="4572000"/>
            <a:ext cx="2362200" cy="457200"/>
            <a:chOff x="5429250" y="4572000"/>
            <a:chExt cx="2362200" cy="457200"/>
          </a:xfrm>
        </p:grpSpPr>
        <p:sp>
          <p:nvSpPr>
            <p:cNvPr id="19" name="任意多边形: 形状 18"/>
            <p:cNvSpPr/>
            <p:nvPr/>
          </p:nvSpPr>
          <p:spPr>
            <a:xfrm>
              <a:off x="5429250" y="4572000"/>
              <a:ext cx="457200" cy="457200"/>
            </a:xfrm>
            <a:custGeom>
              <a:avLst/>
              <a:gdLst>
                <a:gd name="connsiteX0" fmla="*/ 76770 w 457200"/>
                <a:gd name="connsiteY0" fmla="*/ 480 h 457200"/>
                <a:gd name="connsiteX1" fmla="*/ 381570 w 457200"/>
                <a:gd name="connsiteY1" fmla="*/ 480 h 457200"/>
                <a:gd name="connsiteX2" fmla="*/ 457770 w 457200"/>
                <a:gd name="connsiteY2" fmla="*/ 76680 h 457200"/>
                <a:gd name="connsiteX3" fmla="*/ 457770 w 457200"/>
                <a:gd name="connsiteY3" fmla="*/ 381480 h 457200"/>
                <a:gd name="connsiteX4" fmla="*/ 381570 w 457200"/>
                <a:gd name="connsiteY4" fmla="*/ 457680 h 457200"/>
                <a:gd name="connsiteX5" fmla="*/ 76770 w 457200"/>
                <a:gd name="connsiteY5" fmla="*/ 457680 h 457200"/>
                <a:gd name="connsiteX6" fmla="*/ 570 w 457200"/>
                <a:gd name="connsiteY6" fmla="*/ 381480 h 457200"/>
                <a:gd name="connsiteX7" fmla="*/ 570 w 457200"/>
                <a:gd name="connsiteY7" fmla="*/ 76680 h 457200"/>
                <a:gd name="connsiteX8" fmla="*/ 76770 w 457200"/>
                <a:gd name="connsiteY8" fmla="*/ 48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457200">
                  <a:moveTo>
                    <a:pt x="76770" y="480"/>
                  </a:moveTo>
                  <a:lnTo>
                    <a:pt x="381570" y="480"/>
                  </a:lnTo>
                  <a:cubicBezTo>
                    <a:pt x="423654" y="480"/>
                    <a:pt x="457770" y="34596"/>
                    <a:pt x="457770" y="76680"/>
                  </a:cubicBezTo>
                  <a:lnTo>
                    <a:pt x="457770" y="381480"/>
                  </a:lnTo>
                  <a:cubicBezTo>
                    <a:pt x="457770" y="423564"/>
                    <a:pt x="423654" y="457680"/>
                    <a:pt x="381570" y="457680"/>
                  </a:cubicBezTo>
                  <a:lnTo>
                    <a:pt x="76770" y="457680"/>
                  </a:lnTo>
                  <a:cubicBezTo>
                    <a:pt x="34686" y="457680"/>
                    <a:pt x="570" y="423564"/>
                    <a:pt x="570" y="381480"/>
                  </a:cubicBezTo>
                  <a:lnTo>
                    <a:pt x="570" y="76680"/>
                  </a:lnTo>
                  <a:cubicBezTo>
                    <a:pt x="570" y="34596"/>
                    <a:pt x="34686" y="480"/>
                    <a:pt x="76770" y="480"/>
                  </a:cubicBezTo>
                  <a:close/>
                </a:path>
              </a:pathLst>
            </a:custGeom>
            <a:solidFill>
              <a:srgbClr val="22D3EE">
                <a:alpha val="9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5399722" y="4631055"/>
              <a:ext cx="516255" cy="3486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800" spc="0" baseline="0">
                  <a:solidFill>
                    <a:srgbClr val="1E3A5F"/>
                  </a:solidFill>
                  <a:latin typeface="Arial" panose="020B0604020202020204"/>
                  <a:cs typeface="Arial" panose="020B0604020202020204"/>
                  <a:sym typeface="Arial" panose="020B0604020202020204"/>
                  <a:rtl val="0"/>
                </a:rPr>
                <a:t>&lt;/&gt;</a:t>
              </a:r>
              <a:endParaRPr lang="zh-CN" altLang="en-US" sz="1800" spc="0" baseline="0">
                <a:solidFill>
                  <a:srgbClr val="1E3A5F"/>
                </a:solidFill>
                <a:latin typeface="Arial" panose="020B0604020202020204"/>
                <a:cs typeface="Arial" panose="020B0604020202020204"/>
                <a:sym typeface="Arial" panose="020B0604020202020204"/>
                <a:rtl val="0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890260" y="4631055"/>
              <a:ext cx="411480" cy="3486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800" spc="0" baseline="0">
                  <a:solidFill>
                    <a:srgbClr val="22D3EE"/>
                  </a:solidFill>
                  <a:latin typeface="Arial" panose="020B0604020202020204"/>
                  <a:cs typeface="Arial" panose="020B0604020202020204"/>
                  <a:sym typeface="Arial" panose="020B0604020202020204"/>
                  <a:rtl val="0"/>
                </a:rPr>
                <a:t>→</a:t>
              </a:r>
              <a:endParaRPr lang="zh-CN" altLang="en-US" sz="1800" spc="0" baseline="0">
                <a:solidFill>
                  <a:srgbClr val="22D3EE"/>
                </a:solidFill>
                <a:latin typeface="Arial" panose="020B0604020202020204"/>
                <a:cs typeface="Arial" panose="020B0604020202020204"/>
                <a:sym typeface="Arial" panose="020B0604020202020204"/>
                <a:rtl val="0"/>
              </a:endParaRPr>
            </a:p>
          </p:txBody>
        </p:sp>
        <p:sp>
          <p:nvSpPr>
            <p:cNvPr id="22" name="任意多边形: 形状 21"/>
            <p:cNvSpPr/>
            <p:nvPr/>
          </p:nvSpPr>
          <p:spPr>
            <a:xfrm>
              <a:off x="6381750" y="4572000"/>
              <a:ext cx="457200" cy="457200"/>
            </a:xfrm>
            <a:custGeom>
              <a:avLst/>
              <a:gdLst>
                <a:gd name="connsiteX0" fmla="*/ 76770 w 457200"/>
                <a:gd name="connsiteY0" fmla="*/ 480 h 457200"/>
                <a:gd name="connsiteX1" fmla="*/ 381570 w 457200"/>
                <a:gd name="connsiteY1" fmla="*/ 480 h 457200"/>
                <a:gd name="connsiteX2" fmla="*/ 457770 w 457200"/>
                <a:gd name="connsiteY2" fmla="*/ 76680 h 457200"/>
                <a:gd name="connsiteX3" fmla="*/ 457770 w 457200"/>
                <a:gd name="connsiteY3" fmla="*/ 381480 h 457200"/>
                <a:gd name="connsiteX4" fmla="*/ 381570 w 457200"/>
                <a:gd name="connsiteY4" fmla="*/ 457680 h 457200"/>
                <a:gd name="connsiteX5" fmla="*/ 76770 w 457200"/>
                <a:gd name="connsiteY5" fmla="*/ 457680 h 457200"/>
                <a:gd name="connsiteX6" fmla="*/ 570 w 457200"/>
                <a:gd name="connsiteY6" fmla="*/ 381480 h 457200"/>
                <a:gd name="connsiteX7" fmla="*/ 570 w 457200"/>
                <a:gd name="connsiteY7" fmla="*/ 76680 h 457200"/>
                <a:gd name="connsiteX8" fmla="*/ 76770 w 457200"/>
                <a:gd name="connsiteY8" fmla="*/ 48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457200">
                  <a:moveTo>
                    <a:pt x="76770" y="480"/>
                  </a:moveTo>
                  <a:lnTo>
                    <a:pt x="381570" y="480"/>
                  </a:lnTo>
                  <a:cubicBezTo>
                    <a:pt x="423654" y="480"/>
                    <a:pt x="457770" y="34596"/>
                    <a:pt x="457770" y="76680"/>
                  </a:cubicBezTo>
                  <a:lnTo>
                    <a:pt x="457770" y="381480"/>
                  </a:lnTo>
                  <a:cubicBezTo>
                    <a:pt x="457770" y="423564"/>
                    <a:pt x="423654" y="457680"/>
                    <a:pt x="381570" y="457680"/>
                  </a:cubicBezTo>
                  <a:lnTo>
                    <a:pt x="76770" y="457680"/>
                  </a:lnTo>
                  <a:cubicBezTo>
                    <a:pt x="34686" y="457680"/>
                    <a:pt x="570" y="423564"/>
                    <a:pt x="570" y="381480"/>
                  </a:cubicBezTo>
                  <a:lnTo>
                    <a:pt x="570" y="76680"/>
                  </a:lnTo>
                  <a:cubicBezTo>
                    <a:pt x="570" y="34596"/>
                    <a:pt x="34686" y="480"/>
                    <a:pt x="76770" y="480"/>
                  </a:cubicBezTo>
                  <a:close/>
                </a:path>
              </a:pathLst>
            </a:custGeom>
            <a:solidFill>
              <a:srgbClr val="6366F1">
                <a:alpha val="9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418897" y="4631055"/>
              <a:ext cx="382905" cy="3486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800" spc="0" baseline="0">
                  <a:solidFill>
                    <a:srgbClr val="FFFFFF"/>
                  </a:solidFill>
                  <a:latin typeface="Arial" panose="020B0604020202020204"/>
                  <a:cs typeface="Arial" panose="020B0604020202020204"/>
                  <a:sym typeface="Arial" panose="020B0604020202020204"/>
                  <a:rtl val="0"/>
                </a:rPr>
                <a:t>AI</a:t>
              </a:r>
              <a:endParaRPr lang="zh-CN" altLang="en-US" sz="1800" spc="0" baseline="0">
                <a:solidFill>
                  <a:srgbClr val="FFFFFF"/>
                </a:solidFill>
                <a:latin typeface="Arial" panose="020B0604020202020204"/>
                <a:cs typeface="Arial" panose="020B0604020202020204"/>
                <a:sym typeface="Arial" panose="020B0604020202020204"/>
                <a:rtl val="0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6842760" y="4631055"/>
              <a:ext cx="411480" cy="3486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800" spc="0" baseline="0">
                  <a:solidFill>
                    <a:srgbClr val="22D3EE"/>
                  </a:solidFill>
                  <a:latin typeface="Arial" panose="020B0604020202020204"/>
                  <a:cs typeface="Arial" panose="020B0604020202020204"/>
                  <a:sym typeface="Arial" panose="020B0604020202020204"/>
                  <a:rtl val="0"/>
                </a:rPr>
                <a:t>→</a:t>
              </a:r>
              <a:endParaRPr lang="zh-CN" altLang="en-US" sz="1800" spc="0" baseline="0">
                <a:solidFill>
                  <a:srgbClr val="22D3EE"/>
                </a:solidFill>
                <a:latin typeface="Arial" panose="020B0604020202020204"/>
                <a:cs typeface="Arial" panose="020B0604020202020204"/>
                <a:sym typeface="Arial" panose="020B0604020202020204"/>
                <a:rtl val="0"/>
              </a:endParaRPr>
            </a:p>
          </p:txBody>
        </p:sp>
        <p:sp>
          <p:nvSpPr>
            <p:cNvPr id="25" name="任意多边形: 形状 24"/>
            <p:cNvSpPr/>
            <p:nvPr/>
          </p:nvSpPr>
          <p:spPr>
            <a:xfrm>
              <a:off x="7334250" y="4572000"/>
              <a:ext cx="457200" cy="457200"/>
            </a:xfrm>
            <a:custGeom>
              <a:avLst/>
              <a:gdLst>
                <a:gd name="connsiteX0" fmla="*/ 76770 w 457200"/>
                <a:gd name="connsiteY0" fmla="*/ 480 h 457200"/>
                <a:gd name="connsiteX1" fmla="*/ 381570 w 457200"/>
                <a:gd name="connsiteY1" fmla="*/ 480 h 457200"/>
                <a:gd name="connsiteX2" fmla="*/ 457770 w 457200"/>
                <a:gd name="connsiteY2" fmla="*/ 76680 h 457200"/>
                <a:gd name="connsiteX3" fmla="*/ 457770 w 457200"/>
                <a:gd name="connsiteY3" fmla="*/ 381480 h 457200"/>
                <a:gd name="connsiteX4" fmla="*/ 381570 w 457200"/>
                <a:gd name="connsiteY4" fmla="*/ 457680 h 457200"/>
                <a:gd name="connsiteX5" fmla="*/ 76770 w 457200"/>
                <a:gd name="connsiteY5" fmla="*/ 457680 h 457200"/>
                <a:gd name="connsiteX6" fmla="*/ 570 w 457200"/>
                <a:gd name="connsiteY6" fmla="*/ 381480 h 457200"/>
                <a:gd name="connsiteX7" fmla="*/ 570 w 457200"/>
                <a:gd name="connsiteY7" fmla="*/ 76680 h 457200"/>
                <a:gd name="connsiteX8" fmla="*/ 76770 w 457200"/>
                <a:gd name="connsiteY8" fmla="*/ 48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457200">
                  <a:moveTo>
                    <a:pt x="76770" y="480"/>
                  </a:moveTo>
                  <a:lnTo>
                    <a:pt x="381570" y="480"/>
                  </a:lnTo>
                  <a:cubicBezTo>
                    <a:pt x="423654" y="480"/>
                    <a:pt x="457770" y="34596"/>
                    <a:pt x="457770" y="76680"/>
                  </a:cubicBezTo>
                  <a:lnTo>
                    <a:pt x="457770" y="381480"/>
                  </a:lnTo>
                  <a:cubicBezTo>
                    <a:pt x="457770" y="423564"/>
                    <a:pt x="423654" y="457680"/>
                    <a:pt x="381570" y="457680"/>
                  </a:cubicBezTo>
                  <a:lnTo>
                    <a:pt x="76770" y="457680"/>
                  </a:lnTo>
                  <a:cubicBezTo>
                    <a:pt x="34686" y="457680"/>
                    <a:pt x="570" y="423564"/>
                    <a:pt x="570" y="381480"/>
                  </a:cubicBezTo>
                  <a:lnTo>
                    <a:pt x="570" y="76680"/>
                  </a:lnTo>
                  <a:cubicBezTo>
                    <a:pt x="570" y="34596"/>
                    <a:pt x="34686" y="480"/>
                    <a:pt x="76770" y="480"/>
                  </a:cubicBezTo>
                  <a:close/>
                </a:path>
              </a:pathLst>
            </a:custGeom>
            <a:solidFill>
              <a:srgbClr val="22D3EE">
                <a:alpha val="9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7314247" y="4583430"/>
              <a:ext cx="497205" cy="3962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800" spc="0" baseline="0">
                  <a:solidFill>
                    <a:srgbClr val="1E3A5F"/>
                  </a:solidFill>
                  <a:latin typeface="Segoe UI Emoji" panose="020B0502040204020203"/>
                  <a:sym typeface="Segoe UI Emoji" panose="020B0502040204020203"/>
                  <a:rtl val="0"/>
                </a:rPr>
                <a:t>📱</a:t>
              </a:r>
              <a:endParaRPr lang="zh-CN" altLang="en-US" sz="1800" spc="0" baseline="0">
                <a:solidFill>
                  <a:srgbClr val="1E3A5F"/>
                </a:solidFill>
                <a:latin typeface="Segoe UI Emoji" panose="020B0502040204020203"/>
                <a:sym typeface="Segoe UI Emoji" panose="020B0502040204020203"/>
                <a:rtl val="0"/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5313997" y="5697855"/>
            <a:ext cx="1564005" cy="2914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spc="0" baseline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rPr>
              <a:t>[李修明/数智城市部]</a:t>
            </a:r>
            <a:endParaRPr lang="zh-CN" altLang="en-US" sz="1200" spc="0" baseline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  <a:rtl val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E0F2FE"/>
              </a:gs>
              <a:gs pos="50000">
                <a:srgbClr val="E6EDFE"/>
              </a:gs>
              <a:gs pos="100000">
                <a:srgbClr val="EDE9FE"/>
              </a:gs>
            </a:gsLst>
            <a:lin ang="27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" name="任意多边形: 形状 4"/>
          <p:cNvSpPr/>
          <p:nvPr/>
        </p:nvSpPr>
        <p:spPr>
          <a:xfrm>
            <a:off x="0" y="0"/>
            <a:ext cx="12192000" cy="76200"/>
          </a:xfrm>
          <a:custGeom>
            <a:avLst/>
            <a:gdLst>
              <a:gd name="connsiteX0" fmla="*/ 0 w 12192000"/>
              <a:gd name="connsiteY0" fmla="*/ 0 h 76200"/>
              <a:gd name="connsiteX1" fmla="*/ 12192000 w 12192000"/>
              <a:gd name="connsiteY1" fmla="*/ 0 h 76200"/>
              <a:gd name="connsiteX2" fmla="*/ 12192000 w 12192000"/>
              <a:gd name="connsiteY2" fmla="*/ 76200 h 76200"/>
              <a:gd name="connsiteX3" fmla="*/ 0 w 12192000"/>
              <a:gd name="connsiteY3" fmla="*/ 76200 h 7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76200">
                <a:moveTo>
                  <a:pt x="0" y="0"/>
                </a:moveTo>
                <a:lnTo>
                  <a:pt x="12192000" y="0"/>
                </a:lnTo>
                <a:lnTo>
                  <a:pt x="1219200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1E3A5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404360" y="201930"/>
            <a:ext cx="3383280" cy="615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150" b="1" spc="0" baseline="0">
                <a:solidFill>
                  <a:srgbClr val="1E3A5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rPr>
              <a:t>软件开发的新纪元</a:t>
            </a:r>
            <a:endParaRPr lang="zh-CN" altLang="en-US" sz="3150" b="1" spc="0" baseline="0">
              <a:solidFill>
                <a:srgbClr val="1E3A5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  <a:rtl val="0"/>
            </a:endParaRPr>
          </a:p>
        </p:txBody>
      </p:sp>
      <p:sp>
        <p:nvSpPr>
          <p:cNvPr id="7" name="任意多边形: 形状 6"/>
          <p:cNvSpPr/>
          <p:nvPr/>
        </p:nvSpPr>
        <p:spPr>
          <a:xfrm>
            <a:off x="5143500" y="904875"/>
            <a:ext cx="1905000" cy="28575"/>
          </a:xfrm>
          <a:custGeom>
            <a:avLst/>
            <a:gdLst>
              <a:gd name="connsiteX0" fmla="*/ 0 w 1905000"/>
              <a:gd name="connsiteY0" fmla="*/ 0 h 28575"/>
              <a:gd name="connsiteX1" fmla="*/ 1905000 w 1905000"/>
              <a:gd name="connsiteY1" fmla="*/ 0 h 28575"/>
              <a:gd name="connsiteX2" fmla="*/ 1905000 w 1905000"/>
              <a:gd name="connsiteY2" fmla="*/ 28575 h 28575"/>
              <a:gd name="connsiteX3" fmla="*/ 0 w 1905000"/>
              <a:gd name="connsiteY3" fmla="*/ 28575 h 28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5000" h="28575">
                <a:moveTo>
                  <a:pt x="0" y="0"/>
                </a:moveTo>
                <a:lnTo>
                  <a:pt x="1905000" y="0"/>
                </a:lnTo>
                <a:lnTo>
                  <a:pt x="1905000" y="28575"/>
                </a:lnTo>
                <a:lnTo>
                  <a:pt x="0" y="28575"/>
                </a:lnTo>
                <a:close/>
              </a:path>
            </a:pathLst>
          </a:custGeom>
          <a:solidFill>
            <a:srgbClr val="22D3E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061585" y="1021080"/>
            <a:ext cx="2068830" cy="367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50" spc="0" baseline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rPr>
              <a:t>开发模式的范式转移</a:t>
            </a:r>
            <a:endParaRPr lang="zh-CN" altLang="en-US" sz="1650" spc="0" baseline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  <a:rtl val="0"/>
            </a:endParaRPr>
          </a:p>
        </p:txBody>
      </p:sp>
      <p:grpSp>
        <p:nvGrpSpPr>
          <p:cNvPr id="9" name="SVG Image 2"/>
          <p:cNvGrpSpPr/>
          <p:nvPr/>
        </p:nvGrpSpPr>
        <p:grpSpPr>
          <a:xfrm>
            <a:off x="762000" y="1714500"/>
            <a:ext cx="4953000" cy="4286250"/>
            <a:chOff x="762000" y="1714500"/>
            <a:chExt cx="4953000" cy="4286250"/>
          </a:xfrm>
        </p:grpSpPr>
        <p:sp>
          <p:nvSpPr>
            <p:cNvPr id="10" name="任意多边形: 形状 9"/>
            <p:cNvSpPr/>
            <p:nvPr/>
          </p:nvSpPr>
          <p:spPr>
            <a:xfrm>
              <a:off x="762000" y="1714500"/>
              <a:ext cx="4953000" cy="4286250"/>
            </a:xfrm>
            <a:custGeom>
              <a:avLst/>
              <a:gdLst>
                <a:gd name="connsiteX0" fmla="*/ 114380 w 4953000"/>
                <a:gd name="connsiteY0" fmla="*/ 180 h 4286250"/>
                <a:gd name="connsiteX1" fmla="*/ 4838780 w 4953000"/>
                <a:gd name="connsiteY1" fmla="*/ 180 h 4286250"/>
                <a:gd name="connsiteX2" fmla="*/ 4953080 w 4953000"/>
                <a:gd name="connsiteY2" fmla="*/ 114480 h 4286250"/>
                <a:gd name="connsiteX3" fmla="*/ 4953080 w 4953000"/>
                <a:gd name="connsiteY3" fmla="*/ 4172130 h 4286250"/>
                <a:gd name="connsiteX4" fmla="*/ 4838780 w 4953000"/>
                <a:gd name="connsiteY4" fmla="*/ 4286430 h 4286250"/>
                <a:gd name="connsiteX5" fmla="*/ 114380 w 4953000"/>
                <a:gd name="connsiteY5" fmla="*/ 4286430 h 4286250"/>
                <a:gd name="connsiteX6" fmla="*/ 80 w 4953000"/>
                <a:gd name="connsiteY6" fmla="*/ 4172130 h 4286250"/>
                <a:gd name="connsiteX7" fmla="*/ 80 w 4953000"/>
                <a:gd name="connsiteY7" fmla="*/ 114480 h 4286250"/>
                <a:gd name="connsiteX8" fmla="*/ 114380 w 4953000"/>
                <a:gd name="connsiteY8" fmla="*/ 180 h 428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53000" h="4286250">
                  <a:moveTo>
                    <a:pt x="114380" y="180"/>
                  </a:moveTo>
                  <a:lnTo>
                    <a:pt x="4838780" y="180"/>
                  </a:lnTo>
                  <a:cubicBezTo>
                    <a:pt x="4901907" y="180"/>
                    <a:pt x="4953080" y="51354"/>
                    <a:pt x="4953080" y="114480"/>
                  </a:cubicBezTo>
                  <a:lnTo>
                    <a:pt x="4953080" y="4172130"/>
                  </a:lnTo>
                  <a:cubicBezTo>
                    <a:pt x="4953080" y="4235256"/>
                    <a:pt x="4901907" y="4286430"/>
                    <a:pt x="4838780" y="4286430"/>
                  </a:cubicBezTo>
                  <a:lnTo>
                    <a:pt x="114380" y="4286430"/>
                  </a:lnTo>
                  <a:cubicBezTo>
                    <a:pt x="51254" y="4286430"/>
                    <a:pt x="80" y="4235256"/>
                    <a:pt x="80" y="4172130"/>
                  </a:cubicBezTo>
                  <a:lnTo>
                    <a:pt x="80" y="114480"/>
                  </a:lnTo>
                  <a:cubicBezTo>
                    <a:pt x="80" y="51354"/>
                    <a:pt x="51254" y="180"/>
                    <a:pt x="114380" y="180"/>
                  </a:cubicBezTo>
                  <a:close/>
                </a:path>
              </a:pathLst>
            </a:custGeom>
            <a:solidFill>
              <a:srgbClr val="FFFFFF"/>
            </a:solidFill>
            <a:ln w="19050" cap="flat">
              <a:solidFill>
                <a:srgbClr val="E2E8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762000" y="1714500"/>
              <a:ext cx="952500" cy="381000"/>
            </a:xfrm>
            <a:custGeom>
              <a:avLst/>
              <a:gdLst>
                <a:gd name="connsiteX0" fmla="*/ 114380 w 952500"/>
                <a:gd name="connsiteY0" fmla="*/ 180 h 381000"/>
                <a:gd name="connsiteX1" fmla="*/ 838280 w 952500"/>
                <a:gd name="connsiteY1" fmla="*/ 180 h 381000"/>
                <a:gd name="connsiteX2" fmla="*/ 952580 w 952500"/>
                <a:gd name="connsiteY2" fmla="*/ 114480 h 381000"/>
                <a:gd name="connsiteX3" fmla="*/ 952580 w 952500"/>
                <a:gd name="connsiteY3" fmla="*/ 266880 h 381000"/>
                <a:gd name="connsiteX4" fmla="*/ 838280 w 952500"/>
                <a:gd name="connsiteY4" fmla="*/ 381180 h 381000"/>
                <a:gd name="connsiteX5" fmla="*/ 114380 w 952500"/>
                <a:gd name="connsiteY5" fmla="*/ 381180 h 381000"/>
                <a:gd name="connsiteX6" fmla="*/ 80 w 952500"/>
                <a:gd name="connsiteY6" fmla="*/ 266880 h 381000"/>
                <a:gd name="connsiteX7" fmla="*/ 80 w 952500"/>
                <a:gd name="connsiteY7" fmla="*/ 114480 h 381000"/>
                <a:gd name="connsiteX8" fmla="*/ 114380 w 952500"/>
                <a:gd name="connsiteY8" fmla="*/ 18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2500" h="381000">
                  <a:moveTo>
                    <a:pt x="114380" y="180"/>
                  </a:moveTo>
                  <a:lnTo>
                    <a:pt x="838280" y="180"/>
                  </a:lnTo>
                  <a:cubicBezTo>
                    <a:pt x="901406" y="180"/>
                    <a:pt x="952580" y="51354"/>
                    <a:pt x="952580" y="114480"/>
                  </a:cubicBezTo>
                  <a:lnTo>
                    <a:pt x="952580" y="266880"/>
                  </a:lnTo>
                  <a:cubicBezTo>
                    <a:pt x="952580" y="330006"/>
                    <a:pt x="901406" y="381180"/>
                    <a:pt x="838280" y="381180"/>
                  </a:cubicBezTo>
                  <a:lnTo>
                    <a:pt x="114380" y="381180"/>
                  </a:lnTo>
                  <a:cubicBezTo>
                    <a:pt x="51254" y="381180"/>
                    <a:pt x="80" y="330006"/>
                    <a:pt x="80" y="266880"/>
                  </a:cubicBezTo>
                  <a:lnTo>
                    <a:pt x="80" y="114480"/>
                  </a:lnTo>
                  <a:cubicBezTo>
                    <a:pt x="80" y="51354"/>
                    <a:pt x="51254" y="180"/>
                    <a:pt x="114380" y="180"/>
                  </a:cubicBezTo>
                  <a:close/>
                </a:path>
              </a:pathLst>
            </a:custGeom>
            <a:solidFill>
              <a:srgbClr val="94A3B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975360" y="1744980"/>
              <a:ext cx="525780" cy="3200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350" b="1" spc="0" baseline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过去</a:t>
              </a:r>
              <a:endParaRPr lang="zh-CN" altLang="en-US" sz="1350" b="1" spc="0" baseline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  <p:grpSp>
          <p:nvGrpSpPr>
            <p:cNvPr id="13" name="SVG Image 2"/>
            <p:cNvGrpSpPr/>
            <p:nvPr/>
          </p:nvGrpSpPr>
          <p:grpSpPr>
            <a:xfrm>
              <a:off x="2762250" y="2381250"/>
              <a:ext cx="952500" cy="952500"/>
              <a:chOff x="2762250" y="2381250"/>
              <a:chExt cx="952500" cy="952500"/>
            </a:xfrm>
          </p:grpSpPr>
          <p:sp>
            <p:nvSpPr>
              <p:cNvPr id="14" name="任意多边形: 形状 13"/>
              <p:cNvSpPr/>
              <p:nvPr/>
            </p:nvSpPr>
            <p:spPr>
              <a:xfrm>
                <a:off x="2762250" y="2381250"/>
                <a:ext cx="952500" cy="952500"/>
              </a:xfrm>
              <a:custGeom>
                <a:avLst/>
                <a:gdLst>
                  <a:gd name="connsiteX0" fmla="*/ 952790 w 952500"/>
                  <a:gd name="connsiteY0" fmla="*/ 476500 h 952500"/>
                  <a:gd name="connsiteX1" fmla="*/ 476540 w 952500"/>
                  <a:gd name="connsiteY1" fmla="*/ 952750 h 952500"/>
                  <a:gd name="connsiteX2" fmla="*/ 290 w 952500"/>
                  <a:gd name="connsiteY2" fmla="*/ 476500 h 952500"/>
                  <a:gd name="connsiteX3" fmla="*/ 476540 w 952500"/>
                  <a:gd name="connsiteY3" fmla="*/ 250 h 952500"/>
                  <a:gd name="connsiteX4" fmla="*/ 952790 w 952500"/>
                  <a:gd name="connsiteY4" fmla="*/ 476500 h 952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0" h="952500">
                    <a:moveTo>
                      <a:pt x="952790" y="476500"/>
                    </a:moveTo>
                    <a:cubicBezTo>
                      <a:pt x="952790" y="739526"/>
                      <a:pt x="739566" y="952750"/>
                      <a:pt x="476540" y="952750"/>
                    </a:cubicBezTo>
                    <a:cubicBezTo>
                      <a:pt x="213514" y="952750"/>
                      <a:pt x="290" y="739526"/>
                      <a:pt x="290" y="476500"/>
                    </a:cubicBezTo>
                    <a:cubicBezTo>
                      <a:pt x="290" y="213474"/>
                      <a:pt x="213514" y="250"/>
                      <a:pt x="476540" y="250"/>
                    </a:cubicBezTo>
                    <a:cubicBezTo>
                      <a:pt x="739566" y="250"/>
                      <a:pt x="952790" y="213474"/>
                      <a:pt x="952790" y="476500"/>
                    </a:cubicBezTo>
                    <a:close/>
                  </a:path>
                </a:pathLst>
              </a:custGeom>
              <a:solidFill>
                <a:srgbClr val="F1F5F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2885123" y="2559367"/>
                <a:ext cx="706755" cy="5962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3000" spc="0" baseline="0" dirty="0">
                    <a:solidFill>
                      <a:srgbClr val="000000"/>
                    </a:solidFill>
                    <a:latin typeface="Segoe UI Emoji" panose="020B0502040204020203"/>
                    <a:sym typeface="Segoe UI Emoji" panose="020B0502040204020203"/>
                    <a:rtl val="0"/>
                  </a:rPr>
                  <a:t>😓</a:t>
                </a:r>
                <a:endParaRPr lang="zh-CN" altLang="en-US" sz="3000" spc="0" baseline="0" dirty="0">
                  <a:solidFill>
                    <a:srgbClr val="000000"/>
                  </a:solidFill>
                  <a:latin typeface="Segoe UI Emoji" panose="020B0502040204020203"/>
                  <a:sym typeface="Segoe UI Emoji" panose="020B0502040204020203"/>
                  <a:rtl val="0"/>
                </a:endParaRPr>
              </a:p>
            </p:txBody>
          </p:sp>
        </p:grpSp>
        <p:grpSp>
          <p:nvGrpSpPr>
            <p:cNvPr id="16" name="SVG Image 2"/>
            <p:cNvGrpSpPr/>
            <p:nvPr/>
          </p:nvGrpSpPr>
          <p:grpSpPr>
            <a:xfrm>
              <a:off x="1143000" y="3038475"/>
              <a:ext cx="1476375" cy="1952625"/>
              <a:chOff x="1143000" y="3038475"/>
              <a:chExt cx="1476375" cy="1952625"/>
            </a:xfrm>
          </p:grpSpPr>
          <p:sp>
            <p:nvSpPr>
              <p:cNvPr id="17" name="文本框 16"/>
              <p:cNvSpPr txBox="1"/>
              <p:nvPr/>
            </p:nvSpPr>
            <p:spPr>
              <a:xfrm>
                <a:off x="1051560" y="2992755"/>
                <a:ext cx="1468755" cy="3390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500" spc="0" baseline="0">
                    <a:solidFill>
                      <a:srgbClr val="475569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• 人类编写逻辑</a:t>
                </a:r>
                <a:endParaRPr lang="zh-CN" altLang="en-US" sz="1500" spc="0" baseline="0">
                  <a:solidFill>
                    <a:srgbClr val="475569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1051560" y="3373755"/>
                <a:ext cx="1468755" cy="3390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500" spc="0" baseline="0">
                    <a:solidFill>
                      <a:srgbClr val="475569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• 人类编写代码</a:t>
                </a:r>
                <a:endParaRPr lang="zh-CN" altLang="en-US" sz="1500" spc="0" baseline="0">
                  <a:solidFill>
                    <a:srgbClr val="475569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  <p:sp>
            <p:nvSpPr>
              <p:cNvPr id="19" name="文本框 18"/>
              <p:cNvSpPr txBox="1"/>
              <p:nvPr/>
            </p:nvSpPr>
            <p:spPr>
              <a:xfrm>
                <a:off x="1051560" y="3754755"/>
                <a:ext cx="1659255" cy="3390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500" spc="0" baseline="0">
                    <a:solidFill>
                      <a:srgbClr val="475569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• 语法学习周期长</a:t>
                </a:r>
                <a:endParaRPr lang="zh-CN" altLang="en-US" sz="1500" spc="0" baseline="0">
                  <a:solidFill>
                    <a:srgbClr val="475569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1051560" y="4135755"/>
                <a:ext cx="1468755" cy="3390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500" spc="0" baseline="0">
                    <a:solidFill>
                      <a:srgbClr val="475569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• 调试耗时耗力</a:t>
                </a:r>
                <a:endParaRPr lang="zh-CN" altLang="en-US" sz="1500" spc="0" baseline="0">
                  <a:solidFill>
                    <a:srgbClr val="475569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1051560" y="4745355"/>
                <a:ext cx="1097280" cy="2914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角色：程序员</a:t>
                </a:r>
                <a:endParaRPr lang="zh-CN" altLang="en-US" sz="1200" spc="0" baseline="0">
                  <a:solidFill>
                    <a:srgbClr val="64748B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</p:grpSp>
        <p:grpSp>
          <p:nvGrpSpPr>
            <p:cNvPr id="22" name="SVG Image 2"/>
            <p:cNvGrpSpPr/>
            <p:nvPr/>
          </p:nvGrpSpPr>
          <p:grpSpPr>
            <a:xfrm>
              <a:off x="1333500" y="5334000"/>
              <a:ext cx="4381500" cy="381000"/>
              <a:chOff x="1333500" y="5334000"/>
              <a:chExt cx="4381500" cy="381000"/>
            </a:xfrm>
          </p:grpSpPr>
          <p:sp>
            <p:nvSpPr>
              <p:cNvPr id="23" name="任意多边形: 形状 22"/>
              <p:cNvSpPr/>
              <p:nvPr/>
            </p:nvSpPr>
            <p:spPr>
              <a:xfrm>
                <a:off x="1333500" y="5334000"/>
                <a:ext cx="1143000" cy="381000"/>
              </a:xfrm>
              <a:custGeom>
                <a:avLst/>
                <a:gdLst>
                  <a:gd name="connsiteX0" fmla="*/ 76340 w 1143000"/>
                  <a:gd name="connsiteY0" fmla="*/ 560 h 381000"/>
                  <a:gd name="connsiteX1" fmla="*/ 1066940 w 1143000"/>
                  <a:gd name="connsiteY1" fmla="*/ 560 h 381000"/>
                  <a:gd name="connsiteX2" fmla="*/ 1143140 w 1143000"/>
                  <a:gd name="connsiteY2" fmla="*/ 76760 h 381000"/>
                  <a:gd name="connsiteX3" fmla="*/ 1143140 w 1143000"/>
                  <a:gd name="connsiteY3" fmla="*/ 305360 h 381000"/>
                  <a:gd name="connsiteX4" fmla="*/ 1066940 w 1143000"/>
                  <a:gd name="connsiteY4" fmla="*/ 381560 h 381000"/>
                  <a:gd name="connsiteX5" fmla="*/ 76340 w 1143000"/>
                  <a:gd name="connsiteY5" fmla="*/ 381560 h 381000"/>
                  <a:gd name="connsiteX6" fmla="*/ 140 w 1143000"/>
                  <a:gd name="connsiteY6" fmla="*/ 305360 h 381000"/>
                  <a:gd name="connsiteX7" fmla="*/ 140 w 1143000"/>
                  <a:gd name="connsiteY7" fmla="*/ 76760 h 381000"/>
                  <a:gd name="connsiteX8" fmla="*/ 76340 w 1143000"/>
                  <a:gd name="connsiteY8" fmla="*/ 560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43000" h="381000">
                    <a:moveTo>
                      <a:pt x="76340" y="560"/>
                    </a:moveTo>
                    <a:lnTo>
                      <a:pt x="1066940" y="560"/>
                    </a:lnTo>
                    <a:cubicBezTo>
                      <a:pt x="1109024" y="560"/>
                      <a:pt x="1143140" y="34676"/>
                      <a:pt x="1143140" y="76760"/>
                    </a:cubicBezTo>
                    <a:lnTo>
                      <a:pt x="1143140" y="305360"/>
                    </a:lnTo>
                    <a:cubicBezTo>
                      <a:pt x="1143140" y="347444"/>
                      <a:pt x="1109024" y="381560"/>
                      <a:pt x="1066940" y="381560"/>
                    </a:cubicBezTo>
                    <a:lnTo>
                      <a:pt x="76340" y="381560"/>
                    </a:lnTo>
                    <a:cubicBezTo>
                      <a:pt x="34256" y="381560"/>
                      <a:pt x="140" y="347444"/>
                      <a:pt x="140" y="305360"/>
                    </a:cubicBezTo>
                    <a:lnTo>
                      <a:pt x="140" y="76760"/>
                    </a:lnTo>
                    <a:cubicBezTo>
                      <a:pt x="140" y="34676"/>
                      <a:pt x="34256" y="560"/>
                      <a:pt x="76340" y="560"/>
                    </a:cubicBezTo>
                    <a:close/>
                  </a:path>
                </a:pathLst>
              </a:custGeom>
              <a:solidFill>
                <a:srgbClr val="E2E8F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>
                <a:off x="1680210" y="5393055"/>
                <a:ext cx="449580" cy="2724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50" spc="0" baseline="0">
                    <a:solidFill>
                      <a:srgbClr val="475569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需求</a:t>
                </a:r>
                <a:endParaRPr lang="zh-CN" altLang="en-US" sz="1050" spc="0" baseline="0">
                  <a:solidFill>
                    <a:srgbClr val="475569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2480310" y="5364480"/>
                <a:ext cx="373380" cy="300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500" spc="0" baseline="0">
                    <a:solidFill>
                      <a:srgbClr val="94A3B8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  <a:rtl val="0"/>
                  </a:rPr>
                  <a:t>→</a:t>
                </a:r>
                <a:endParaRPr lang="zh-CN" altLang="en-US" sz="1500" spc="0" baseline="0">
                  <a:solidFill>
                    <a:srgbClr val="94A3B8"/>
                  </a:solidFill>
                  <a:latin typeface="Arial" panose="020B0604020202020204"/>
                  <a:cs typeface="Arial" panose="020B0604020202020204"/>
                  <a:sym typeface="Arial" panose="020B0604020202020204"/>
                  <a:rtl val="0"/>
                </a:endParaRPr>
              </a:p>
            </p:txBody>
          </p:sp>
          <p:sp>
            <p:nvSpPr>
              <p:cNvPr id="26" name="任意多边形: 形状 25"/>
              <p:cNvSpPr/>
              <p:nvPr/>
            </p:nvSpPr>
            <p:spPr>
              <a:xfrm>
                <a:off x="2952750" y="5334000"/>
                <a:ext cx="1143000" cy="381000"/>
              </a:xfrm>
              <a:custGeom>
                <a:avLst/>
                <a:gdLst>
                  <a:gd name="connsiteX0" fmla="*/ 76340 w 1143000"/>
                  <a:gd name="connsiteY0" fmla="*/ 560 h 381000"/>
                  <a:gd name="connsiteX1" fmla="*/ 1066940 w 1143000"/>
                  <a:gd name="connsiteY1" fmla="*/ 560 h 381000"/>
                  <a:gd name="connsiteX2" fmla="*/ 1143140 w 1143000"/>
                  <a:gd name="connsiteY2" fmla="*/ 76760 h 381000"/>
                  <a:gd name="connsiteX3" fmla="*/ 1143140 w 1143000"/>
                  <a:gd name="connsiteY3" fmla="*/ 305360 h 381000"/>
                  <a:gd name="connsiteX4" fmla="*/ 1066940 w 1143000"/>
                  <a:gd name="connsiteY4" fmla="*/ 381560 h 381000"/>
                  <a:gd name="connsiteX5" fmla="*/ 76340 w 1143000"/>
                  <a:gd name="connsiteY5" fmla="*/ 381560 h 381000"/>
                  <a:gd name="connsiteX6" fmla="*/ 140 w 1143000"/>
                  <a:gd name="connsiteY6" fmla="*/ 305360 h 381000"/>
                  <a:gd name="connsiteX7" fmla="*/ 140 w 1143000"/>
                  <a:gd name="connsiteY7" fmla="*/ 76760 h 381000"/>
                  <a:gd name="connsiteX8" fmla="*/ 76340 w 1143000"/>
                  <a:gd name="connsiteY8" fmla="*/ 560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43000" h="381000">
                    <a:moveTo>
                      <a:pt x="76340" y="560"/>
                    </a:moveTo>
                    <a:lnTo>
                      <a:pt x="1066940" y="560"/>
                    </a:lnTo>
                    <a:cubicBezTo>
                      <a:pt x="1109024" y="560"/>
                      <a:pt x="1143140" y="34676"/>
                      <a:pt x="1143140" y="76760"/>
                    </a:cubicBezTo>
                    <a:lnTo>
                      <a:pt x="1143140" y="305360"/>
                    </a:lnTo>
                    <a:cubicBezTo>
                      <a:pt x="1143140" y="347444"/>
                      <a:pt x="1109024" y="381560"/>
                      <a:pt x="1066940" y="381560"/>
                    </a:cubicBezTo>
                    <a:lnTo>
                      <a:pt x="76340" y="381560"/>
                    </a:lnTo>
                    <a:cubicBezTo>
                      <a:pt x="34256" y="381560"/>
                      <a:pt x="140" y="347444"/>
                      <a:pt x="140" y="305360"/>
                    </a:cubicBezTo>
                    <a:lnTo>
                      <a:pt x="140" y="76760"/>
                    </a:lnTo>
                    <a:cubicBezTo>
                      <a:pt x="140" y="34676"/>
                      <a:pt x="34256" y="560"/>
                      <a:pt x="76340" y="560"/>
                    </a:cubicBezTo>
                    <a:close/>
                  </a:path>
                </a:pathLst>
              </a:custGeom>
              <a:solidFill>
                <a:srgbClr val="E2E8F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3299460" y="5393055"/>
                <a:ext cx="449580" cy="2724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50" spc="0" baseline="0">
                    <a:solidFill>
                      <a:srgbClr val="475569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编码</a:t>
                </a:r>
                <a:endParaRPr lang="zh-CN" altLang="en-US" sz="1050" spc="0" baseline="0">
                  <a:solidFill>
                    <a:srgbClr val="475569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4099560" y="5364480"/>
                <a:ext cx="373380" cy="300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500" spc="0" baseline="0">
                    <a:solidFill>
                      <a:srgbClr val="94A3B8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  <a:rtl val="0"/>
                  </a:rPr>
                  <a:t>→</a:t>
                </a:r>
                <a:endParaRPr lang="zh-CN" altLang="en-US" sz="1500" spc="0" baseline="0">
                  <a:solidFill>
                    <a:srgbClr val="94A3B8"/>
                  </a:solidFill>
                  <a:latin typeface="Arial" panose="020B0604020202020204"/>
                  <a:cs typeface="Arial" panose="020B0604020202020204"/>
                  <a:sym typeface="Arial" panose="020B0604020202020204"/>
                  <a:rtl val="0"/>
                </a:endParaRPr>
              </a:p>
            </p:txBody>
          </p:sp>
          <p:sp>
            <p:nvSpPr>
              <p:cNvPr id="29" name="任意多边形: 形状 28"/>
              <p:cNvSpPr/>
              <p:nvPr/>
            </p:nvSpPr>
            <p:spPr>
              <a:xfrm>
                <a:off x="4572000" y="5334000"/>
                <a:ext cx="1143000" cy="381000"/>
              </a:xfrm>
              <a:custGeom>
                <a:avLst/>
                <a:gdLst>
                  <a:gd name="connsiteX0" fmla="*/ 76340 w 1143000"/>
                  <a:gd name="connsiteY0" fmla="*/ 560 h 381000"/>
                  <a:gd name="connsiteX1" fmla="*/ 1066940 w 1143000"/>
                  <a:gd name="connsiteY1" fmla="*/ 560 h 381000"/>
                  <a:gd name="connsiteX2" fmla="*/ 1143140 w 1143000"/>
                  <a:gd name="connsiteY2" fmla="*/ 76760 h 381000"/>
                  <a:gd name="connsiteX3" fmla="*/ 1143140 w 1143000"/>
                  <a:gd name="connsiteY3" fmla="*/ 305360 h 381000"/>
                  <a:gd name="connsiteX4" fmla="*/ 1066940 w 1143000"/>
                  <a:gd name="connsiteY4" fmla="*/ 381560 h 381000"/>
                  <a:gd name="connsiteX5" fmla="*/ 76340 w 1143000"/>
                  <a:gd name="connsiteY5" fmla="*/ 381560 h 381000"/>
                  <a:gd name="connsiteX6" fmla="*/ 140 w 1143000"/>
                  <a:gd name="connsiteY6" fmla="*/ 305360 h 381000"/>
                  <a:gd name="connsiteX7" fmla="*/ 140 w 1143000"/>
                  <a:gd name="connsiteY7" fmla="*/ 76760 h 381000"/>
                  <a:gd name="connsiteX8" fmla="*/ 76340 w 1143000"/>
                  <a:gd name="connsiteY8" fmla="*/ 560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43000" h="381000">
                    <a:moveTo>
                      <a:pt x="76340" y="560"/>
                    </a:moveTo>
                    <a:lnTo>
                      <a:pt x="1066940" y="560"/>
                    </a:lnTo>
                    <a:cubicBezTo>
                      <a:pt x="1109024" y="560"/>
                      <a:pt x="1143140" y="34676"/>
                      <a:pt x="1143140" y="76760"/>
                    </a:cubicBezTo>
                    <a:lnTo>
                      <a:pt x="1143140" y="305360"/>
                    </a:lnTo>
                    <a:cubicBezTo>
                      <a:pt x="1143140" y="347444"/>
                      <a:pt x="1109024" y="381560"/>
                      <a:pt x="1066940" y="381560"/>
                    </a:cubicBezTo>
                    <a:lnTo>
                      <a:pt x="76340" y="381560"/>
                    </a:lnTo>
                    <a:cubicBezTo>
                      <a:pt x="34256" y="381560"/>
                      <a:pt x="140" y="347444"/>
                      <a:pt x="140" y="305360"/>
                    </a:cubicBezTo>
                    <a:lnTo>
                      <a:pt x="140" y="76760"/>
                    </a:lnTo>
                    <a:cubicBezTo>
                      <a:pt x="140" y="34676"/>
                      <a:pt x="34256" y="560"/>
                      <a:pt x="76340" y="560"/>
                    </a:cubicBezTo>
                    <a:close/>
                  </a:path>
                </a:pathLst>
              </a:custGeom>
              <a:solidFill>
                <a:srgbClr val="E2E8F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4918710" y="5393055"/>
                <a:ext cx="449580" cy="2724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50" spc="0" baseline="0">
                    <a:solidFill>
                      <a:srgbClr val="475569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交付</a:t>
                </a:r>
                <a:endParaRPr lang="zh-CN" altLang="en-US" sz="1050" spc="0" baseline="0">
                  <a:solidFill>
                    <a:srgbClr val="475569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</p:grpSp>
      </p:grpSp>
      <p:grpSp>
        <p:nvGrpSpPr>
          <p:cNvPr id="31" name="SVG Image 2"/>
          <p:cNvGrpSpPr/>
          <p:nvPr/>
        </p:nvGrpSpPr>
        <p:grpSpPr>
          <a:xfrm>
            <a:off x="5810250" y="3333750"/>
            <a:ext cx="571500" cy="571500"/>
            <a:chOff x="5810250" y="3333750"/>
            <a:chExt cx="571500" cy="571500"/>
          </a:xfrm>
        </p:grpSpPr>
        <p:sp>
          <p:nvSpPr>
            <p:cNvPr id="32" name="任意多边形: 形状 31"/>
            <p:cNvSpPr/>
            <p:nvPr/>
          </p:nvSpPr>
          <p:spPr>
            <a:xfrm>
              <a:off x="5810250" y="3333750"/>
              <a:ext cx="571500" cy="571500"/>
            </a:xfrm>
            <a:custGeom>
              <a:avLst/>
              <a:gdLst>
                <a:gd name="connsiteX0" fmla="*/ 572120 w 571500"/>
                <a:gd name="connsiteY0" fmla="*/ 286130 h 571500"/>
                <a:gd name="connsiteX1" fmla="*/ 286370 w 571500"/>
                <a:gd name="connsiteY1" fmla="*/ 571880 h 571500"/>
                <a:gd name="connsiteX2" fmla="*/ 620 w 571500"/>
                <a:gd name="connsiteY2" fmla="*/ 286130 h 571500"/>
                <a:gd name="connsiteX3" fmla="*/ 286370 w 571500"/>
                <a:gd name="connsiteY3" fmla="*/ 380 h 571500"/>
                <a:gd name="connsiteX4" fmla="*/ 572120 w 571500"/>
                <a:gd name="connsiteY4" fmla="*/ 28613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0" h="571500">
                  <a:moveTo>
                    <a:pt x="572120" y="286130"/>
                  </a:moveTo>
                  <a:cubicBezTo>
                    <a:pt x="572120" y="443945"/>
                    <a:pt x="444185" y="571880"/>
                    <a:pt x="286370" y="571880"/>
                  </a:cubicBezTo>
                  <a:cubicBezTo>
                    <a:pt x="128555" y="571880"/>
                    <a:pt x="620" y="443945"/>
                    <a:pt x="620" y="286130"/>
                  </a:cubicBezTo>
                  <a:cubicBezTo>
                    <a:pt x="620" y="128315"/>
                    <a:pt x="128555" y="380"/>
                    <a:pt x="286370" y="380"/>
                  </a:cubicBezTo>
                  <a:cubicBezTo>
                    <a:pt x="444185" y="380"/>
                    <a:pt x="572120" y="128315"/>
                    <a:pt x="572120" y="286130"/>
                  </a:cubicBezTo>
                  <a:close/>
                </a:path>
              </a:pathLst>
            </a:custGeom>
            <a:solidFill>
              <a:srgbClr val="22D3E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5871210" y="3368040"/>
              <a:ext cx="449580" cy="3867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100" spc="0" baseline="0" dirty="0">
                  <a:solidFill>
                    <a:srgbClr val="FFFFFF"/>
                  </a:solidFill>
                  <a:latin typeface="Arial" panose="020B0604020202020204"/>
                  <a:cs typeface="Arial" panose="020B0604020202020204"/>
                  <a:sym typeface="Arial" panose="020B0604020202020204"/>
                  <a:rtl val="0"/>
                </a:rPr>
                <a:t>→</a:t>
              </a:r>
              <a:endParaRPr lang="zh-CN" altLang="en-US" sz="2100" spc="0" baseline="0" dirty="0">
                <a:solidFill>
                  <a:srgbClr val="FFFFFF"/>
                </a:solidFill>
                <a:latin typeface="Arial" panose="020B0604020202020204"/>
                <a:cs typeface="Arial" panose="020B0604020202020204"/>
                <a:sym typeface="Arial" panose="020B0604020202020204"/>
                <a:rtl val="0"/>
              </a:endParaRPr>
            </a:p>
          </p:txBody>
        </p:sp>
      </p:grpSp>
      <p:grpSp>
        <p:nvGrpSpPr>
          <p:cNvPr id="34" name="SVG Image 2"/>
          <p:cNvGrpSpPr/>
          <p:nvPr/>
        </p:nvGrpSpPr>
        <p:grpSpPr>
          <a:xfrm>
            <a:off x="6477000" y="1714500"/>
            <a:ext cx="4953000" cy="4286250"/>
            <a:chOff x="6477000" y="1714500"/>
            <a:chExt cx="4953000" cy="4286250"/>
          </a:xfrm>
        </p:grpSpPr>
        <p:sp>
          <p:nvSpPr>
            <p:cNvPr id="35" name="任意多边形: 形状 34"/>
            <p:cNvSpPr/>
            <p:nvPr/>
          </p:nvSpPr>
          <p:spPr>
            <a:xfrm>
              <a:off x="6477000" y="1714500"/>
              <a:ext cx="4953000" cy="4286250"/>
            </a:xfrm>
            <a:custGeom>
              <a:avLst/>
              <a:gdLst>
                <a:gd name="connsiteX0" fmla="*/ 114980 w 4953000"/>
                <a:gd name="connsiteY0" fmla="*/ 180 h 4286250"/>
                <a:gd name="connsiteX1" fmla="*/ 4839380 w 4953000"/>
                <a:gd name="connsiteY1" fmla="*/ 180 h 4286250"/>
                <a:gd name="connsiteX2" fmla="*/ 4953680 w 4953000"/>
                <a:gd name="connsiteY2" fmla="*/ 114480 h 4286250"/>
                <a:gd name="connsiteX3" fmla="*/ 4953680 w 4953000"/>
                <a:gd name="connsiteY3" fmla="*/ 4172130 h 4286250"/>
                <a:gd name="connsiteX4" fmla="*/ 4839380 w 4953000"/>
                <a:gd name="connsiteY4" fmla="*/ 4286430 h 4286250"/>
                <a:gd name="connsiteX5" fmla="*/ 114980 w 4953000"/>
                <a:gd name="connsiteY5" fmla="*/ 4286430 h 4286250"/>
                <a:gd name="connsiteX6" fmla="*/ 680 w 4953000"/>
                <a:gd name="connsiteY6" fmla="*/ 4172130 h 4286250"/>
                <a:gd name="connsiteX7" fmla="*/ 680 w 4953000"/>
                <a:gd name="connsiteY7" fmla="*/ 114480 h 4286250"/>
                <a:gd name="connsiteX8" fmla="*/ 114980 w 4953000"/>
                <a:gd name="connsiteY8" fmla="*/ 180 h 428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53000" h="4286250">
                  <a:moveTo>
                    <a:pt x="114980" y="180"/>
                  </a:moveTo>
                  <a:lnTo>
                    <a:pt x="4839380" y="180"/>
                  </a:lnTo>
                  <a:cubicBezTo>
                    <a:pt x="4902507" y="180"/>
                    <a:pt x="4953680" y="51354"/>
                    <a:pt x="4953680" y="114480"/>
                  </a:cubicBezTo>
                  <a:lnTo>
                    <a:pt x="4953680" y="4172130"/>
                  </a:lnTo>
                  <a:cubicBezTo>
                    <a:pt x="4953680" y="4235256"/>
                    <a:pt x="4902507" y="4286430"/>
                    <a:pt x="4839380" y="4286430"/>
                  </a:cubicBezTo>
                  <a:lnTo>
                    <a:pt x="114980" y="4286430"/>
                  </a:lnTo>
                  <a:cubicBezTo>
                    <a:pt x="51854" y="4286430"/>
                    <a:pt x="680" y="4235256"/>
                    <a:pt x="680" y="4172130"/>
                  </a:cubicBezTo>
                  <a:lnTo>
                    <a:pt x="680" y="114480"/>
                  </a:lnTo>
                  <a:cubicBezTo>
                    <a:pt x="680" y="51354"/>
                    <a:pt x="51854" y="180"/>
                    <a:pt x="114980" y="180"/>
                  </a:cubicBezTo>
                  <a:close/>
                </a:path>
              </a:pathLst>
            </a:custGeom>
            <a:solidFill>
              <a:srgbClr val="FFFFFF"/>
            </a:solidFill>
            <a:ln w="28575" cap="flat">
              <a:solidFill>
                <a:srgbClr val="22D3E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" name="任意多边形: 形状 35"/>
            <p:cNvSpPr/>
            <p:nvPr/>
          </p:nvSpPr>
          <p:spPr>
            <a:xfrm>
              <a:off x="6477000" y="1714500"/>
              <a:ext cx="952500" cy="381000"/>
            </a:xfrm>
            <a:custGeom>
              <a:avLst/>
              <a:gdLst>
                <a:gd name="connsiteX0" fmla="*/ 114980 w 952500"/>
                <a:gd name="connsiteY0" fmla="*/ 180 h 381000"/>
                <a:gd name="connsiteX1" fmla="*/ 838880 w 952500"/>
                <a:gd name="connsiteY1" fmla="*/ 180 h 381000"/>
                <a:gd name="connsiteX2" fmla="*/ 953180 w 952500"/>
                <a:gd name="connsiteY2" fmla="*/ 114480 h 381000"/>
                <a:gd name="connsiteX3" fmla="*/ 953180 w 952500"/>
                <a:gd name="connsiteY3" fmla="*/ 266880 h 381000"/>
                <a:gd name="connsiteX4" fmla="*/ 838880 w 952500"/>
                <a:gd name="connsiteY4" fmla="*/ 381180 h 381000"/>
                <a:gd name="connsiteX5" fmla="*/ 114980 w 952500"/>
                <a:gd name="connsiteY5" fmla="*/ 381180 h 381000"/>
                <a:gd name="connsiteX6" fmla="*/ 680 w 952500"/>
                <a:gd name="connsiteY6" fmla="*/ 266880 h 381000"/>
                <a:gd name="connsiteX7" fmla="*/ 680 w 952500"/>
                <a:gd name="connsiteY7" fmla="*/ 114480 h 381000"/>
                <a:gd name="connsiteX8" fmla="*/ 114980 w 952500"/>
                <a:gd name="connsiteY8" fmla="*/ 18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2500" h="381000">
                  <a:moveTo>
                    <a:pt x="114980" y="180"/>
                  </a:moveTo>
                  <a:lnTo>
                    <a:pt x="838880" y="180"/>
                  </a:lnTo>
                  <a:cubicBezTo>
                    <a:pt x="902006" y="180"/>
                    <a:pt x="953180" y="51354"/>
                    <a:pt x="953180" y="114480"/>
                  </a:cubicBezTo>
                  <a:lnTo>
                    <a:pt x="953180" y="266880"/>
                  </a:lnTo>
                  <a:cubicBezTo>
                    <a:pt x="953180" y="330006"/>
                    <a:pt x="902006" y="381180"/>
                    <a:pt x="838880" y="381180"/>
                  </a:cubicBezTo>
                  <a:lnTo>
                    <a:pt x="114980" y="381180"/>
                  </a:lnTo>
                  <a:cubicBezTo>
                    <a:pt x="51854" y="381180"/>
                    <a:pt x="680" y="330006"/>
                    <a:pt x="680" y="266880"/>
                  </a:cubicBezTo>
                  <a:lnTo>
                    <a:pt x="680" y="114480"/>
                  </a:lnTo>
                  <a:cubicBezTo>
                    <a:pt x="680" y="51354"/>
                    <a:pt x="51854" y="180"/>
                    <a:pt x="114980" y="180"/>
                  </a:cubicBezTo>
                  <a:close/>
                </a:path>
              </a:pathLst>
            </a:custGeom>
            <a:solidFill>
              <a:srgbClr val="22D3E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6690360" y="1744980"/>
              <a:ext cx="525780" cy="3200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350" b="1" spc="0" baseline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现在</a:t>
              </a:r>
              <a:endParaRPr lang="zh-CN" altLang="en-US" sz="1350" b="1" spc="0" baseline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  <p:grpSp>
          <p:nvGrpSpPr>
            <p:cNvPr id="38" name="SVG Image 2"/>
            <p:cNvGrpSpPr/>
            <p:nvPr/>
          </p:nvGrpSpPr>
          <p:grpSpPr>
            <a:xfrm>
              <a:off x="8477250" y="2381250"/>
              <a:ext cx="952500" cy="952500"/>
              <a:chOff x="8477250" y="2381250"/>
              <a:chExt cx="952500" cy="952500"/>
            </a:xfrm>
          </p:grpSpPr>
          <p:sp>
            <p:nvSpPr>
              <p:cNvPr id="39" name="任意多边形: 形状 38"/>
              <p:cNvSpPr/>
              <p:nvPr/>
            </p:nvSpPr>
            <p:spPr>
              <a:xfrm>
                <a:off x="8477250" y="2381250"/>
                <a:ext cx="952500" cy="952500"/>
              </a:xfrm>
              <a:custGeom>
                <a:avLst/>
                <a:gdLst>
                  <a:gd name="connsiteX0" fmla="*/ 953390 w 952500"/>
                  <a:gd name="connsiteY0" fmla="*/ 476500 h 952500"/>
                  <a:gd name="connsiteX1" fmla="*/ 477140 w 952500"/>
                  <a:gd name="connsiteY1" fmla="*/ 952750 h 952500"/>
                  <a:gd name="connsiteX2" fmla="*/ 890 w 952500"/>
                  <a:gd name="connsiteY2" fmla="*/ 476500 h 952500"/>
                  <a:gd name="connsiteX3" fmla="*/ 477140 w 952500"/>
                  <a:gd name="connsiteY3" fmla="*/ 250 h 952500"/>
                  <a:gd name="connsiteX4" fmla="*/ 953390 w 952500"/>
                  <a:gd name="connsiteY4" fmla="*/ 476500 h 952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0" h="952500">
                    <a:moveTo>
                      <a:pt x="953390" y="476500"/>
                    </a:moveTo>
                    <a:cubicBezTo>
                      <a:pt x="953390" y="739526"/>
                      <a:pt x="740166" y="952750"/>
                      <a:pt x="477140" y="952750"/>
                    </a:cubicBezTo>
                    <a:cubicBezTo>
                      <a:pt x="214114" y="952750"/>
                      <a:pt x="890" y="739526"/>
                      <a:pt x="890" y="476500"/>
                    </a:cubicBezTo>
                    <a:cubicBezTo>
                      <a:pt x="890" y="213474"/>
                      <a:pt x="214114" y="250"/>
                      <a:pt x="477140" y="250"/>
                    </a:cubicBezTo>
                    <a:cubicBezTo>
                      <a:pt x="740166" y="250"/>
                      <a:pt x="953390" y="213474"/>
                      <a:pt x="953390" y="476500"/>
                    </a:cubicBezTo>
                    <a:close/>
                  </a:path>
                </a:pathLst>
              </a:custGeom>
              <a:solidFill>
                <a:srgbClr val="E0F2F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8621818" y="2537460"/>
                <a:ext cx="706755" cy="5962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3000" spc="0" baseline="0" dirty="0">
                    <a:solidFill>
                      <a:srgbClr val="000000"/>
                    </a:solidFill>
                    <a:latin typeface="Segoe UI Emoji" panose="020B0502040204020203"/>
                    <a:sym typeface="Segoe UI Emoji" panose="020B0502040204020203"/>
                    <a:rtl val="0"/>
                  </a:rPr>
                  <a:t>🎯</a:t>
                </a:r>
                <a:endParaRPr lang="zh-CN" altLang="en-US" sz="3000" spc="0" baseline="0" dirty="0">
                  <a:solidFill>
                    <a:srgbClr val="000000"/>
                  </a:solidFill>
                  <a:latin typeface="Segoe UI Emoji" panose="020B0502040204020203"/>
                  <a:sym typeface="Segoe UI Emoji" panose="020B0502040204020203"/>
                  <a:rtl val="0"/>
                </a:endParaRPr>
              </a:p>
            </p:txBody>
          </p:sp>
        </p:grpSp>
        <p:grpSp>
          <p:nvGrpSpPr>
            <p:cNvPr id="41" name="SVG Image 2"/>
            <p:cNvGrpSpPr/>
            <p:nvPr/>
          </p:nvGrpSpPr>
          <p:grpSpPr>
            <a:xfrm>
              <a:off x="6858000" y="3038475"/>
              <a:ext cx="1885950" cy="1952625"/>
              <a:chOff x="6858000" y="3038475"/>
              <a:chExt cx="1885950" cy="1952625"/>
            </a:xfrm>
          </p:grpSpPr>
          <p:sp>
            <p:nvSpPr>
              <p:cNvPr id="42" name="文本框 41"/>
              <p:cNvSpPr txBox="1"/>
              <p:nvPr/>
            </p:nvSpPr>
            <p:spPr>
              <a:xfrm>
                <a:off x="6766560" y="2992755"/>
                <a:ext cx="1468755" cy="3390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500" spc="0" baseline="0">
                    <a:solidFill>
                      <a:srgbClr val="475569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• 人类定义逻辑</a:t>
                </a:r>
                <a:endParaRPr lang="zh-CN" altLang="en-US" sz="1500" spc="0" baseline="0">
                  <a:solidFill>
                    <a:srgbClr val="475569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6766560" y="3373755"/>
                <a:ext cx="1354455" cy="3390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500" b="1" spc="0" baseline="0">
                    <a:solidFill>
                      <a:srgbClr val="1E3A5F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• AI 实现代码</a:t>
                </a:r>
                <a:endParaRPr lang="zh-CN" altLang="en-US" sz="1500" b="1" spc="0" baseline="0">
                  <a:solidFill>
                    <a:srgbClr val="1E3A5F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6766560" y="3754755"/>
                <a:ext cx="1468755" cy="3390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500" spc="0" baseline="0">
                    <a:solidFill>
                      <a:srgbClr val="475569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• 自然语言交互</a:t>
                </a:r>
                <a:endParaRPr lang="zh-CN" altLang="en-US" sz="1500" spc="0" baseline="0">
                  <a:solidFill>
                    <a:srgbClr val="475569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6766560" y="4135755"/>
                <a:ext cx="1468755" cy="3390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500" spc="0" baseline="0">
                    <a:solidFill>
                      <a:srgbClr val="475569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• 快速迭代验证</a:t>
                </a:r>
                <a:endParaRPr lang="zh-CN" altLang="en-US" sz="1500" spc="0" baseline="0">
                  <a:solidFill>
                    <a:srgbClr val="475569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  <p:sp>
            <p:nvSpPr>
              <p:cNvPr id="46" name="文本框 45"/>
              <p:cNvSpPr txBox="1"/>
              <p:nvPr/>
            </p:nvSpPr>
            <p:spPr>
              <a:xfrm>
                <a:off x="6766560" y="4745355"/>
                <a:ext cx="2068830" cy="2914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b="1" spc="0" baseline="0">
                    <a:solidFill>
                      <a:srgbClr val="1E3A5F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角色：产品经理 + 技术验收</a:t>
                </a:r>
                <a:endParaRPr lang="zh-CN" altLang="en-US" sz="1200" b="1" spc="0" baseline="0">
                  <a:solidFill>
                    <a:srgbClr val="1E3A5F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</p:grpSp>
        <p:grpSp>
          <p:nvGrpSpPr>
            <p:cNvPr id="47" name="SVG Image 2"/>
            <p:cNvGrpSpPr/>
            <p:nvPr/>
          </p:nvGrpSpPr>
          <p:grpSpPr>
            <a:xfrm>
              <a:off x="7048500" y="5334000"/>
              <a:ext cx="4381500" cy="381000"/>
              <a:chOff x="7048500" y="5334000"/>
              <a:chExt cx="4381500" cy="381000"/>
            </a:xfrm>
          </p:grpSpPr>
          <p:sp>
            <p:nvSpPr>
              <p:cNvPr id="48" name="任意多边形: 形状 47"/>
              <p:cNvSpPr/>
              <p:nvPr/>
            </p:nvSpPr>
            <p:spPr>
              <a:xfrm>
                <a:off x="7048500" y="5334000"/>
                <a:ext cx="1143000" cy="381000"/>
              </a:xfrm>
              <a:custGeom>
                <a:avLst/>
                <a:gdLst>
                  <a:gd name="connsiteX0" fmla="*/ 76940 w 1143000"/>
                  <a:gd name="connsiteY0" fmla="*/ 560 h 381000"/>
                  <a:gd name="connsiteX1" fmla="*/ 1067540 w 1143000"/>
                  <a:gd name="connsiteY1" fmla="*/ 560 h 381000"/>
                  <a:gd name="connsiteX2" fmla="*/ 1143740 w 1143000"/>
                  <a:gd name="connsiteY2" fmla="*/ 76760 h 381000"/>
                  <a:gd name="connsiteX3" fmla="*/ 1143740 w 1143000"/>
                  <a:gd name="connsiteY3" fmla="*/ 305360 h 381000"/>
                  <a:gd name="connsiteX4" fmla="*/ 1067540 w 1143000"/>
                  <a:gd name="connsiteY4" fmla="*/ 381560 h 381000"/>
                  <a:gd name="connsiteX5" fmla="*/ 76940 w 1143000"/>
                  <a:gd name="connsiteY5" fmla="*/ 381560 h 381000"/>
                  <a:gd name="connsiteX6" fmla="*/ 740 w 1143000"/>
                  <a:gd name="connsiteY6" fmla="*/ 305360 h 381000"/>
                  <a:gd name="connsiteX7" fmla="*/ 740 w 1143000"/>
                  <a:gd name="connsiteY7" fmla="*/ 76760 h 381000"/>
                  <a:gd name="connsiteX8" fmla="*/ 76940 w 1143000"/>
                  <a:gd name="connsiteY8" fmla="*/ 560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43000" h="381000">
                    <a:moveTo>
                      <a:pt x="76940" y="560"/>
                    </a:moveTo>
                    <a:lnTo>
                      <a:pt x="1067540" y="560"/>
                    </a:lnTo>
                    <a:cubicBezTo>
                      <a:pt x="1109624" y="560"/>
                      <a:pt x="1143740" y="34676"/>
                      <a:pt x="1143740" y="76760"/>
                    </a:cubicBezTo>
                    <a:lnTo>
                      <a:pt x="1143740" y="305360"/>
                    </a:lnTo>
                    <a:cubicBezTo>
                      <a:pt x="1143740" y="347444"/>
                      <a:pt x="1109624" y="381560"/>
                      <a:pt x="1067540" y="381560"/>
                    </a:cubicBezTo>
                    <a:lnTo>
                      <a:pt x="76940" y="381560"/>
                    </a:lnTo>
                    <a:cubicBezTo>
                      <a:pt x="34856" y="381560"/>
                      <a:pt x="740" y="347444"/>
                      <a:pt x="740" y="305360"/>
                    </a:cubicBezTo>
                    <a:lnTo>
                      <a:pt x="740" y="76760"/>
                    </a:lnTo>
                    <a:cubicBezTo>
                      <a:pt x="740" y="34676"/>
                      <a:pt x="34856" y="560"/>
                      <a:pt x="76940" y="560"/>
                    </a:cubicBezTo>
                    <a:close/>
                  </a:path>
                </a:pathLst>
              </a:custGeom>
              <a:solidFill>
                <a:srgbClr val="22D3E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9" name="文本框 48"/>
              <p:cNvSpPr txBox="1"/>
              <p:nvPr/>
            </p:nvSpPr>
            <p:spPr>
              <a:xfrm>
                <a:off x="7395210" y="5393055"/>
                <a:ext cx="449580" cy="2724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50" spc="0" baseline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需求</a:t>
                </a:r>
                <a:endParaRPr lang="zh-CN" altLang="en-US" sz="1050" spc="0" baseline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  <p:sp>
            <p:nvSpPr>
              <p:cNvPr id="50" name="文本框 49"/>
              <p:cNvSpPr txBox="1"/>
              <p:nvPr/>
            </p:nvSpPr>
            <p:spPr>
              <a:xfrm>
                <a:off x="8195310" y="5364480"/>
                <a:ext cx="373380" cy="300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500" spc="0" baseline="0">
                    <a:solidFill>
                      <a:srgbClr val="22D3EE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  <a:rtl val="0"/>
                  </a:rPr>
                  <a:t>→</a:t>
                </a:r>
                <a:endParaRPr lang="zh-CN" altLang="en-US" sz="1500" spc="0" baseline="0">
                  <a:solidFill>
                    <a:srgbClr val="22D3EE"/>
                  </a:solidFill>
                  <a:latin typeface="Arial" panose="020B0604020202020204"/>
                  <a:cs typeface="Arial" panose="020B0604020202020204"/>
                  <a:sym typeface="Arial" panose="020B0604020202020204"/>
                  <a:rtl val="0"/>
                </a:endParaRPr>
              </a:p>
            </p:txBody>
          </p:sp>
          <p:sp>
            <p:nvSpPr>
              <p:cNvPr id="51" name="任意多边形: 形状 50"/>
              <p:cNvSpPr/>
              <p:nvPr/>
            </p:nvSpPr>
            <p:spPr>
              <a:xfrm>
                <a:off x="8667750" y="5334000"/>
                <a:ext cx="1143000" cy="381000"/>
              </a:xfrm>
              <a:custGeom>
                <a:avLst/>
                <a:gdLst>
                  <a:gd name="connsiteX0" fmla="*/ 76940 w 1143000"/>
                  <a:gd name="connsiteY0" fmla="*/ 560 h 381000"/>
                  <a:gd name="connsiteX1" fmla="*/ 1067540 w 1143000"/>
                  <a:gd name="connsiteY1" fmla="*/ 560 h 381000"/>
                  <a:gd name="connsiteX2" fmla="*/ 1143740 w 1143000"/>
                  <a:gd name="connsiteY2" fmla="*/ 76760 h 381000"/>
                  <a:gd name="connsiteX3" fmla="*/ 1143740 w 1143000"/>
                  <a:gd name="connsiteY3" fmla="*/ 305360 h 381000"/>
                  <a:gd name="connsiteX4" fmla="*/ 1067540 w 1143000"/>
                  <a:gd name="connsiteY4" fmla="*/ 381560 h 381000"/>
                  <a:gd name="connsiteX5" fmla="*/ 76940 w 1143000"/>
                  <a:gd name="connsiteY5" fmla="*/ 381560 h 381000"/>
                  <a:gd name="connsiteX6" fmla="*/ 740 w 1143000"/>
                  <a:gd name="connsiteY6" fmla="*/ 305360 h 381000"/>
                  <a:gd name="connsiteX7" fmla="*/ 740 w 1143000"/>
                  <a:gd name="connsiteY7" fmla="*/ 76760 h 381000"/>
                  <a:gd name="connsiteX8" fmla="*/ 76940 w 1143000"/>
                  <a:gd name="connsiteY8" fmla="*/ 560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43000" h="381000">
                    <a:moveTo>
                      <a:pt x="76940" y="560"/>
                    </a:moveTo>
                    <a:lnTo>
                      <a:pt x="1067540" y="560"/>
                    </a:lnTo>
                    <a:cubicBezTo>
                      <a:pt x="1109624" y="560"/>
                      <a:pt x="1143740" y="34676"/>
                      <a:pt x="1143740" y="76760"/>
                    </a:cubicBezTo>
                    <a:lnTo>
                      <a:pt x="1143740" y="305360"/>
                    </a:lnTo>
                    <a:cubicBezTo>
                      <a:pt x="1143740" y="347444"/>
                      <a:pt x="1109624" y="381560"/>
                      <a:pt x="1067540" y="381560"/>
                    </a:cubicBezTo>
                    <a:lnTo>
                      <a:pt x="76940" y="381560"/>
                    </a:lnTo>
                    <a:cubicBezTo>
                      <a:pt x="34856" y="381560"/>
                      <a:pt x="740" y="347444"/>
                      <a:pt x="740" y="305360"/>
                    </a:cubicBezTo>
                    <a:lnTo>
                      <a:pt x="740" y="76760"/>
                    </a:lnTo>
                    <a:cubicBezTo>
                      <a:pt x="740" y="34676"/>
                      <a:pt x="34856" y="560"/>
                      <a:pt x="76940" y="560"/>
                    </a:cubicBezTo>
                    <a:close/>
                  </a:path>
                </a:pathLst>
              </a:custGeom>
              <a:solidFill>
                <a:srgbClr val="6366F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2" name="文本框 51"/>
              <p:cNvSpPr txBox="1"/>
              <p:nvPr/>
            </p:nvSpPr>
            <p:spPr>
              <a:xfrm>
                <a:off x="9081135" y="5393055"/>
                <a:ext cx="316230" cy="2724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50" spc="0" baseline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AI</a:t>
                </a:r>
                <a:endParaRPr lang="zh-CN" altLang="en-US" sz="1050" spc="0" baseline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  <p:sp>
            <p:nvSpPr>
              <p:cNvPr id="53" name="文本框 52"/>
              <p:cNvSpPr txBox="1"/>
              <p:nvPr/>
            </p:nvSpPr>
            <p:spPr>
              <a:xfrm>
                <a:off x="9814560" y="5364480"/>
                <a:ext cx="373380" cy="300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500" spc="0" baseline="0">
                    <a:solidFill>
                      <a:srgbClr val="22D3EE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  <a:rtl val="0"/>
                  </a:rPr>
                  <a:t>→</a:t>
                </a:r>
                <a:endParaRPr lang="zh-CN" altLang="en-US" sz="1500" spc="0" baseline="0">
                  <a:solidFill>
                    <a:srgbClr val="22D3EE"/>
                  </a:solidFill>
                  <a:latin typeface="Arial" panose="020B0604020202020204"/>
                  <a:cs typeface="Arial" panose="020B0604020202020204"/>
                  <a:sym typeface="Arial" panose="020B0604020202020204"/>
                  <a:rtl val="0"/>
                </a:endParaRPr>
              </a:p>
            </p:txBody>
          </p:sp>
          <p:sp>
            <p:nvSpPr>
              <p:cNvPr id="54" name="任意多边形: 形状 53"/>
              <p:cNvSpPr/>
              <p:nvPr/>
            </p:nvSpPr>
            <p:spPr>
              <a:xfrm>
                <a:off x="10287000" y="5334000"/>
                <a:ext cx="1143000" cy="381000"/>
              </a:xfrm>
              <a:custGeom>
                <a:avLst/>
                <a:gdLst>
                  <a:gd name="connsiteX0" fmla="*/ 76940 w 1143000"/>
                  <a:gd name="connsiteY0" fmla="*/ 560 h 381000"/>
                  <a:gd name="connsiteX1" fmla="*/ 1067540 w 1143000"/>
                  <a:gd name="connsiteY1" fmla="*/ 560 h 381000"/>
                  <a:gd name="connsiteX2" fmla="*/ 1143740 w 1143000"/>
                  <a:gd name="connsiteY2" fmla="*/ 76760 h 381000"/>
                  <a:gd name="connsiteX3" fmla="*/ 1143740 w 1143000"/>
                  <a:gd name="connsiteY3" fmla="*/ 305360 h 381000"/>
                  <a:gd name="connsiteX4" fmla="*/ 1067540 w 1143000"/>
                  <a:gd name="connsiteY4" fmla="*/ 381560 h 381000"/>
                  <a:gd name="connsiteX5" fmla="*/ 76940 w 1143000"/>
                  <a:gd name="connsiteY5" fmla="*/ 381560 h 381000"/>
                  <a:gd name="connsiteX6" fmla="*/ 740 w 1143000"/>
                  <a:gd name="connsiteY6" fmla="*/ 305360 h 381000"/>
                  <a:gd name="connsiteX7" fmla="*/ 740 w 1143000"/>
                  <a:gd name="connsiteY7" fmla="*/ 76760 h 381000"/>
                  <a:gd name="connsiteX8" fmla="*/ 76940 w 1143000"/>
                  <a:gd name="connsiteY8" fmla="*/ 560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43000" h="381000">
                    <a:moveTo>
                      <a:pt x="76940" y="560"/>
                    </a:moveTo>
                    <a:lnTo>
                      <a:pt x="1067540" y="560"/>
                    </a:lnTo>
                    <a:cubicBezTo>
                      <a:pt x="1109624" y="560"/>
                      <a:pt x="1143740" y="34676"/>
                      <a:pt x="1143740" y="76760"/>
                    </a:cubicBezTo>
                    <a:lnTo>
                      <a:pt x="1143740" y="305360"/>
                    </a:lnTo>
                    <a:cubicBezTo>
                      <a:pt x="1143740" y="347444"/>
                      <a:pt x="1109624" y="381560"/>
                      <a:pt x="1067540" y="381560"/>
                    </a:cubicBezTo>
                    <a:lnTo>
                      <a:pt x="76940" y="381560"/>
                    </a:lnTo>
                    <a:cubicBezTo>
                      <a:pt x="34856" y="381560"/>
                      <a:pt x="740" y="347444"/>
                      <a:pt x="740" y="305360"/>
                    </a:cubicBezTo>
                    <a:lnTo>
                      <a:pt x="740" y="76760"/>
                    </a:lnTo>
                    <a:cubicBezTo>
                      <a:pt x="740" y="34676"/>
                      <a:pt x="34856" y="560"/>
                      <a:pt x="76940" y="560"/>
                    </a:cubicBezTo>
                    <a:close/>
                  </a:path>
                </a:pathLst>
              </a:custGeom>
              <a:solidFill>
                <a:srgbClr val="22D3E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10633710" y="5393055"/>
                <a:ext cx="449580" cy="2724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50" spc="0" baseline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交付</a:t>
                </a:r>
                <a:endParaRPr lang="zh-CN" altLang="en-US" sz="1050" spc="0" baseline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</p:grpSp>
      </p:grpSp>
      <p:sp>
        <p:nvSpPr>
          <p:cNvPr id="56" name="文本框 55"/>
          <p:cNvSpPr txBox="1"/>
          <p:nvPr/>
        </p:nvSpPr>
        <p:spPr>
          <a:xfrm>
            <a:off x="3832860" y="6174105"/>
            <a:ext cx="4526280" cy="2914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spc="0" baseline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rPr>
              <a:t>适用场景：内部管理后台 • 数据看板 • MVP原型 • 简单应用工具</a:t>
            </a:r>
            <a:endParaRPr lang="zh-CN" altLang="en-US" sz="1200" spc="0" baseline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  <a:rtl val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F0FDFA"/>
              </a:gs>
              <a:gs pos="50000">
                <a:srgbClr val="FEF9C3"/>
              </a:gs>
              <a:gs pos="100000">
                <a:srgbClr val="DBEAFE"/>
              </a:gs>
            </a:gsLst>
            <a:lin ang="27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" name="任意多边形: 形状 4"/>
          <p:cNvSpPr/>
          <p:nvPr/>
        </p:nvSpPr>
        <p:spPr>
          <a:xfrm>
            <a:off x="0" y="0"/>
            <a:ext cx="12192000" cy="76200"/>
          </a:xfrm>
          <a:custGeom>
            <a:avLst/>
            <a:gdLst>
              <a:gd name="connsiteX0" fmla="*/ 0 w 12192000"/>
              <a:gd name="connsiteY0" fmla="*/ 0 h 76200"/>
              <a:gd name="connsiteX1" fmla="*/ 12192000 w 12192000"/>
              <a:gd name="connsiteY1" fmla="*/ 0 h 76200"/>
              <a:gd name="connsiteX2" fmla="*/ 12192000 w 12192000"/>
              <a:gd name="connsiteY2" fmla="*/ 76200 h 76200"/>
              <a:gd name="connsiteX3" fmla="*/ 0 w 12192000"/>
              <a:gd name="connsiteY3" fmla="*/ 76200 h 7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76200">
                <a:moveTo>
                  <a:pt x="0" y="0"/>
                </a:moveTo>
                <a:lnTo>
                  <a:pt x="12192000" y="0"/>
                </a:lnTo>
                <a:lnTo>
                  <a:pt x="1219200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1E3A5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404360" y="201930"/>
            <a:ext cx="3383280" cy="615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150" b="1" spc="0" baseline="0">
                <a:solidFill>
                  <a:srgbClr val="1E3A5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rPr>
              <a:t>效率的指数级提升</a:t>
            </a:r>
            <a:endParaRPr lang="zh-CN" altLang="en-US" sz="3150" b="1" spc="0" baseline="0">
              <a:solidFill>
                <a:srgbClr val="1E3A5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  <a:rtl val="0"/>
            </a:endParaRPr>
          </a:p>
        </p:txBody>
      </p:sp>
      <p:sp>
        <p:nvSpPr>
          <p:cNvPr id="7" name="任意多边形: 形状 6"/>
          <p:cNvSpPr/>
          <p:nvPr/>
        </p:nvSpPr>
        <p:spPr>
          <a:xfrm>
            <a:off x="5143500" y="904875"/>
            <a:ext cx="1905000" cy="28575"/>
          </a:xfrm>
          <a:custGeom>
            <a:avLst/>
            <a:gdLst>
              <a:gd name="connsiteX0" fmla="*/ 0 w 1905000"/>
              <a:gd name="connsiteY0" fmla="*/ 0 h 28575"/>
              <a:gd name="connsiteX1" fmla="*/ 1905000 w 1905000"/>
              <a:gd name="connsiteY1" fmla="*/ 0 h 28575"/>
              <a:gd name="connsiteX2" fmla="*/ 1905000 w 1905000"/>
              <a:gd name="connsiteY2" fmla="*/ 28575 h 28575"/>
              <a:gd name="connsiteX3" fmla="*/ 0 w 1905000"/>
              <a:gd name="connsiteY3" fmla="*/ 28575 h 28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5000" h="28575">
                <a:moveTo>
                  <a:pt x="0" y="0"/>
                </a:moveTo>
                <a:lnTo>
                  <a:pt x="1905000" y="0"/>
                </a:lnTo>
                <a:lnTo>
                  <a:pt x="1905000" y="28575"/>
                </a:lnTo>
                <a:lnTo>
                  <a:pt x="0" y="28575"/>
                </a:lnTo>
                <a:close/>
              </a:path>
            </a:pathLst>
          </a:custGeom>
          <a:solidFill>
            <a:srgbClr val="22D3E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104447" y="1021080"/>
            <a:ext cx="1983105" cy="367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50" spc="0" baseline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rPr>
              <a:t>为何选择 AI 编程？</a:t>
            </a:r>
            <a:endParaRPr lang="zh-CN" altLang="en-US" sz="1650" spc="0" baseline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  <a:rtl val="0"/>
            </a:endParaRPr>
          </a:p>
        </p:txBody>
      </p:sp>
      <p:grpSp>
        <p:nvGrpSpPr>
          <p:cNvPr id="9" name="SVG Image 3"/>
          <p:cNvGrpSpPr/>
          <p:nvPr/>
        </p:nvGrpSpPr>
        <p:grpSpPr>
          <a:xfrm>
            <a:off x="762000" y="1714500"/>
            <a:ext cx="4953000" cy="1905000"/>
            <a:chOff x="762000" y="1714500"/>
            <a:chExt cx="4953000" cy="1905000"/>
          </a:xfrm>
        </p:grpSpPr>
        <p:sp>
          <p:nvSpPr>
            <p:cNvPr id="10" name="任意多边形: 形状 9"/>
            <p:cNvSpPr/>
            <p:nvPr/>
          </p:nvSpPr>
          <p:spPr>
            <a:xfrm>
              <a:off x="762000" y="1714500"/>
              <a:ext cx="4953000" cy="1905000"/>
            </a:xfrm>
            <a:custGeom>
              <a:avLst/>
              <a:gdLst>
                <a:gd name="connsiteX0" fmla="*/ 114380 w 4953000"/>
                <a:gd name="connsiteY0" fmla="*/ 180 h 1905000"/>
                <a:gd name="connsiteX1" fmla="*/ 4838780 w 4953000"/>
                <a:gd name="connsiteY1" fmla="*/ 180 h 1905000"/>
                <a:gd name="connsiteX2" fmla="*/ 4953080 w 4953000"/>
                <a:gd name="connsiteY2" fmla="*/ 114480 h 1905000"/>
                <a:gd name="connsiteX3" fmla="*/ 4953080 w 4953000"/>
                <a:gd name="connsiteY3" fmla="*/ 1790880 h 1905000"/>
                <a:gd name="connsiteX4" fmla="*/ 4838780 w 4953000"/>
                <a:gd name="connsiteY4" fmla="*/ 1905180 h 1905000"/>
                <a:gd name="connsiteX5" fmla="*/ 114380 w 4953000"/>
                <a:gd name="connsiteY5" fmla="*/ 1905180 h 1905000"/>
                <a:gd name="connsiteX6" fmla="*/ 80 w 4953000"/>
                <a:gd name="connsiteY6" fmla="*/ 1790880 h 1905000"/>
                <a:gd name="connsiteX7" fmla="*/ 80 w 4953000"/>
                <a:gd name="connsiteY7" fmla="*/ 114480 h 1905000"/>
                <a:gd name="connsiteX8" fmla="*/ 114380 w 4953000"/>
                <a:gd name="connsiteY8" fmla="*/ 180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53000" h="1905000">
                  <a:moveTo>
                    <a:pt x="114380" y="180"/>
                  </a:moveTo>
                  <a:lnTo>
                    <a:pt x="4838780" y="180"/>
                  </a:lnTo>
                  <a:cubicBezTo>
                    <a:pt x="4901907" y="180"/>
                    <a:pt x="4953080" y="51354"/>
                    <a:pt x="4953080" y="114480"/>
                  </a:cubicBezTo>
                  <a:lnTo>
                    <a:pt x="4953080" y="1790880"/>
                  </a:lnTo>
                  <a:cubicBezTo>
                    <a:pt x="4953080" y="1854006"/>
                    <a:pt x="4901907" y="1905180"/>
                    <a:pt x="4838780" y="1905180"/>
                  </a:cubicBezTo>
                  <a:lnTo>
                    <a:pt x="114380" y="1905180"/>
                  </a:lnTo>
                  <a:cubicBezTo>
                    <a:pt x="51254" y="1905180"/>
                    <a:pt x="80" y="1854006"/>
                    <a:pt x="80" y="1790880"/>
                  </a:cubicBezTo>
                  <a:lnTo>
                    <a:pt x="80" y="114480"/>
                  </a:lnTo>
                  <a:cubicBezTo>
                    <a:pt x="80" y="51354"/>
                    <a:pt x="51254" y="180"/>
                    <a:pt x="114380" y="180"/>
                  </a:cubicBezTo>
                  <a:close/>
                </a:path>
              </a:pathLst>
            </a:custGeom>
            <a:solidFill>
              <a:srgbClr val="FFFFFF"/>
            </a:solidFill>
            <a:ln w="19050" cap="flat">
              <a:solidFill>
                <a:srgbClr val="E2E8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952500" y="1905000"/>
              <a:ext cx="762000" cy="762000"/>
            </a:xfrm>
            <a:custGeom>
              <a:avLst/>
              <a:gdLst>
                <a:gd name="connsiteX0" fmla="*/ 762080 w 762000"/>
                <a:gd name="connsiteY0" fmla="*/ 381180 h 762000"/>
                <a:gd name="connsiteX1" fmla="*/ 381080 w 762000"/>
                <a:gd name="connsiteY1" fmla="*/ 762180 h 762000"/>
                <a:gd name="connsiteX2" fmla="*/ 80 w 762000"/>
                <a:gd name="connsiteY2" fmla="*/ 381180 h 762000"/>
                <a:gd name="connsiteX3" fmla="*/ 381080 w 762000"/>
                <a:gd name="connsiteY3" fmla="*/ 180 h 762000"/>
                <a:gd name="connsiteX4" fmla="*/ 762080 w 762000"/>
                <a:gd name="connsiteY4" fmla="*/ 381180 h 76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0" h="762000">
                  <a:moveTo>
                    <a:pt x="762080" y="381180"/>
                  </a:moveTo>
                  <a:cubicBezTo>
                    <a:pt x="762080" y="591601"/>
                    <a:pt x="591501" y="762180"/>
                    <a:pt x="381080" y="762180"/>
                  </a:cubicBezTo>
                  <a:cubicBezTo>
                    <a:pt x="170660" y="762180"/>
                    <a:pt x="80" y="591601"/>
                    <a:pt x="80" y="381180"/>
                  </a:cubicBezTo>
                  <a:cubicBezTo>
                    <a:pt x="80" y="170760"/>
                    <a:pt x="170660" y="180"/>
                    <a:pt x="381080" y="180"/>
                  </a:cubicBezTo>
                  <a:cubicBezTo>
                    <a:pt x="591501" y="180"/>
                    <a:pt x="762080" y="170760"/>
                    <a:pt x="762080" y="381180"/>
                  </a:cubicBezTo>
                  <a:close/>
                </a:path>
              </a:pathLst>
            </a:custGeom>
            <a:solidFill>
              <a:srgbClr val="FEF3C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08697" y="1983105"/>
              <a:ext cx="649605" cy="5486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700" spc="0" baseline="0">
                  <a:solidFill>
                    <a:srgbClr val="000000"/>
                  </a:solidFill>
                  <a:latin typeface="Segoe UI Emoji" panose="020B0502040204020203"/>
                  <a:sym typeface="Segoe UI Emoji" panose="020B0502040204020203"/>
                  <a:rtl val="0"/>
                </a:rPr>
                <a:t>🚀</a:t>
              </a:r>
              <a:endParaRPr lang="zh-CN" altLang="en-US" sz="2700" spc="0" baseline="0">
                <a:solidFill>
                  <a:srgbClr val="000000"/>
                </a:solidFill>
                <a:latin typeface="Segoe UI Emoji" panose="020B0502040204020203"/>
                <a:sym typeface="Segoe UI Emoji" panose="020B0502040204020203"/>
                <a:rtl val="0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813560" y="1906905"/>
              <a:ext cx="1259205" cy="3867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800" b="1" spc="0" baseline="0">
                  <a:solidFill>
                    <a:srgbClr val="1E3A5F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极速 MVP</a:t>
              </a:r>
              <a:endParaRPr lang="zh-CN" altLang="en-US" sz="1800" b="1" spc="0" baseline="0">
                <a:solidFill>
                  <a:srgbClr val="1E3A5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813560" y="2316480"/>
              <a:ext cx="2125980" cy="2914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solidFill>
                    <a:srgbClr val="64748B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开发周期从"周"缩短至"小时"</a:t>
              </a:r>
              <a:endParaRPr lang="zh-CN" altLang="en-US" sz="1200" spc="0" baseline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813560" y="2554605"/>
              <a:ext cx="1611630" cy="2914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solidFill>
                    <a:srgbClr val="64748B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效率提升 30% - 50%</a:t>
              </a:r>
              <a:endParaRPr lang="zh-CN" altLang="en-US" sz="1200" spc="0" baseline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  <p:sp>
          <p:nvSpPr>
            <p:cNvPr id="16" name="任意多边形: 形状 15"/>
            <p:cNvSpPr/>
            <p:nvPr/>
          </p:nvSpPr>
          <p:spPr>
            <a:xfrm>
              <a:off x="1047750" y="3048000"/>
              <a:ext cx="4381500" cy="381000"/>
            </a:xfrm>
            <a:custGeom>
              <a:avLst/>
              <a:gdLst>
                <a:gd name="connsiteX0" fmla="*/ 76280 w 4381500"/>
                <a:gd name="connsiteY0" fmla="*/ 180 h 381000"/>
                <a:gd name="connsiteX1" fmla="*/ 4305380 w 4381500"/>
                <a:gd name="connsiteY1" fmla="*/ 180 h 381000"/>
                <a:gd name="connsiteX2" fmla="*/ 4381580 w 4381500"/>
                <a:gd name="connsiteY2" fmla="*/ 76380 h 381000"/>
                <a:gd name="connsiteX3" fmla="*/ 4381580 w 4381500"/>
                <a:gd name="connsiteY3" fmla="*/ 304980 h 381000"/>
                <a:gd name="connsiteX4" fmla="*/ 4305380 w 4381500"/>
                <a:gd name="connsiteY4" fmla="*/ 381180 h 381000"/>
                <a:gd name="connsiteX5" fmla="*/ 76280 w 4381500"/>
                <a:gd name="connsiteY5" fmla="*/ 381180 h 381000"/>
                <a:gd name="connsiteX6" fmla="*/ 80 w 4381500"/>
                <a:gd name="connsiteY6" fmla="*/ 304980 h 381000"/>
                <a:gd name="connsiteX7" fmla="*/ 80 w 4381500"/>
                <a:gd name="connsiteY7" fmla="*/ 76380 h 381000"/>
                <a:gd name="connsiteX8" fmla="*/ 76280 w 4381500"/>
                <a:gd name="connsiteY8" fmla="*/ 18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81500" h="381000">
                  <a:moveTo>
                    <a:pt x="76280" y="180"/>
                  </a:moveTo>
                  <a:lnTo>
                    <a:pt x="4305380" y="180"/>
                  </a:lnTo>
                  <a:cubicBezTo>
                    <a:pt x="4347464" y="180"/>
                    <a:pt x="4381580" y="34296"/>
                    <a:pt x="4381580" y="76380"/>
                  </a:cubicBezTo>
                  <a:lnTo>
                    <a:pt x="4381580" y="304980"/>
                  </a:lnTo>
                  <a:cubicBezTo>
                    <a:pt x="4381580" y="347064"/>
                    <a:pt x="4347464" y="381180"/>
                    <a:pt x="4305380" y="381180"/>
                  </a:cubicBezTo>
                  <a:lnTo>
                    <a:pt x="76280" y="381180"/>
                  </a:lnTo>
                  <a:cubicBezTo>
                    <a:pt x="34196" y="381180"/>
                    <a:pt x="80" y="347064"/>
                    <a:pt x="80" y="304980"/>
                  </a:cubicBezTo>
                  <a:lnTo>
                    <a:pt x="80" y="76380"/>
                  </a:lnTo>
                  <a:cubicBezTo>
                    <a:pt x="80" y="34296"/>
                    <a:pt x="34196" y="180"/>
                    <a:pt x="76280" y="180"/>
                  </a:cubicBezTo>
                  <a:close/>
                </a:path>
              </a:pathLst>
            </a:custGeom>
            <a:solidFill>
              <a:srgbClr val="FEF3C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546985" y="3107055"/>
              <a:ext cx="1383030" cy="2724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50" b="1" spc="0" baseline="0">
                  <a:solidFill>
                    <a:srgbClr val="92400E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当天想法，当天演示</a:t>
              </a:r>
              <a:endParaRPr lang="zh-CN" altLang="en-US" sz="1050" b="1" spc="0" baseline="0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</p:grpSp>
      <p:grpSp>
        <p:nvGrpSpPr>
          <p:cNvPr id="18" name="SVG Image 3"/>
          <p:cNvGrpSpPr/>
          <p:nvPr/>
        </p:nvGrpSpPr>
        <p:grpSpPr>
          <a:xfrm>
            <a:off x="6477000" y="1714500"/>
            <a:ext cx="4953000" cy="1905000"/>
            <a:chOff x="6477000" y="1714500"/>
            <a:chExt cx="4953000" cy="1905000"/>
          </a:xfrm>
        </p:grpSpPr>
        <p:sp>
          <p:nvSpPr>
            <p:cNvPr id="19" name="任意多边形: 形状 18"/>
            <p:cNvSpPr/>
            <p:nvPr/>
          </p:nvSpPr>
          <p:spPr>
            <a:xfrm>
              <a:off x="6477000" y="1714500"/>
              <a:ext cx="4953000" cy="1905000"/>
            </a:xfrm>
            <a:custGeom>
              <a:avLst/>
              <a:gdLst>
                <a:gd name="connsiteX0" fmla="*/ 114980 w 4953000"/>
                <a:gd name="connsiteY0" fmla="*/ 180 h 1905000"/>
                <a:gd name="connsiteX1" fmla="*/ 4839380 w 4953000"/>
                <a:gd name="connsiteY1" fmla="*/ 180 h 1905000"/>
                <a:gd name="connsiteX2" fmla="*/ 4953680 w 4953000"/>
                <a:gd name="connsiteY2" fmla="*/ 114480 h 1905000"/>
                <a:gd name="connsiteX3" fmla="*/ 4953680 w 4953000"/>
                <a:gd name="connsiteY3" fmla="*/ 1790880 h 1905000"/>
                <a:gd name="connsiteX4" fmla="*/ 4839380 w 4953000"/>
                <a:gd name="connsiteY4" fmla="*/ 1905180 h 1905000"/>
                <a:gd name="connsiteX5" fmla="*/ 114980 w 4953000"/>
                <a:gd name="connsiteY5" fmla="*/ 1905180 h 1905000"/>
                <a:gd name="connsiteX6" fmla="*/ 680 w 4953000"/>
                <a:gd name="connsiteY6" fmla="*/ 1790880 h 1905000"/>
                <a:gd name="connsiteX7" fmla="*/ 680 w 4953000"/>
                <a:gd name="connsiteY7" fmla="*/ 114480 h 1905000"/>
                <a:gd name="connsiteX8" fmla="*/ 114980 w 4953000"/>
                <a:gd name="connsiteY8" fmla="*/ 180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53000" h="1905000">
                  <a:moveTo>
                    <a:pt x="114980" y="180"/>
                  </a:moveTo>
                  <a:lnTo>
                    <a:pt x="4839380" y="180"/>
                  </a:lnTo>
                  <a:cubicBezTo>
                    <a:pt x="4902507" y="180"/>
                    <a:pt x="4953680" y="51354"/>
                    <a:pt x="4953680" y="114480"/>
                  </a:cubicBezTo>
                  <a:lnTo>
                    <a:pt x="4953680" y="1790880"/>
                  </a:lnTo>
                  <a:cubicBezTo>
                    <a:pt x="4953680" y="1854006"/>
                    <a:pt x="4902507" y="1905180"/>
                    <a:pt x="4839380" y="1905180"/>
                  </a:cubicBezTo>
                  <a:lnTo>
                    <a:pt x="114980" y="1905180"/>
                  </a:lnTo>
                  <a:cubicBezTo>
                    <a:pt x="51854" y="1905180"/>
                    <a:pt x="680" y="1854006"/>
                    <a:pt x="680" y="1790880"/>
                  </a:cubicBezTo>
                  <a:lnTo>
                    <a:pt x="680" y="114480"/>
                  </a:lnTo>
                  <a:cubicBezTo>
                    <a:pt x="680" y="51354"/>
                    <a:pt x="51854" y="180"/>
                    <a:pt x="114980" y="180"/>
                  </a:cubicBezTo>
                  <a:close/>
                </a:path>
              </a:pathLst>
            </a:custGeom>
            <a:solidFill>
              <a:srgbClr val="FFFFFF"/>
            </a:solidFill>
            <a:ln w="19050" cap="flat">
              <a:solidFill>
                <a:srgbClr val="22D3E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6667500" y="1905000"/>
              <a:ext cx="762000" cy="762000"/>
            </a:xfrm>
            <a:custGeom>
              <a:avLst/>
              <a:gdLst>
                <a:gd name="connsiteX0" fmla="*/ 762680 w 762000"/>
                <a:gd name="connsiteY0" fmla="*/ 381180 h 762000"/>
                <a:gd name="connsiteX1" fmla="*/ 381680 w 762000"/>
                <a:gd name="connsiteY1" fmla="*/ 762180 h 762000"/>
                <a:gd name="connsiteX2" fmla="*/ 680 w 762000"/>
                <a:gd name="connsiteY2" fmla="*/ 381180 h 762000"/>
                <a:gd name="connsiteX3" fmla="*/ 381680 w 762000"/>
                <a:gd name="connsiteY3" fmla="*/ 180 h 762000"/>
                <a:gd name="connsiteX4" fmla="*/ 762680 w 762000"/>
                <a:gd name="connsiteY4" fmla="*/ 381180 h 76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0" h="762000">
                  <a:moveTo>
                    <a:pt x="762680" y="381180"/>
                  </a:moveTo>
                  <a:cubicBezTo>
                    <a:pt x="762680" y="591601"/>
                    <a:pt x="592101" y="762180"/>
                    <a:pt x="381680" y="762180"/>
                  </a:cubicBezTo>
                  <a:cubicBezTo>
                    <a:pt x="171260" y="762180"/>
                    <a:pt x="680" y="591601"/>
                    <a:pt x="680" y="381180"/>
                  </a:cubicBezTo>
                  <a:cubicBezTo>
                    <a:pt x="680" y="170760"/>
                    <a:pt x="171260" y="180"/>
                    <a:pt x="381680" y="180"/>
                  </a:cubicBezTo>
                  <a:cubicBezTo>
                    <a:pt x="592101" y="180"/>
                    <a:pt x="762680" y="170760"/>
                    <a:pt x="762680" y="381180"/>
                  </a:cubicBezTo>
                  <a:close/>
                </a:path>
              </a:pathLst>
            </a:custGeom>
            <a:solidFill>
              <a:srgbClr val="E0F2F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6723697" y="1983105"/>
              <a:ext cx="649605" cy="5486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700" spc="0" baseline="0">
                  <a:solidFill>
                    <a:srgbClr val="000000"/>
                  </a:solidFill>
                  <a:latin typeface="Segoe UI Emoji" panose="020B0502040204020203"/>
                  <a:sym typeface="Segoe UI Emoji" panose="020B0502040204020203"/>
                  <a:rtl val="0"/>
                </a:rPr>
                <a:t>🧩</a:t>
              </a:r>
              <a:endParaRPr lang="zh-CN" altLang="en-US" sz="2700" spc="0" baseline="0">
                <a:solidFill>
                  <a:srgbClr val="000000"/>
                </a:solidFill>
                <a:latin typeface="Segoe UI Emoji" panose="020B0502040204020203"/>
                <a:sym typeface="Segoe UI Emoji" panose="020B0502040204020203"/>
                <a:rtl val="0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7528560" y="1906905"/>
              <a:ext cx="1325880" cy="3867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800" b="1" spc="0" baseline="0">
                  <a:solidFill>
                    <a:srgbClr val="1E3A5F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全栈平民化</a:t>
              </a:r>
              <a:endParaRPr lang="zh-CN" altLang="en-US" sz="1800" b="1" spc="0" baseline="0">
                <a:solidFill>
                  <a:srgbClr val="1E3A5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7528560" y="2316480"/>
              <a:ext cx="2164080" cy="2914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solidFill>
                    <a:srgbClr val="64748B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只要有逻辑，无需懂编程语法</a:t>
              </a:r>
              <a:endParaRPr lang="zh-CN" altLang="en-US" sz="1200" spc="0" baseline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7528560" y="2554605"/>
              <a:ext cx="2192655" cy="2914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solidFill>
                    <a:srgbClr val="64748B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Java / Vue / SQL 不再是门槛</a:t>
              </a:r>
              <a:endParaRPr lang="zh-CN" altLang="en-US" sz="1200" spc="0" baseline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  <p:sp>
          <p:nvSpPr>
            <p:cNvPr id="25" name="任意多边形: 形状 24"/>
            <p:cNvSpPr/>
            <p:nvPr/>
          </p:nvSpPr>
          <p:spPr>
            <a:xfrm>
              <a:off x="6762750" y="3048000"/>
              <a:ext cx="4381500" cy="381000"/>
            </a:xfrm>
            <a:custGeom>
              <a:avLst/>
              <a:gdLst>
                <a:gd name="connsiteX0" fmla="*/ 76880 w 4381500"/>
                <a:gd name="connsiteY0" fmla="*/ 180 h 381000"/>
                <a:gd name="connsiteX1" fmla="*/ 4305980 w 4381500"/>
                <a:gd name="connsiteY1" fmla="*/ 180 h 381000"/>
                <a:gd name="connsiteX2" fmla="*/ 4382180 w 4381500"/>
                <a:gd name="connsiteY2" fmla="*/ 76380 h 381000"/>
                <a:gd name="connsiteX3" fmla="*/ 4382180 w 4381500"/>
                <a:gd name="connsiteY3" fmla="*/ 304980 h 381000"/>
                <a:gd name="connsiteX4" fmla="*/ 4305980 w 4381500"/>
                <a:gd name="connsiteY4" fmla="*/ 381180 h 381000"/>
                <a:gd name="connsiteX5" fmla="*/ 76880 w 4381500"/>
                <a:gd name="connsiteY5" fmla="*/ 381180 h 381000"/>
                <a:gd name="connsiteX6" fmla="*/ 680 w 4381500"/>
                <a:gd name="connsiteY6" fmla="*/ 304980 h 381000"/>
                <a:gd name="connsiteX7" fmla="*/ 680 w 4381500"/>
                <a:gd name="connsiteY7" fmla="*/ 76380 h 381000"/>
                <a:gd name="connsiteX8" fmla="*/ 76880 w 4381500"/>
                <a:gd name="connsiteY8" fmla="*/ 18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81500" h="381000">
                  <a:moveTo>
                    <a:pt x="76880" y="180"/>
                  </a:moveTo>
                  <a:lnTo>
                    <a:pt x="4305980" y="180"/>
                  </a:lnTo>
                  <a:cubicBezTo>
                    <a:pt x="4348064" y="180"/>
                    <a:pt x="4382180" y="34296"/>
                    <a:pt x="4382180" y="76380"/>
                  </a:cubicBezTo>
                  <a:lnTo>
                    <a:pt x="4382180" y="304980"/>
                  </a:lnTo>
                  <a:cubicBezTo>
                    <a:pt x="4382180" y="347064"/>
                    <a:pt x="4348064" y="381180"/>
                    <a:pt x="4305980" y="381180"/>
                  </a:cubicBezTo>
                  <a:lnTo>
                    <a:pt x="76880" y="381180"/>
                  </a:lnTo>
                  <a:cubicBezTo>
                    <a:pt x="34796" y="381180"/>
                    <a:pt x="680" y="347064"/>
                    <a:pt x="680" y="304980"/>
                  </a:cubicBezTo>
                  <a:lnTo>
                    <a:pt x="680" y="76380"/>
                  </a:lnTo>
                  <a:cubicBezTo>
                    <a:pt x="680" y="34296"/>
                    <a:pt x="34796" y="180"/>
                    <a:pt x="76880" y="180"/>
                  </a:cubicBezTo>
                  <a:close/>
                </a:path>
              </a:pathLst>
            </a:custGeom>
            <a:solidFill>
              <a:srgbClr val="E0F2F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8238172" y="3107055"/>
              <a:ext cx="1430655" cy="2724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50" b="1" spc="0" baseline="0">
                  <a:solidFill>
                    <a:srgbClr val="0369A1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逻辑思维 &gt; 编码语法</a:t>
              </a:r>
              <a:endParaRPr lang="zh-CN" altLang="en-US" sz="1050" b="1" spc="0" baseline="0">
                <a:solidFill>
                  <a:srgbClr val="0369A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</p:grpSp>
      <p:grpSp>
        <p:nvGrpSpPr>
          <p:cNvPr id="27" name="SVG Image 3"/>
          <p:cNvGrpSpPr/>
          <p:nvPr/>
        </p:nvGrpSpPr>
        <p:grpSpPr>
          <a:xfrm>
            <a:off x="762000" y="3905250"/>
            <a:ext cx="4953000" cy="1905000"/>
            <a:chOff x="762000" y="3905250"/>
            <a:chExt cx="4953000" cy="1905000"/>
          </a:xfrm>
        </p:grpSpPr>
        <p:sp>
          <p:nvSpPr>
            <p:cNvPr id="28" name="任意多边形: 形状 27"/>
            <p:cNvSpPr/>
            <p:nvPr/>
          </p:nvSpPr>
          <p:spPr>
            <a:xfrm>
              <a:off x="762000" y="3905250"/>
              <a:ext cx="4953000" cy="1905000"/>
            </a:xfrm>
            <a:custGeom>
              <a:avLst/>
              <a:gdLst>
                <a:gd name="connsiteX0" fmla="*/ 114380 w 4953000"/>
                <a:gd name="connsiteY0" fmla="*/ 410 h 1905000"/>
                <a:gd name="connsiteX1" fmla="*/ 4838780 w 4953000"/>
                <a:gd name="connsiteY1" fmla="*/ 410 h 1905000"/>
                <a:gd name="connsiteX2" fmla="*/ 4953080 w 4953000"/>
                <a:gd name="connsiteY2" fmla="*/ 114710 h 1905000"/>
                <a:gd name="connsiteX3" fmla="*/ 4953080 w 4953000"/>
                <a:gd name="connsiteY3" fmla="*/ 1791110 h 1905000"/>
                <a:gd name="connsiteX4" fmla="*/ 4838780 w 4953000"/>
                <a:gd name="connsiteY4" fmla="*/ 1905410 h 1905000"/>
                <a:gd name="connsiteX5" fmla="*/ 114380 w 4953000"/>
                <a:gd name="connsiteY5" fmla="*/ 1905410 h 1905000"/>
                <a:gd name="connsiteX6" fmla="*/ 80 w 4953000"/>
                <a:gd name="connsiteY6" fmla="*/ 1791110 h 1905000"/>
                <a:gd name="connsiteX7" fmla="*/ 80 w 4953000"/>
                <a:gd name="connsiteY7" fmla="*/ 114710 h 1905000"/>
                <a:gd name="connsiteX8" fmla="*/ 114380 w 4953000"/>
                <a:gd name="connsiteY8" fmla="*/ 410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53000" h="1905000">
                  <a:moveTo>
                    <a:pt x="114380" y="410"/>
                  </a:moveTo>
                  <a:lnTo>
                    <a:pt x="4838780" y="410"/>
                  </a:lnTo>
                  <a:cubicBezTo>
                    <a:pt x="4901907" y="410"/>
                    <a:pt x="4953080" y="51584"/>
                    <a:pt x="4953080" y="114710"/>
                  </a:cubicBezTo>
                  <a:lnTo>
                    <a:pt x="4953080" y="1791110"/>
                  </a:lnTo>
                  <a:cubicBezTo>
                    <a:pt x="4953080" y="1854236"/>
                    <a:pt x="4901907" y="1905410"/>
                    <a:pt x="4838780" y="1905410"/>
                  </a:cubicBezTo>
                  <a:lnTo>
                    <a:pt x="114380" y="1905410"/>
                  </a:lnTo>
                  <a:cubicBezTo>
                    <a:pt x="51254" y="1905410"/>
                    <a:pt x="80" y="1854236"/>
                    <a:pt x="80" y="1791110"/>
                  </a:cubicBezTo>
                  <a:lnTo>
                    <a:pt x="80" y="114710"/>
                  </a:lnTo>
                  <a:cubicBezTo>
                    <a:pt x="80" y="51584"/>
                    <a:pt x="51254" y="410"/>
                    <a:pt x="114380" y="410"/>
                  </a:cubicBezTo>
                  <a:close/>
                </a:path>
              </a:pathLst>
            </a:custGeom>
            <a:solidFill>
              <a:srgbClr val="FFFFFF"/>
            </a:solidFill>
            <a:ln w="19050" cap="flat">
              <a:solidFill>
                <a:srgbClr val="E2E8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" name="任意多边形: 形状 28"/>
            <p:cNvSpPr/>
            <p:nvPr/>
          </p:nvSpPr>
          <p:spPr>
            <a:xfrm>
              <a:off x="952500" y="4095750"/>
              <a:ext cx="762000" cy="762000"/>
            </a:xfrm>
            <a:custGeom>
              <a:avLst/>
              <a:gdLst>
                <a:gd name="connsiteX0" fmla="*/ 762080 w 762000"/>
                <a:gd name="connsiteY0" fmla="*/ 381410 h 762000"/>
                <a:gd name="connsiteX1" fmla="*/ 381080 w 762000"/>
                <a:gd name="connsiteY1" fmla="*/ 762410 h 762000"/>
                <a:gd name="connsiteX2" fmla="*/ 80 w 762000"/>
                <a:gd name="connsiteY2" fmla="*/ 381410 h 762000"/>
                <a:gd name="connsiteX3" fmla="*/ 381080 w 762000"/>
                <a:gd name="connsiteY3" fmla="*/ 410 h 762000"/>
                <a:gd name="connsiteX4" fmla="*/ 762080 w 762000"/>
                <a:gd name="connsiteY4" fmla="*/ 381410 h 76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0" h="762000">
                  <a:moveTo>
                    <a:pt x="762080" y="381410"/>
                  </a:moveTo>
                  <a:cubicBezTo>
                    <a:pt x="762080" y="591831"/>
                    <a:pt x="591501" y="762410"/>
                    <a:pt x="381080" y="762410"/>
                  </a:cubicBezTo>
                  <a:cubicBezTo>
                    <a:pt x="170660" y="762410"/>
                    <a:pt x="80" y="591831"/>
                    <a:pt x="80" y="381410"/>
                  </a:cubicBezTo>
                  <a:cubicBezTo>
                    <a:pt x="80" y="170990"/>
                    <a:pt x="170660" y="410"/>
                    <a:pt x="381080" y="410"/>
                  </a:cubicBezTo>
                  <a:cubicBezTo>
                    <a:pt x="591501" y="410"/>
                    <a:pt x="762080" y="170990"/>
                    <a:pt x="762080" y="381410"/>
                  </a:cubicBezTo>
                  <a:close/>
                </a:path>
              </a:pathLst>
            </a:custGeom>
            <a:solidFill>
              <a:srgbClr val="DCFC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008697" y="4173855"/>
              <a:ext cx="649605" cy="5486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700" spc="0" baseline="0">
                  <a:solidFill>
                    <a:srgbClr val="000000"/>
                  </a:solidFill>
                  <a:latin typeface="Segoe UI Emoji" panose="020B0502040204020203"/>
                  <a:sym typeface="Segoe UI Emoji" panose="020B0502040204020203"/>
                  <a:rtl val="0"/>
                </a:rPr>
                <a:t>🔧</a:t>
              </a:r>
              <a:endParaRPr lang="zh-CN" altLang="en-US" sz="2700" spc="0" baseline="0">
                <a:solidFill>
                  <a:srgbClr val="000000"/>
                </a:solidFill>
                <a:latin typeface="Segoe UI Emoji" panose="020B0502040204020203"/>
                <a:sym typeface="Segoe UI Emoji" panose="020B0502040204020203"/>
                <a:rtl val="0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813560" y="4097655"/>
              <a:ext cx="1097280" cy="3867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800" b="1" spc="0" baseline="0">
                  <a:solidFill>
                    <a:srgbClr val="1E3A5F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即时排错</a:t>
              </a:r>
              <a:endParaRPr lang="zh-CN" altLang="en-US" sz="1800" b="1" spc="0" baseline="0">
                <a:solidFill>
                  <a:srgbClr val="1E3A5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1813560" y="4507230"/>
              <a:ext cx="2459355" cy="2914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solidFill>
                    <a:srgbClr val="64748B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复制错误日志 → AI 给出修复方案</a:t>
              </a:r>
              <a:endParaRPr lang="zh-CN" altLang="en-US" sz="1200" spc="0" baseline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813560" y="4745355"/>
              <a:ext cx="2164080" cy="2914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solidFill>
                    <a:srgbClr val="64748B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秒级定位问题，无需逐行调试</a:t>
              </a:r>
              <a:endParaRPr lang="zh-CN" altLang="en-US" sz="1200" spc="0" baseline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  <p:sp>
          <p:nvSpPr>
            <p:cNvPr id="34" name="任意多边形: 形状 33"/>
            <p:cNvSpPr/>
            <p:nvPr/>
          </p:nvSpPr>
          <p:spPr>
            <a:xfrm>
              <a:off x="1047750" y="5238750"/>
              <a:ext cx="4381500" cy="381000"/>
            </a:xfrm>
            <a:custGeom>
              <a:avLst/>
              <a:gdLst>
                <a:gd name="connsiteX0" fmla="*/ 76280 w 4381500"/>
                <a:gd name="connsiteY0" fmla="*/ 410 h 381000"/>
                <a:gd name="connsiteX1" fmla="*/ 4305380 w 4381500"/>
                <a:gd name="connsiteY1" fmla="*/ 410 h 381000"/>
                <a:gd name="connsiteX2" fmla="*/ 4381580 w 4381500"/>
                <a:gd name="connsiteY2" fmla="*/ 76610 h 381000"/>
                <a:gd name="connsiteX3" fmla="*/ 4381580 w 4381500"/>
                <a:gd name="connsiteY3" fmla="*/ 305210 h 381000"/>
                <a:gd name="connsiteX4" fmla="*/ 4305380 w 4381500"/>
                <a:gd name="connsiteY4" fmla="*/ 381410 h 381000"/>
                <a:gd name="connsiteX5" fmla="*/ 76280 w 4381500"/>
                <a:gd name="connsiteY5" fmla="*/ 381410 h 381000"/>
                <a:gd name="connsiteX6" fmla="*/ 80 w 4381500"/>
                <a:gd name="connsiteY6" fmla="*/ 305210 h 381000"/>
                <a:gd name="connsiteX7" fmla="*/ 80 w 4381500"/>
                <a:gd name="connsiteY7" fmla="*/ 76610 h 381000"/>
                <a:gd name="connsiteX8" fmla="*/ 76280 w 4381500"/>
                <a:gd name="connsiteY8" fmla="*/ 41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81500" h="381000">
                  <a:moveTo>
                    <a:pt x="76280" y="410"/>
                  </a:moveTo>
                  <a:lnTo>
                    <a:pt x="4305380" y="410"/>
                  </a:lnTo>
                  <a:cubicBezTo>
                    <a:pt x="4347464" y="410"/>
                    <a:pt x="4381580" y="34526"/>
                    <a:pt x="4381580" y="76610"/>
                  </a:cubicBezTo>
                  <a:lnTo>
                    <a:pt x="4381580" y="305210"/>
                  </a:lnTo>
                  <a:cubicBezTo>
                    <a:pt x="4381580" y="347294"/>
                    <a:pt x="4347464" y="381410"/>
                    <a:pt x="4305380" y="381410"/>
                  </a:cubicBezTo>
                  <a:lnTo>
                    <a:pt x="76280" y="381410"/>
                  </a:lnTo>
                  <a:cubicBezTo>
                    <a:pt x="34196" y="381410"/>
                    <a:pt x="80" y="347294"/>
                    <a:pt x="80" y="305210"/>
                  </a:cubicBezTo>
                  <a:lnTo>
                    <a:pt x="80" y="76610"/>
                  </a:lnTo>
                  <a:cubicBezTo>
                    <a:pt x="80" y="34526"/>
                    <a:pt x="34196" y="410"/>
                    <a:pt x="76280" y="410"/>
                  </a:cubicBezTo>
                  <a:close/>
                </a:path>
              </a:pathLst>
            </a:custGeom>
            <a:solidFill>
              <a:srgbClr val="DCFC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2122805" y="5297805"/>
              <a:ext cx="2421255" cy="414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050" b="1" spc="0" baseline="0">
                  <a:solidFill>
                    <a:srgbClr val="166534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无需漫长搜索，代码问题秒获解答</a:t>
              </a:r>
              <a:endParaRPr lang="zh-CN" altLang="en-US" sz="1050" b="1" spc="0" baseline="0">
                <a:solidFill>
                  <a:srgbClr val="16653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  <a:p>
              <a:pPr algn="l"/>
              <a:endParaRPr lang="zh-CN" altLang="en-US" sz="1050" b="1" spc="0" baseline="0">
                <a:solidFill>
                  <a:srgbClr val="16653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</p:grpSp>
      <p:grpSp>
        <p:nvGrpSpPr>
          <p:cNvPr id="36" name="SVG Image 3"/>
          <p:cNvGrpSpPr/>
          <p:nvPr/>
        </p:nvGrpSpPr>
        <p:grpSpPr>
          <a:xfrm>
            <a:off x="6477000" y="3905250"/>
            <a:ext cx="4953000" cy="1905000"/>
            <a:chOff x="6477000" y="3905250"/>
            <a:chExt cx="4953000" cy="1905000"/>
          </a:xfrm>
        </p:grpSpPr>
        <p:sp>
          <p:nvSpPr>
            <p:cNvPr id="37" name="任意多边形: 形状 36"/>
            <p:cNvSpPr/>
            <p:nvPr/>
          </p:nvSpPr>
          <p:spPr>
            <a:xfrm>
              <a:off x="6477000" y="3905250"/>
              <a:ext cx="4953000" cy="1905000"/>
            </a:xfrm>
            <a:custGeom>
              <a:avLst/>
              <a:gdLst>
                <a:gd name="connsiteX0" fmla="*/ 114980 w 4953000"/>
                <a:gd name="connsiteY0" fmla="*/ 410 h 1905000"/>
                <a:gd name="connsiteX1" fmla="*/ 4839380 w 4953000"/>
                <a:gd name="connsiteY1" fmla="*/ 410 h 1905000"/>
                <a:gd name="connsiteX2" fmla="*/ 4953680 w 4953000"/>
                <a:gd name="connsiteY2" fmla="*/ 114710 h 1905000"/>
                <a:gd name="connsiteX3" fmla="*/ 4953680 w 4953000"/>
                <a:gd name="connsiteY3" fmla="*/ 1791110 h 1905000"/>
                <a:gd name="connsiteX4" fmla="*/ 4839380 w 4953000"/>
                <a:gd name="connsiteY4" fmla="*/ 1905410 h 1905000"/>
                <a:gd name="connsiteX5" fmla="*/ 114980 w 4953000"/>
                <a:gd name="connsiteY5" fmla="*/ 1905410 h 1905000"/>
                <a:gd name="connsiteX6" fmla="*/ 680 w 4953000"/>
                <a:gd name="connsiteY6" fmla="*/ 1791110 h 1905000"/>
                <a:gd name="connsiteX7" fmla="*/ 680 w 4953000"/>
                <a:gd name="connsiteY7" fmla="*/ 114710 h 1905000"/>
                <a:gd name="connsiteX8" fmla="*/ 114980 w 4953000"/>
                <a:gd name="connsiteY8" fmla="*/ 410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53000" h="1905000">
                  <a:moveTo>
                    <a:pt x="114980" y="410"/>
                  </a:moveTo>
                  <a:lnTo>
                    <a:pt x="4839380" y="410"/>
                  </a:lnTo>
                  <a:cubicBezTo>
                    <a:pt x="4902507" y="410"/>
                    <a:pt x="4953680" y="51584"/>
                    <a:pt x="4953680" y="114710"/>
                  </a:cubicBezTo>
                  <a:lnTo>
                    <a:pt x="4953680" y="1791110"/>
                  </a:lnTo>
                  <a:cubicBezTo>
                    <a:pt x="4953680" y="1854236"/>
                    <a:pt x="4902507" y="1905410"/>
                    <a:pt x="4839380" y="1905410"/>
                  </a:cubicBezTo>
                  <a:lnTo>
                    <a:pt x="114980" y="1905410"/>
                  </a:lnTo>
                  <a:cubicBezTo>
                    <a:pt x="51854" y="1905410"/>
                    <a:pt x="680" y="1854236"/>
                    <a:pt x="680" y="1791110"/>
                  </a:cubicBezTo>
                  <a:lnTo>
                    <a:pt x="680" y="114710"/>
                  </a:lnTo>
                  <a:cubicBezTo>
                    <a:pt x="680" y="51584"/>
                    <a:pt x="51854" y="410"/>
                    <a:pt x="114980" y="410"/>
                  </a:cubicBezTo>
                  <a:close/>
                </a:path>
              </a:pathLst>
            </a:custGeom>
            <a:solidFill>
              <a:srgbClr val="FFFFFF"/>
            </a:solidFill>
            <a:ln w="19050" cap="flat">
              <a:solidFill>
                <a:srgbClr val="6366F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" name="任意多边形: 形状 37"/>
            <p:cNvSpPr/>
            <p:nvPr/>
          </p:nvSpPr>
          <p:spPr>
            <a:xfrm>
              <a:off x="6667500" y="4095750"/>
              <a:ext cx="762000" cy="762000"/>
            </a:xfrm>
            <a:custGeom>
              <a:avLst/>
              <a:gdLst>
                <a:gd name="connsiteX0" fmla="*/ 762680 w 762000"/>
                <a:gd name="connsiteY0" fmla="*/ 381410 h 762000"/>
                <a:gd name="connsiteX1" fmla="*/ 381680 w 762000"/>
                <a:gd name="connsiteY1" fmla="*/ 762410 h 762000"/>
                <a:gd name="connsiteX2" fmla="*/ 680 w 762000"/>
                <a:gd name="connsiteY2" fmla="*/ 381410 h 762000"/>
                <a:gd name="connsiteX3" fmla="*/ 381680 w 762000"/>
                <a:gd name="connsiteY3" fmla="*/ 410 h 762000"/>
                <a:gd name="connsiteX4" fmla="*/ 762680 w 762000"/>
                <a:gd name="connsiteY4" fmla="*/ 381410 h 76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0" h="762000">
                  <a:moveTo>
                    <a:pt x="762680" y="381410"/>
                  </a:moveTo>
                  <a:cubicBezTo>
                    <a:pt x="762680" y="591831"/>
                    <a:pt x="592101" y="762410"/>
                    <a:pt x="381680" y="762410"/>
                  </a:cubicBezTo>
                  <a:cubicBezTo>
                    <a:pt x="171260" y="762410"/>
                    <a:pt x="680" y="591831"/>
                    <a:pt x="680" y="381410"/>
                  </a:cubicBezTo>
                  <a:cubicBezTo>
                    <a:pt x="680" y="170990"/>
                    <a:pt x="171260" y="410"/>
                    <a:pt x="381680" y="410"/>
                  </a:cubicBezTo>
                  <a:cubicBezTo>
                    <a:pt x="592101" y="410"/>
                    <a:pt x="762680" y="170990"/>
                    <a:pt x="762680" y="381410"/>
                  </a:cubicBezTo>
                  <a:close/>
                </a:path>
              </a:pathLst>
            </a:custGeom>
            <a:solidFill>
              <a:srgbClr val="EDE9F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6723697" y="4173855"/>
              <a:ext cx="649605" cy="5486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700" spc="0" baseline="0">
                  <a:solidFill>
                    <a:srgbClr val="000000"/>
                  </a:solidFill>
                  <a:latin typeface="Segoe UI Emoji" panose="020B0502040204020203"/>
                  <a:sym typeface="Segoe UI Emoji" panose="020B0502040204020203"/>
                  <a:rtl val="0"/>
                </a:rPr>
                <a:t>📚</a:t>
              </a:r>
              <a:endParaRPr lang="zh-CN" altLang="en-US" sz="2700" spc="0" baseline="0">
                <a:solidFill>
                  <a:srgbClr val="000000"/>
                </a:solidFill>
                <a:latin typeface="Segoe UI Emoji" panose="020B0502040204020203"/>
                <a:sym typeface="Segoe UI Emoji" panose="020B0502040204020203"/>
                <a:rtl val="0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7528560" y="4097655"/>
              <a:ext cx="1097280" cy="3867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800" b="1" spc="0" baseline="0">
                  <a:solidFill>
                    <a:srgbClr val="1E3A5F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文档同步</a:t>
              </a:r>
              <a:endParaRPr lang="zh-CN" altLang="en-US" sz="1800" b="1" spc="0" baseline="0">
                <a:solidFill>
                  <a:srgbClr val="1E3A5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7528560" y="4507230"/>
              <a:ext cx="2154555" cy="2914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solidFill>
                    <a:srgbClr val="64748B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代码生成的同时，API 文档与</a:t>
              </a:r>
              <a:endParaRPr lang="zh-CN" altLang="en-US" sz="1200" spc="0" baseline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7528560" y="4745355"/>
              <a:ext cx="1402080" cy="2914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solidFill>
                    <a:srgbClr val="64748B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部署说明一并完成</a:t>
              </a:r>
              <a:endParaRPr lang="zh-CN" altLang="en-US" sz="1200" spc="0" baseline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  <p:sp>
          <p:nvSpPr>
            <p:cNvPr id="43" name="任意多边形: 形状 42"/>
            <p:cNvSpPr/>
            <p:nvPr/>
          </p:nvSpPr>
          <p:spPr>
            <a:xfrm>
              <a:off x="6762750" y="5238750"/>
              <a:ext cx="4381500" cy="381000"/>
            </a:xfrm>
            <a:custGeom>
              <a:avLst/>
              <a:gdLst>
                <a:gd name="connsiteX0" fmla="*/ 76880 w 4381500"/>
                <a:gd name="connsiteY0" fmla="*/ 410 h 381000"/>
                <a:gd name="connsiteX1" fmla="*/ 4305980 w 4381500"/>
                <a:gd name="connsiteY1" fmla="*/ 410 h 381000"/>
                <a:gd name="connsiteX2" fmla="*/ 4382180 w 4381500"/>
                <a:gd name="connsiteY2" fmla="*/ 76610 h 381000"/>
                <a:gd name="connsiteX3" fmla="*/ 4382180 w 4381500"/>
                <a:gd name="connsiteY3" fmla="*/ 305210 h 381000"/>
                <a:gd name="connsiteX4" fmla="*/ 4305980 w 4381500"/>
                <a:gd name="connsiteY4" fmla="*/ 381410 h 381000"/>
                <a:gd name="connsiteX5" fmla="*/ 76880 w 4381500"/>
                <a:gd name="connsiteY5" fmla="*/ 381410 h 381000"/>
                <a:gd name="connsiteX6" fmla="*/ 680 w 4381500"/>
                <a:gd name="connsiteY6" fmla="*/ 305210 h 381000"/>
                <a:gd name="connsiteX7" fmla="*/ 680 w 4381500"/>
                <a:gd name="connsiteY7" fmla="*/ 76610 h 381000"/>
                <a:gd name="connsiteX8" fmla="*/ 76880 w 4381500"/>
                <a:gd name="connsiteY8" fmla="*/ 41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81500" h="381000">
                  <a:moveTo>
                    <a:pt x="76880" y="410"/>
                  </a:moveTo>
                  <a:lnTo>
                    <a:pt x="4305980" y="410"/>
                  </a:lnTo>
                  <a:cubicBezTo>
                    <a:pt x="4348064" y="410"/>
                    <a:pt x="4382180" y="34526"/>
                    <a:pt x="4382180" y="76610"/>
                  </a:cubicBezTo>
                  <a:lnTo>
                    <a:pt x="4382180" y="305210"/>
                  </a:lnTo>
                  <a:cubicBezTo>
                    <a:pt x="4382180" y="347294"/>
                    <a:pt x="4348064" y="381410"/>
                    <a:pt x="4305980" y="381410"/>
                  </a:cubicBezTo>
                  <a:lnTo>
                    <a:pt x="76880" y="381410"/>
                  </a:lnTo>
                  <a:cubicBezTo>
                    <a:pt x="34796" y="381410"/>
                    <a:pt x="680" y="347294"/>
                    <a:pt x="680" y="305210"/>
                  </a:cubicBezTo>
                  <a:lnTo>
                    <a:pt x="680" y="76610"/>
                  </a:lnTo>
                  <a:cubicBezTo>
                    <a:pt x="680" y="34526"/>
                    <a:pt x="34796" y="410"/>
                    <a:pt x="76880" y="410"/>
                  </a:cubicBezTo>
                  <a:close/>
                </a:path>
              </a:pathLst>
            </a:custGeom>
            <a:solidFill>
              <a:srgbClr val="EDE9F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8528685" y="5297805"/>
              <a:ext cx="849630" cy="2724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50" b="1" spc="0" baseline="0">
                  <a:solidFill>
                    <a:srgbClr val="5B21B6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代码即文档</a:t>
              </a:r>
              <a:endParaRPr lang="zh-CN" altLang="en-US" sz="1050" b="1" spc="0" baseline="0">
                <a:solidFill>
                  <a:srgbClr val="5B21B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</p:grpSp>
      <p:grpSp>
        <p:nvGrpSpPr>
          <p:cNvPr id="45" name="SVG Image 3"/>
          <p:cNvGrpSpPr/>
          <p:nvPr/>
        </p:nvGrpSpPr>
        <p:grpSpPr>
          <a:xfrm>
            <a:off x="4191000" y="6000750"/>
            <a:ext cx="3810000" cy="342900"/>
            <a:chOff x="4191000" y="6000750"/>
            <a:chExt cx="3810000" cy="342900"/>
          </a:xfrm>
        </p:grpSpPr>
        <p:sp>
          <p:nvSpPr>
            <p:cNvPr id="46" name="任意多边形: 形状 45"/>
            <p:cNvSpPr/>
            <p:nvPr/>
          </p:nvSpPr>
          <p:spPr>
            <a:xfrm>
              <a:off x="4191000" y="6000750"/>
              <a:ext cx="3810000" cy="342900"/>
            </a:xfrm>
            <a:custGeom>
              <a:avLst/>
              <a:gdLst>
                <a:gd name="connsiteX0" fmla="*/ 172090 w 3810000"/>
                <a:gd name="connsiteY0" fmla="*/ 650 h 342900"/>
                <a:gd name="connsiteX1" fmla="*/ 3639190 w 3810000"/>
                <a:gd name="connsiteY1" fmla="*/ 650 h 342900"/>
                <a:gd name="connsiteX2" fmla="*/ 3810640 w 3810000"/>
                <a:gd name="connsiteY2" fmla="*/ 172100 h 342900"/>
                <a:gd name="connsiteX3" fmla="*/ 3810640 w 3810000"/>
                <a:gd name="connsiteY3" fmla="*/ 172100 h 342900"/>
                <a:gd name="connsiteX4" fmla="*/ 3639190 w 3810000"/>
                <a:gd name="connsiteY4" fmla="*/ 343550 h 342900"/>
                <a:gd name="connsiteX5" fmla="*/ 172090 w 3810000"/>
                <a:gd name="connsiteY5" fmla="*/ 343550 h 342900"/>
                <a:gd name="connsiteX6" fmla="*/ 640 w 3810000"/>
                <a:gd name="connsiteY6" fmla="*/ 172100 h 342900"/>
                <a:gd name="connsiteX7" fmla="*/ 640 w 3810000"/>
                <a:gd name="connsiteY7" fmla="*/ 172100 h 342900"/>
                <a:gd name="connsiteX8" fmla="*/ 172090 w 3810000"/>
                <a:gd name="connsiteY8" fmla="*/ 650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00" h="342900">
                  <a:moveTo>
                    <a:pt x="172090" y="650"/>
                  </a:moveTo>
                  <a:lnTo>
                    <a:pt x="3639190" y="650"/>
                  </a:lnTo>
                  <a:cubicBezTo>
                    <a:pt x="3733879" y="650"/>
                    <a:pt x="3810640" y="77411"/>
                    <a:pt x="3810640" y="172100"/>
                  </a:cubicBezTo>
                  <a:lnTo>
                    <a:pt x="3810640" y="172100"/>
                  </a:lnTo>
                  <a:cubicBezTo>
                    <a:pt x="3810640" y="266789"/>
                    <a:pt x="3733879" y="343550"/>
                    <a:pt x="3639190" y="343550"/>
                  </a:cubicBezTo>
                  <a:lnTo>
                    <a:pt x="172090" y="343550"/>
                  </a:lnTo>
                  <a:cubicBezTo>
                    <a:pt x="77401" y="343550"/>
                    <a:pt x="640" y="266789"/>
                    <a:pt x="640" y="172100"/>
                  </a:cubicBezTo>
                  <a:lnTo>
                    <a:pt x="640" y="172100"/>
                  </a:lnTo>
                  <a:cubicBezTo>
                    <a:pt x="640" y="77411"/>
                    <a:pt x="77401" y="650"/>
                    <a:pt x="172090" y="650"/>
                  </a:cubicBezTo>
                  <a:close/>
                </a:path>
              </a:pathLst>
            </a:custGeom>
            <a:solidFill>
              <a:srgbClr val="1E3A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5004435" y="6031230"/>
              <a:ext cx="2183130" cy="2914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核心价值：</a:t>
              </a:r>
              <a:r>
                <a:rPr lang="zh-CN" altLang="en-US" sz="1200" b="1" spc="0" baseline="0">
                  <a:solidFill>
                    <a:srgbClr val="22D3EE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降本 • 增效 • 普惠</a:t>
              </a:r>
              <a:endParaRPr lang="zh-CN" altLang="en-US" sz="1200" b="1" spc="0" baseline="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FEF2F2"/>
              </a:gs>
              <a:gs pos="50000">
                <a:srgbClr val="FEE2E2"/>
              </a:gs>
              <a:gs pos="100000">
                <a:srgbClr val="FECACA">
                  <a:alpha val="49804"/>
                </a:srgbClr>
              </a:gs>
            </a:gsLst>
            <a:lin ang="27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" name="任意多边形: 形状 4"/>
          <p:cNvSpPr/>
          <p:nvPr/>
        </p:nvSpPr>
        <p:spPr>
          <a:xfrm>
            <a:off x="0" y="0"/>
            <a:ext cx="12192000" cy="76200"/>
          </a:xfrm>
          <a:custGeom>
            <a:avLst/>
            <a:gdLst>
              <a:gd name="connsiteX0" fmla="*/ 0 w 12192000"/>
              <a:gd name="connsiteY0" fmla="*/ 0 h 76200"/>
              <a:gd name="connsiteX1" fmla="*/ 12192000 w 12192000"/>
              <a:gd name="connsiteY1" fmla="*/ 0 h 76200"/>
              <a:gd name="connsiteX2" fmla="*/ 12192000 w 12192000"/>
              <a:gd name="connsiteY2" fmla="*/ 76200 h 76200"/>
              <a:gd name="connsiteX3" fmla="*/ 0 w 12192000"/>
              <a:gd name="connsiteY3" fmla="*/ 76200 h 7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76200">
                <a:moveTo>
                  <a:pt x="0" y="0"/>
                </a:moveTo>
                <a:lnTo>
                  <a:pt x="12192000" y="0"/>
                </a:lnTo>
                <a:lnTo>
                  <a:pt x="1219200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DC262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523297" y="201930"/>
            <a:ext cx="5145405" cy="615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150" b="1" spc="0" baseline="0">
                <a:solidFill>
                  <a:srgbClr val="991B1B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rPr>
              <a:t>AI 不是万能的：风险与边界</a:t>
            </a:r>
            <a:endParaRPr lang="zh-CN" altLang="en-US" sz="3150" b="1" spc="0" baseline="0">
              <a:solidFill>
                <a:srgbClr val="991B1B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  <a:rtl val="0"/>
            </a:endParaRPr>
          </a:p>
        </p:txBody>
      </p:sp>
      <p:sp>
        <p:nvSpPr>
          <p:cNvPr id="7" name="任意多边形: 形状 6"/>
          <p:cNvSpPr/>
          <p:nvPr/>
        </p:nvSpPr>
        <p:spPr>
          <a:xfrm>
            <a:off x="5143500" y="904875"/>
            <a:ext cx="1905000" cy="28575"/>
          </a:xfrm>
          <a:custGeom>
            <a:avLst/>
            <a:gdLst>
              <a:gd name="connsiteX0" fmla="*/ 0 w 1905000"/>
              <a:gd name="connsiteY0" fmla="*/ 0 h 28575"/>
              <a:gd name="connsiteX1" fmla="*/ 1905000 w 1905000"/>
              <a:gd name="connsiteY1" fmla="*/ 0 h 28575"/>
              <a:gd name="connsiteX2" fmla="*/ 1905000 w 1905000"/>
              <a:gd name="connsiteY2" fmla="*/ 28575 h 28575"/>
              <a:gd name="connsiteX3" fmla="*/ 0 w 1905000"/>
              <a:gd name="connsiteY3" fmla="*/ 28575 h 28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5000" h="28575">
                <a:moveTo>
                  <a:pt x="0" y="0"/>
                </a:moveTo>
                <a:lnTo>
                  <a:pt x="1905000" y="0"/>
                </a:lnTo>
                <a:lnTo>
                  <a:pt x="1905000" y="28575"/>
                </a:lnTo>
                <a:lnTo>
                  <a:pt x="0" y="28575"/>
                </a:lnTo>
                <a:close/>
              </a:path>
            </a:pathLst>
          </a:custGeom>
          <a:solidFill>
            <a:srgbClr val="DC262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718685" y="1021080"/>
            <a:ext cx="2754630" cy="367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50" spc="0" baseline="0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rPr>
              <a:t>认清现实：AI 编程的局限性</a:t>
            </a:r>
            <a:endParaRPr lang="zh-CN" altLang="en-US" sz="1650" spc="0" baseline="0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  <a:rtl val="0"/>
            </a:endParaRPr>
          </a:p>
        </p:txBody>
      </p:sp>
      <p:grpSp>
        <p:nvGrpSpPr>
          <p:cNvPr id="9" name="SVG Image 4"/>
          <p:cNvGrpSpPr/>
          <p:nvPr/>
        </p:nvGrpSpPr>
        <p:grpSpPr>
          <a:xfrm>
            <a:off x="762000" y="2190750"/>
            <a:ext cx="5143500" cy="3810000"/>
            <a:chOff x="762000" y="2190750"/>
            <a:chExt cx="5143500" cy="3810000"/>
          </a:xfrm>
        </p:grpSpPr>
        <p:sp>
          <p:nvSpPr>
            <p:cNvPr id="10" name="任意多边形: 形状 9"/>
            <p:cNvSpPr/>
            <p:nvPr/>
          </p:nvSpPr>
          <p:spPr>
            <a:xfrm>
              <a:off x="762000" y="3619500"/>
              <a:ext cx="5143500" cy="19050"/>
            </a:xfrm>
            <a:custGeom>
              <a:avLst/>
              <a:gdLst>
                <a:gd name="connsiteX0" fmla="*/ 80 w 5143500"/>
                <a:gd name="connsiteY0" fmla="*/ 180 h 19050"/>
                <a:gd name="connsiteX1" fmla="*/ 5143580 w 5143500"/>
                <a:gd name="connsiteY1" fmla="*/ 180 h 19050"/>
                <a:gd name="connsiteX2" fmla="*/ 5143580 w 5143500"/>
                <a:gd name="connsiteY2" fmla="*/ 19230 h 19050"/>
                <a:gd name="connsiteX3" fmla="*/ 80 w 5143500"/>
                <a:gd name="connsiteY3" fmla="*/ 1923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43500" h="19050">
                  <a:moveTo>
                    <a:pt x="80" y="180"/>
                  </a:moveTo>
                  <a:lnTo>
                    <a:pt x="5143580" y="180"/>
                  </a:lnTo>
                  <a:lnTo>
                    <a:pt x="5143580" y="19230"/>
                  </a:lnTo>
                  <a:lnTo>
                    <a:pt x="80" y="19230"/>
                  </a:lnTo>
                  <a:close/>
                </a:path>
              </a:pathLst>
            </a:custGeom>
            <a:solidFill>
              <a:srgbClr val="3B82F6">
                <a:alpha val="5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5223510" y="3335655"/>
              <a:ext cx="582930" cy="2724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50" spc="0" baseline="0">
                  <a:solidFill>
                    <a:srgbClr val="3B82F6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水面线</a:t>
              </a:r>
              <a:endParaRPr lang="zh-CN" altLang="en-US" sz="1050" spc="0" baseline="0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  <p:sp>
          <p:nvSpPr>
            <p:cNvPr id="12" name="任意多边形: 形状 11"/>
            <p:cNvSpPr/>
            <p:nvPr/>
          </p:nvSpPr>
          <p:spPr>
            <a:xfrm>
              <a:off x="1714500" y="2190750"/>
              <a:ext cx="3238500" cy="1428750"/>
            </a:xfrm>
            <a:custGeom>
              <a:avLst/>
              <a:gdLst>
                <a:gd name="connsiteX0" fmla="*/ 80 w 3238500"/>
                <a:gd name="connsiteY0" fmla="*/ 1428930 h 1428750"/>
                <a:gd name="connsiteX1" fmla="*/ 80 w 3238500"/>
                <a:gd name="connsiteY1" fmla="*/ 285930 h 1428750"/>
                <a:gd name="connsiteX2" fmla="*/ 3238580 w 3238500"/>
                <a:gd name="connsiteY2" fmla="*/ 285930 h 1428750"/>
                <a:gd name="connsiteX3" fmla="*/ 3238580 w 3238500"/>
                <a:gd name="connsiteY3" fmla="*/ 1428930 h 142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8500" h="1428750">
                  <a:moveTo>
                    <a:pt x="80" y="1428930"/>
                  </a:moveTo>
                  <a:lnTo>
                    <a:pt x="80" y="285930"/>
                  </a:lnTo>
                  <a:cubicBezTo>
                    <a:pt x="1079580" y="-95070"/>
                    <a:pt x="2159080" y="-95070"/>
                    <a:pt x="3238580" y="285930"/>
                  </a:cubicBezTo>
                  <a:lnTo>
                    <a:pt x="3238580" y="1428930"/>
                  </a:lnTo>
                  <a:close/>
                </a:path>
              </a:pathLst>
            </a:custGeom>
            <a:solidFill>
              <a:srgbClr val="86EFAC"/>
            </a:solidFill>
            <a:ln w="19050" cap="flat">
              <a:solidFill>
                <a:srgbClr val="22C55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2642235" y="2726055"/>
              <a:ext cx="1383030" cy="3200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350" b="1" spc="0" baseline="0">
                  <a:solidFill>
                    <a:srgbClr val="166534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快速生成的代码</a:t>
              </a:r>
              <a:endParaRPr lang="zh-CN" altLang="en-US" sz="1350" b="1" spc="0" baseline="0">
                <a:solidFill>
                  <a:srgbClr val="16653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842260" y="3002280"/>
              <a:ext cx="982980" cy="2724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50" spc="0" baseline="0">
                  <a:solidFill>
                    <a:srgbClr val="166534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开发效率提升</a:t>
              </a:r>
              <a:endParaRPr lang="zh-CN" altLang="en-US" sz="1050" spc="0" baseline="0">
                <a:solidFill>
                  <a:srgbClr val="16653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  <p:sp>
          <p:nvSpPr>
            <p:cNvPr id="15" name="任意多边形: 形状 14"/>
            <p:cNvSpPr/>
            <p:nvPr/>
          </p:nvSpPr>
          <p:spPr>
            <a:xfrm>
              <a:off x="1238250" y="3619500"/>
              <a:ext cx="4191000" cy="2381250"/>
            </a:xfrm>
            <a:custGeom>
              <a:avLst/>
              <a:gdLst>
                <a:gd name="connsiteX0" fmla="*/ 476330 w 4191000"/>
                <a:gd name="connsiteY0" fmla="*/ 180 h 2381250"/>
                <a:gd name="connsiteX1" fmla="*/ 80 w 4191000"/>
                <a:gd name="connsiteY1" fmla="*/ 2381430 h 2381250"/>
                <a:gd name="connsiteX2" fmla="*/ 4191080 w 4191000"/>
                <a:gd name="connsiteY2" fmla="*/ 2381430 h 2381250"/>
                <a:gd name="connsiteX3" fmla="*/ 3714830 w 4191000"/>
                <a:gd name="connsiteY3" fmla="*/ 180 h 2381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91000" h="2381250">
                  <a:moveTo>
                    <a:pt x="476330" y="180"/>
                  </a:moveTo>
                  <a:lnTo>
                    <a:pt x="80" y="2381430"/>
                  </a:lnTo>
                  <a:lnTo>
                    <a:pt x="4191080" y="2381430"/>
                  </a:lnTo>
                  <a:lnTo>
                    <a:pt x="3714830" y="180"/>
                  </a:lnTo>
                  <a:close/>
                </a:path>
              </a:pathLst>
            </a:custGeom>
            <a:solidFill>
              <a:srgbClr val="FECACA"/>
            </a:solidFill>
            <a:ln w="19050" cap="flat">
              <a:solidFill>
                <a:srgbClr val="DC262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2470785" y="4154805"/>
              <a:ext cx="1725930" cy="3200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350" b="1" spc="0" baseline="0">
                  <a:solidFill>
                    <a:srgbClr val="991B1B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维护成本与技术债务</a:t>
              </a:r>
              <a:endParaRPr lang="zh-CN" altLang="en-US" sz="1350" b="1" spc="0" baseline="0">
                <a:solidFill>
                  <a:srgbClr val="991B1B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</p:grpSp>
      <p:grpSp>
        <p:nvGrpSpPr>
          <p:cNvPr id="17" name="SVG Image 4"/>
          <p:cNvGrpSpPr/>
          <p:nvPr/>
        </p:nvGrpSpPr>
        <p:grpSpPr>
          <a:xfrm>
            <a:off x="6286500" y="1714500"/>
            <a:ext cx="5143500" cy="3667125"/>
            <a:chOff x="6286500" y="1714500"/>
            <a:chExt cx="5143500" cy="3667125"/>
          </a:xfrm>
        </p:grpSpPr>
        <p:grpSp>
          <p:nvGrpSpPr>
            <p:cNvPr id="18" name="SVG Image 4"/>
            <p:cNvGrpSpPr/>
            <p:nvPr/>
          </p:nvGrpSpPr>
          <p:grpSpPr>
            <a:xfrm>
              <a:off x="6286500" y="1714500"/>
              <a:ext cx="5143500" cy="809625"/>
              <a:chOff x="6286500" y="1714500"/>
              <a:chExt cx="5143500" cy="809625"/>
            </a:xfrm>
          </p:grpSpPr>
          <p:sp>
            <p:nvSpPr>
              <p:cNvPr id="19" name="任意多边形: 形状 18"/>
              <p:cNvSpPr/>
              <p:nvPr/>
            </p:nvSpPr>
            <p:spPr>
              <a:xfrm>
                <a:off x="6286500" y="1714500"/>
                <a:ext cx="5143500" cy="809625"/>
              </a:xfrm>
              <a:custGeom>
                <a:avLst/>
                <a:gdLst>
                  <a:gd name="connsiteX0" fmla="*/ 76860 w 5143500"/>
                  <a:gd name="connsiteY0" fmla="*/ 180 h 809625"/>
                  <a:gd name="connsiteX1" fmla="*/ 5067960 w 5143500"/>
                  <a:gd name="connsiteY1" fmla="*/ 180 h 809625"/>
                  <a:gd name="connsiteX2" fmla="*/ 5144160 w 5143500"/>
                  <a:gd name="connsiteY2" fmla="*/ 76380 h 809625"/>
                  <a:gd name="connsiteX3" fmla="*/ 5144160 w 5143500"/>
                  <a:gd name="connsiteY3" fmla="*/ 733605 h 809625"/>
                  <a:gd name="connsiteX4" fmla="*/ 5067960 w 5143500"/>
                  <a:gd name="connsiteY4" fmla="*/ 809805 h 809625"/>
                  <a:gd name="connsiteX5" fmla="*/ 76860 w 5143500"/>
                  <a:gd name="connsiteY5" fmla="*/ 809805 h 809625"/>
                  <a:gd name="connsiteX6" fmla="*/ 660 w 5143500"/>
                  <a:gd name="connsiteY6" fmla="*/ 733605 h 809625"/>
                  <a:gd name="connsiteX7" fmla="*/ 660 w 5143500"/>
                  <a:gd name="connsiteY7" fmla="*/ 76380 h 809625"/>
                  <a:gd name="connsiteX8" fmla="*/ 76860 w 5143500"/>
                  <a:gd name="connsiteY8" fmla="*/ 180 h 809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143500" h="809625">
                    <a:moveTo>
                      <a:pt x="76860" y="180"/>
                    </a:moveTo>
                    <a:lnTo>
                      <a:pt x="5067960" y="180"/>
                    </a:lnTo>
                    <a:cubicBezTo>
                      <a:pt x="5110044" y="180"/>
                      <a:pt x="5144160" y="34296"/>
                      <a:pt x="5144160" y="76380"/>
                    </a:cubicBezTo>
                    <a:lnTo>
                      <a:pt x="5144160" y="733605"/>
                    </a:lnTo>
                    <a:cubicBezTo>
                      <a:pt x="5144160" y="775689"/>
                      <a:pt x="5110044" y="809805"/>
                      <a:pt x="5067960" y="809805"/>
                    </a:cubicBezTo>
                    <a:lnTo>
                      <a:pt x="76860" y="809805"/>
                    </a:lnTo>
                    <a:cubicBezTo>
                      <a:pt x="34776" y="809805"/>
                      <a:pt x="660" y="775689"/>
                      <a:pt x="660" y="733605"/>
                    </a:cubicBezTo>
                    <a:lnTo>
                      <a:pt x="660" y="76380"/>
                    </a:lnTo>
                    <a:cubicBezTo>
                      <a:pt x="660" y="34296"/>
                      <a:pt x="34776" y="180"/>
                      <a:pt x="76860" y="18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flat">
                <a:solidFill>
                  <a:srgbClr val="FECACA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" name="任意多边形: 形状 19"/>
              <p:cNvSpPr/>
              <p:nvPr/>
            </p:nvSpPr>
            <p:spPr>
              <a:xfrm>
                <a:off x="6486525" y="1885950"/>
                <a:ext cx="457200" cy="457200"/>
              </a:xfrm>
              <a:custGeom>
                <a:avLst/>
                <a:gdLst>
                  <a:gd name="connsiteX0" fmla="*/ 457860 w 457200"/>
                  <a:gd name="connsiteY0" fmla="*/ 228780 h 457200"/>
                  <a:gd name="connsiteX1" fmla="*/ 229260 w 457200"/>
                  <a:gd name="connsiteY1" fmla="*/ 457380 h 457200"/>
                  <a:gd name="connsiteX2" fmla="*/ 660 w 457200"/>
                  <a:gd name="connsiteY2" fmla="*/ 228780 h 457200"/>
                  <a:gd name="connsiteX3" fmla="*/ 229260 w 457200"/>
                  <a:gd name="connsiteY3" fmla="*/ 180 h 457200"/>
                  <a:gd name="connsiteX4" fmla="*/ 457860 w 457200"/>
                  <a:gd name="connsiteY4" fmla="*/ 228780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7200" h="457200">
                    <a:moveTo>
                      <a:pt x="457860" y="228780"/>
                    </a:moveTo>
                    <a:cubicBezTo>
                      <a:pt x="457860" y="355032"/>
                      <a:pt x="355512" y="457380"/>
                      <a:pt x="229260" y="457380"/>
                    </a:cubicBezTo>
                    <a:cubicBezTo>
                      <a:pt x="103008" y="457380"/>
                      <a:pt x="660" y="355032"/>
                      <a:pt x="660" y="228780"/>
                    </a:cubicBezTo>
                    <a:cubicBezTo>
                      <a:pt x="660" y="102528"/>
                      <a:pt x="103008" y="180"/>
                      <a:pt x="229260" y="180"/>
                    </a:cubicBezTo>
                    <a:cubicBezTo>
                      <a:pt x="355512" y="180"/>
                      <a:pt x="457860" y="102528"/>
                      <a:pt x="457860" y="228780"/>
                    </a:cubicBezTo>
                    <a:close/>
                  </a:path>
                </a:pathLst>
              </a:custGeom>
              <a:solidFill>
                <a:srgbClr val="FEE2E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6466522" y="1897380"/>
                <a:ext cx="497205" cy="3962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800" spc="0" baseline="0">
                    <a:solidFill>
                      <a:srgbClr val="000000"/>
                    </a:solidFill>
                    <a:latin typeface="Segoe UI Emoji" panose="020B0502040204020203"/>
                    <a:sym typeface="Segoe UI Emoji" panose="020B0502040204020203"/>
                    <a:rtl val="0"/>
                  </a:rPr>
                  <a:t>📝</a:t>
                </a:r>
                <a:endParaRPr lang="zh-CN" altLang="en-US" sz="1800" spc="0" baseline="0">
                  <a:solidFill>
                    <a:srgbClr val="000000"/>
                  </a:solidFill>
                  <a:latin typeface="Segoe UI Emoji" panose="020B0502040204020203"/>
                  <a:sym typeface="Segoe UI Emoji" panose="020B0502040204020203"/>
                  <a:rtl val="0"/>
                </a:endParaRPr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7004685" y="1821180"/>
                <a:ext cx="1040130" cy="3200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350" b="1" spc="0" baseline="0">
                    <a:solidFill>
                      <a:srgbClr val="1E3A5F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上下文遗忘</a:t>
                </a:r>
                <a:endParaRPr lang="zh-CN" altLang="en-US" sz="1350" b="1" spc="0" baseline="0">
                  <a:solidFill>
                    <a:srgbClr val="1E3A5F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7004685" y="2097405"/>
                <a:ext cx="1916430" cy="2724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50" spc="0" baseline="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对话过长导致前后代码不一致</a:t>
                </a:r>
                <a:endParaRPr lang="zh-CN" altLang="en-US" sz="1050" spc="0" baseline="0">
                  <a:solidFill>
                    <a:srgbClr val="64748B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</p:grpSp>
        <p:grpSp>
          <p:nvGrpSpPr>
            <p:cNvPr id="24" name="SVG Image 4"/>
            <p:cNvGrpSpPr/>
            <p:nvPr/>
          </p:nvGrpSpPr>
          <p:grpSpPr>
            <a:xfrm>
              <a:off x="6286500" y="2667000"/>
              <a:ext cx="5143500" cy="809625"/>
              <a:chOff x="6286500" y="2667000"/>
              <a:chExt cx="5143500" cy="809625"/>
            </a:xfrm>
          </p:grpSpPr>
          <p:sp>
            <p:nvSpPr>
              <p:cNvPr id="25" name="任意多边形: 形状 24"/>
              <p:cNvSpPr/>
              <p:nvPr/>
            </p:nvSpPr>
            <p:spPr>
              <a:xfrm>
                <a:off x="6286500" y="2667000"/>
                <a:ext cx="5143500" cy="809625"/>
              </a:xfrm>
              <a:custGeom>
                <a:avLst/>
                <a:gdLst>
                  <a:gd name="connsiteX0" fmla="*/ 76860 w 5143500"/>
                  <a:gd name="connsiteY0" fmla="*/ 280 h 809625"/>
                  <a:gd name="connsiteX1" fmla="*/ 5067960 w 5143500"/>
                  <a:gd name="connsiteY1" fmla="*/ 280 h 809625"/>
                  <a:gd name="connsiteX2" fmla="*/ 5144160 w 5143500"/>
                  <a:gd name="connsiteY2" fmla="*/ 76480 h 809625"/>
                  <a:gd name="connsiteX3" fmla="*/ 5144160 w 5143500"/>
                  <a:gd name="connsiteY3" fmla="*/ 733705 h 809625"/>
                  <a:gd name="connsiteX4" fmla="*/ 5067960 w 5143500"/>
                  <a:gd name="connsiteY4" fmla="*/ 809905 h 809625"/>
                  <a:gd name="connsiteX5" fmla="*/ 76860 w 5143500"/>
                  <a:gd name="connsiteY5" fmla="*/ 809905 h 809625"/>
                  <a:gd name="connsiteX6" fmla="*/ 660 w 5143500"/>
                  <a:gd name="connsiteY6" fmla="*/ 733705 h 809625"/>
                  <a:gd name="connsiteX7" fmla="*/ 660 w 5143500"/>
                  <a:gd name="connsiteY7" fmla="*/ 76480 h 809625"/>
                  <a:gd name="connsiteX8" fmla="*/ 76860 w 5143500"/>
                  <a:gd name="connsiteY8" fmla="*/ 280 h 809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143500" h="809625">
                    <a:moveTo>
                      <a:pt x="76860" y="280"/>
                    </a:moveTo>
                    <a:lnTo>
                      <a:pt x="5067960" y="280"/>
                    </a:lnTo>
                    <a:cubicBezTo>
                      <a:pt x="5110044" y="280"/>
                      <a:pt x="5144160" y="34396"/>
                      <a:pt x="5144160" y="76480"/>
                    </a:cubicBezTo>
                    <a:lnTo>
                      <a:pt x="5144160" y="733705"/>
                    </a:lnTo>
                    <a:cubicBezTo>
                      <a:pt x="5144160" y="775789"/>
                      <a:pt x="5110044" y="809905"/>
                      <a:pt x="5067960" y="809905"/>
                    </a:cubicBezTo>
                    <a:lnTo>
                      <a:pt x="76860" y="809905"/>
                    </a:lnTo>
                    <a:cubicBezTo>
                      <a:pt x="34776" y="809905"/>
                      <a:pt x="660" y="775789"/>
                      <a:pt x="660" y="733705"/>
                    </a:cubicBezTo>
                    <a:lnTo>
                      <a:pt x="660" y="76480"/>
                    </a:lnTo>
                    <a:cubicBezTo>
                      <a:pt x="660" y="34396"/>
                      <a:pt x="34776" y="280"/>
                      <a:pt x="76860" y="28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flat">
                <a:solidFill>
                  <a:srgbClr val="FECACA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" name="任意多边形: 形状 25"/>
              <p:cNvSpPr/>
              <p:nvPr/>
            </p:nvSpPr>
            <p:spPr>
              <a:xfrm>
                <a:off x="6486525" y="2838450"/>
                <a:ext cx="457200" cy="457200"/>
              </a:xfrm>
              <a:custGeom>
                <a:avLst/>
                <a:gdLst>
                  <a:gd name="connsiteX0" fmla="*/ 457860 w 457200"/>
                  <a:gd name="connsiteY0" fmla="*/ 228880 h 457200"/>
                  <a:gd name="connsiteX1" fmla="*/ 229260 w 457200"/>
                  <a:gd name="connsiteY1" fmla="*/ 457480 h 457200"/>
                  <a:gd name="connsiteX2" fmla="*/ 660 w 457200"/>
                  <a:gd name="connsiteY2" fmla="*/ 228880 h 457200"/>
                  <a:gd name="connsiteX3" fmla="*/ 229260 w 457200"/>
                  <a:gd name="connsiteY3" fmla="*/ 280 h 457200"/>
                  <a:gd name="connsiteX4" fmla="*/ 457860 w 457200"/>
                  <a:gd name="connsiteY4" fmla="*/ 228880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7200" h="457200">
                    <a:moveTo>
                      <a:pt x="457860" y="228880"/>
                    </a:moveTo>
                    <a:cubicBezTo>
                      <a:pt x="457860" y="355132"/>
                      <a:pt x="355512" y="457480"/>
                      <a:pt x="229260" y="457480"/>
                    </a:cubicBezTo>
                    <a:cubicBezTo>
                      <a:pt x="103008" y="457480"/>
                      <a:pt x="660" y="355132"/>
                      <a:pt x="660" y="228880"/>
                    </a:cubicBezTo>
                    <a:cubicBezTo>
                      <a:pt x="660" y="102628"/>
                      <a:pt x="103008" y="280"/>
                      <a:pt x="229260" y="280"/>
                    </a:cubicBezTo>
                    <a:cubicBezTo>
                      <a:pt x="355512" y="280"/>
                      <a:pt x="457860" y="102628"/>
                      <a:pt x="457860" y="228880"/>
                    </a:cubicBezTo>
                    <a:close/>
                  </a:path>
                </a:pathLst>
              </a:custGeom>
              <a:solidFill>
                <a:srgbClr val="FEE2E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6466522" y="2849880"/>
                <a:ext cx="497205" cy="3962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800" spc="0" baseline="0">
                    <a:solidFill>
                      <a:srgbClr val="000000"/>
                    </a:solidFill>
                    <a:latin typeface="Segoe UI Emoji" panose="020B0502040204020203"/>
                    <a:sym typeface="Segoe UI Emoji" panose="020B0502040204020203"/>
                    <a:rtl val="0"/>
                  </a:rPr>
                  <a:t>🌀</a:t>
                </a:r>
                <a:endParaRPr lang="zh-CN" altLang="en-US" sz="1800" spc="0" baseline="0">
                  <a:solidFill>
                    <a:srgbClr val="000000"/>
                  </a:solidFill>
                  <a:latin typeface="Segoe UI Emoji" panose="020B0502040204020203"/>
                  <a:sym typeface="Segoe UI Emoji" panose="020B0502040204020203"/>
                  <a:rtl val="0"/>
                </a:endParaRPr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7004685" y="2773680"/>
                <a:ext cx="868680" cy="3200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350" b="1" spc="0" baseline="0">
                    <a:solidFill>
                      <a:srgbClr val="1E3A5F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逻辑幻觉</a:t>
                </a:r>
                <a:endParaRPr lang="zh-CN" altLang="en-US" sz="1350" b="1" spc="0" baseline="0">
                  <a:solidFill>
                    <a:srgbClr val="1E3A5F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7004685" y="3049905"/>
                <a:ext cx="2049780" cy="2724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50" spc="0" baseline="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编造不存在的函数，导致死循环</a:t>
                </a:r>
                <a:endParaRPr lang="zh-CN" altLang="en-US" sz="1050" spc="0" baseline="0">
                  <a:solidFill>
                    <a:srgbClr val="64748B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</p:grpSp>
        <p:grpSp>
          <p:nvGrpSpPr>
            <p:cNvPr id="30" name="SVG Image 4"/>
            <p:cNvGrpSpPr/>
            <p:nvPr/>
          </p:nvGrpSpPr>
          <p:grpSpPr>
            <a:xfrm>
              <a:off x="6286500" y="3619500"/>
              <a:ext cx="5143500" cy="809625"/>
              <a:chOff x="6286500" y="3619500"/>
              <a:chExt cx="5143500" cy="809625"/>
            </a:xfrm>
          </p:grpSpPr>
          <p:sp>
            <p:nvSpPr>
              <p:cNvPr id="31" name="任意多边形: 形状 30"/>
              <p:cNvSpPr/>
              <p:nvPr/>
            </p:nvSpPr>
            <p:spPr>
              <a:xfrm>
                <a:off x="6286500" y="3619500"/>
                <a:ext cx="5143500" cy="809625"/>
              </a:xfrm>
              <a:custGeom>
                <a:avLst/>
                <a:gdLst>
                  <a:gd name="connsiteX0" fmla="*/ 76860 w 5143500"/>
                  <a:gd name="connsiteY0" fmla="*/ 380 h 809625"/>
                  <a:gd name="connsiteX1" fmla="*/ 5067960 w 5143500"/>
                  <a:gd name="connsiteY1" fmla="*/ 380 h 809625"/>
                  <a:gd name="connsiteX2" fmla="*/ 5144160 w 5143500"/>
                  <a:gd name="connsiteY2" fmla="*/ 76580 h 809625"/>
                  <a:gd name="connsiteX3" fmla="*/ 5144160 w 5143500"/>
                  <a:gd name="connsiteY3" fmla="*/ 733805 h 809625"/>
                  <a:gd name="connsiteX4" fmla="*/ 5067960 w 5143500"/>
                  <a:gd name="connsiteY4" fmla="*/ 810005 h 809625"/>
                  <a:gd name="connsiteX5" fmla="*/ 76860 w 5143500"/>
                  <a:gd name="connsiteY5" fmla="*/ 810005 h 809625"/>
                  <a:gd name="connsiteX6" fmla="*/ 660 w 5143500"/>
                  <a:gd name="connsiteY6" fmla="*/ 733805 h 809625"/>
                  <a:gd name="connsiteX7" fmla="*/ 660 w 5143500"/>
                  <a:gd name="connsiteY7" fmla="*/ 76580 h 809625"/>
                  <a:gd name="connsiteX8" fmla="*/ 76860 w 5143500"/>
                  <a:gd name="connsiteY8" fmla="*/ 380 h 809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143500" h="809625">
                    <a:moveTo>
                      <a:pt x="76860" y="380"/>
                    </a:moveTo>
                    <a:lnTo>
                      <a:pt x="5067960" y="380"/>
                    </a:lnTo>
                    <a:cubicBezTo>
                      <a:pt x="5110044" y="380"/>
                      <a:pt x="5144160" y="34496"/>
                      <a:pt x="5144160" y="76580"/>
                    </a:cubicBezTo>
                    <a:lnTo>
                      <a:pt x="5144160" y="733805"/>
                    </a:lnTo>
                    <a:cubicBezTo>
                      <a:pt x="5144160" y="775889"/>
                      <a:pt x="5110044" y="810005"/>
                      <a:pt x="5067960" y="810005"/>
                    </a:cubicBezTo>
                    <a:lnTo>
                      <a:pt x="76860" y="810005"/>
                    </a:lnTo>
                    <a:cubicBezTo>
                      <a:pt x="34776" y="810005"/>
                      <a:pt x="660" y="775889"/>
                      <a:pt x="660" y="733805"/>
                    </a:cubicBezTo>
                    <a:lnTo>
                      <a:pt x="660" y="76580"/>
                    </a:lnTo>
                    <a:cubicBezTo>
                      <a:pt x="660" y="34496"/>
                      <a:pt x="34776" y="380"/>
                      <a:pt x="76860" y="38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flat">
                <a:solidFill>
                  <a:srgbClr val="FECACA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2" name="任意多边形: 形状 31"/>
              <p:cNvSpPr/>
              <p:nvPr/>
            </p:nvSpPr>
            <p:spPr>
              <a:xfrm>
                <a:off x="6486525" y="3790950"/>
                <a:ext cx="457200" cy="457200"/>
              </a:xfrm>
              <a:custGeom>
                <a:avLst/>
                <a:gdLst>
                  <a:gd name="connsiteX0" fmla="*/ 457860 w 457200"/>
                  <a:gd name="connsiteY0" fmla="*/ 228980 h 457200"/>
                  <a:gd name="connsiteX1" fmla="*/ 229260 w 457200"/>
                  <a:gd name="connsiteY1" fmla="*/ 457580 h 457200"/>
                  <a:gd name="connsiteX2" fmla="*/ 660 w 457200"/>
                  <a:gd name="connsiteY2" fmla="*/ 228980 h 457200"/>
                  <a:gd name="connsiteX3" fmla="*/ 229260 w 457200"/>
                  <a:gd name="connsiteY3" fmla="*/ 380 h 457200"/>
                  <a:gd name="connsiteX4" fmla="*/ 457860 w 457200"/>
                  <a:gd name="connsiteY4" fmla="*/ 228980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7200" h="457200">
                    <a:moveTo>
                      <a:pt x="457860" y="228980"/>
                    </a:moveTo>
                    <a:cubicBezTo>
                      <a:pt x="457860" y="355232"/>
                      <a:pt x="355512" y="457580"/>
                      <a:pt x="229260" y="457580"/>
                    </a:cubicBezTo>
                    <a:cubicBezTo>
                      <a:pt x="103008" y="457580"/>
                      <a:pt x="660" y="355232"/>
                      <a:pt x="660" y="228980"/>
                    </a:cubicBezTo>
                    <a:cubicBezTo>
                      <a:pt x="660" y="102728"/>
                      <a:pt x="103008" y="380"/>
                      <a:pt x="229260" y="380"/>
                    </a:cubicBezTo>
                    <a:cubicBezTo>
                      <a:pt x="355512" y="380"/>
                      <a:pt x="457860" y="102728"/>
                      <a:pt x="457860" y="228980"/>
                    </a:cubicBezTo>
                    <a:close/>
                  </a:path>
                </a:pathLst>
              </a:custGeom>
              <a:solidFill>
                <a:srgbClr val="FEE2E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6466522" y="3802380"/>
                <a:ext cx="497205" cy="3962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800" spc="0" baseline="0">
                    <a:solidFill>
                      <a:srgbClr val="000000"/>
                    </a:solidFill>
                    <a:latin typeface="Segoe UI Emoji" panose="020B0502040204020203"/>
                    <a:sym typeface="Segoe UI Emoji" panose="020B0502040204020203"/>
                    <a:rtl val="0"/>
                  </a:rPr>
                  <a:t>🏗️</a:t>
                </a:r>
                <a:endParaRPr lang="zh-CN" altLang="en-US" sz="1800" spc="0" baseline="0">
                  <a:solidFill>
                    <a:srgbClr val="000000"/>
                  </a:solidFill>
                  <a:latin typeface="Segoe UI Emoji" panose="020B0502040204020203"/>
                  <a:sym typeface="Segoe UI Emoji" panose="020B0502040204020203"/>
                  <a:rtl val="0"/>
                </a:endParaRPr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7004685" y="3726180"/>
                <a:ext cx="1040130" cy="3200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350" b="1" spc="0" baseline="0">
                    <a:solidFill>
                      <a:srgbClr val="1E3A5F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缺乏架构观</a:t>
                </a:r>
                <a:endParaRPr lang="zh-CN" altLang="en-US" sz="1350" b="1" spc="0" baseline="0">
                  <a:solidFill>
                    <a:srgbClr val="1E3A5F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7004685" y="4002405"/>
                <a:ext cx="2164080" cy="2724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50" spc="0" baseline="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容易生成难以维护的"面条式代码"</a:t>
                </a:r>
                <a:endParaRPr lang="zh-CN" altLang="en-US" sz="1050" spc="0" baseline="0">
                  <a:solidFill>
                    <a:srgbClr val="64748B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</p:grpSp>
        <p:grpSp>
          <p:nvGrpSpPr>
            <p:cNvPr id="36" name="SVG Image 4"/>
            <p:cNvGrpSpPr/>
            <p:nvPr/>
          </p:nvGrpSpPr>
          <p:grpSpPr>
            <a:xfrm>
              <a:off x="6286500" y="4572000"/>
              <a:ext cx="5143500" cy="809625"/>
              <a:chOff x="6286500" y="4572000"/>
              <a:chExt cx="5143500" cy="809625"/>
            </a:xfrm>
          </p:grpSpPr>
          <p:sp>
            <p:nvSpPr>
              <p:cNvPr id="37" name="任意多边形: 形状 36"/>
              <p:cNvSpPr/>
              <p:nvPr/>
            </p:nvSpPr>
            <p:spPr>
              <a:xfrm>
                <a:off x="6286500" y="4572000"/>
                <a:ext cx="5143500" cy="809625"/>
              </a:xfrm>
              <a:custGeom>
                <a:avLst/>
                <a:gdLst>
                  <a:gd name="connsiteX0" fmla="*/ 76860 w 5143500"/>
                  <a:gd name="connsiteY0" fmla="*/ 480 h 809625"/>
                  <a:gd name="connsiteX1" fmla="*/ 5067960 w 5143500"/>
                  <a:gd name="connsiteY1" fmla="*/ 480 h 809625"/>
                  <a:gd name="connsiteX2" fmla="*/ 5144160 w 5143500"/>
                  <a:gd name="connsiteY2" fmla="*/ 76680 h 809625"/>
                  <a:gd name="connsiteX3" fmla="*/ 5144160 w 5143500"/>
                  <a:gd name="connsiteY3" fmla="*/ 733905 h 809625"/>
                  <a:gd name="connsiteX4" fmla="*/ 5067960 w 5143500"/>
                  <a:gd name="connsiteY4" fmla="*/ 810105 h 809625"/>
                  <a:gd name="connsiteX5" fmla="*/ 76860 w 5143500"/>
                  <a:gd name="connsiteY5" fmla="*/ 810105 h 809625"/>
                  <a:gd name="connsiteX6" fmla="*/ 660 w 5143500"/>
                  <a:gd name="connsiteY6" fmla="*/ 733905 h 809625"/>
                  <a:gd name="connsiteX7" fmla="*/ 660 w 5143500"/>
                  <a:gd name="connsiteY7" fmla="*/ 76680 h 809625"/>
                  <a:gd name="connsiteX8" fmla="*/ 76860 w 5143500"/>
                  <a:gd name="connsiteY8" fmla="*/ 480 h 809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143500" h="809625">
                    <a:moveTo>
                      <a:pt x="76860" y="480"/>
                    </a:moveTo>
                    <a:lnTo>
                      <a:pt x="5067960" y="480"/>
                    </a:lnTo>
                    <a:cubicBezTo>
                      <a:pt x="5110044" y="480"/>
                      <a:pt x="5144160" y="34596"/>
                      <a:pt x="5144160" y="76680"/>
                    </a:cubicBezTo>
                    <a:lnTo>
                      <a:pt x="5144160" y="733905"/>
                    </a:lnTo>
                    <a:cubicBezTo>
                      <a:pt x="5144160" y="775989"/>
                      <a:pt x="5110044" y="810105"/>
                      <a:pt x="5067960" y="810105"/>
                    </a:cubicBezTo>
                    <a:lnTo>
                      <a:pt x="76860" y="810105"/>
                    </a:lnTo>
                    <a:cubicBezTo>
                      <a:pt x="34776" y="810105"/>
                      <a:pt x="660" y="775989"/>
                      <a:pt x="660" y="733905"/>
                    </a:cubicBezTo>
                    <a:lnTo>
                      <a:pt x="660" y="76680"/>
                    </a:lnTo>
                    <a:cubicBezTo>
                      <a:pt x="660" y="34596"/>
                      <a:pt x="34776" y="480"/>
                      <a:pt x="76860" y="48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flat">
                <a:solidFill>
                  <a:srgbClr val="DC262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/>
              <p:cNvSpPr/>
              <p:nvPr/>
            </p:nvSpPr>
            <p:spPr>
              <a:xfrm>
                <a:off x="6486525" y="4743450"/>
                <a:ext cx="457200" cy="457200"/>
              </a:xfrm>
              <a:custGeom>
                <a:avLst/>
                <a:gdLst>
                  <a:gd name="connsiteX0" fmla="*/ 457860 w 457200"/>
                  <a:gd name="connsiteY0" fmla="*/ 229080 h 457200"/>
                  <a:gd name="connsiteX1" fmla="*/ 229260 w 457200"/>
                  <a:gd name="connsiteY1" fmla="*/ 457680 h 457200"/>
                  <a:gd name="connsiteX2" fmla="*/ 660 w 457200"/>
                  <a:gd name="connsiteY2" fmla="*/ 229080 h 457200"/>
                  <a:gd name="connsiteX3" fmla="*/ 229260 w 457200"/>
                  <a:gd name="connsiteY3" fmla="*/ 480 h 457200"/>
                  <a:gd name="connsiteX4" fmla="*/ 457860 w 457200"/>
                  <a:gd name="connsiteY4" fmla="*/ 229080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7200" h="457200">
                    <a:moveTo>
                      <a:pt x="457860" y="229080"/>
                    </a:moveTo>
                    <a:cubicBezTo>
                      <a:pt x="457860" y="355332"/>
                      <a:pt x="355512" y="457680"/>
                      <a:pt x="229260" y="457680"/>
                    </a:cubicBezTo>
                    <a:cubicBezTo>
                      <a:pt x="103008" y="457680"/>
                      <a:pt x="660" y="355332"/>
                      <a:pt x="660" y="229080"/>
                    </a:cubicBezTo>
                    <a:cubicBezTo>
                      <a:pt x="660" y="102828"/>
                      <a:pt x="103008" y="480"/>
                      <a:pt x="229260" y="480"/>
                    </a:cubicBezTo>
                    <a:cubicBezTo>
                      <a:pt x="355512" y="480"/>
                      <a:pt x="457860" y="102828"/>
                      <a:pt x="457860" y="229080"/>
                    </a:cubicBezTo>
                    <a:close/>
                  </a:path>
                </a:pathLst>
              </a:custGeom>
              <a:solidFill>
                <a:srgbClr val="FEE2E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文本框 38"/>
              <p:cNvSpPr txBox="1"/>
              <p:nvPr/>
            </p:nvSpPr>
            <p:spPr>
              <a:xfrm>
                <a:off x="6466522" y="4754880"/>
                <a:ext cx="497205" cy="3962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800" spc="0" baseline="0">
                    <a:solidFill>
                      <a:srgbClr val="000000"/>
                    </a:solidFill>
                    <a:latin typeface="Segoe UI Emoji" panose="020B0502040204020203"/>
                    <a:sym typeface="Segoe UI Emoji" panose="020B0502040204020203"/>
                    <a:rtl val="0"/>
                  </a:rPr>
                  <a:t>⚠️</a:t>
                </a:r>
                <a:endParaRPr lang="zh-CN" altLang="en-US" sz="1800" spc="0" baseline="0">
                  <a:solidFill>
                    <a:srgbClr val="000000"/>
                  </a:solidFill>
                  <a:latin typeface="Segoe UI Emoji" panose="020B0502040204020203"/>
                  <a:sym typeface="Segoe UI Emoji" panose="020B0502040204020203"/>
                  <a:rtl val="0"/>
                </a:endParaRPr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7004685" y="4678680"/>
                <a:ext cx="868680" cy="3200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350" b="1" spc="0" baseline="0">
                    <a:solidFill>
                      <a:srgbClr val="DC2626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安全隐患</a:t>
                </a:r>
                <a:endParaRPr lang="zh-CN" altLang="en-US" sz="1350" b="1" spc="0" baseline="0">
                  <a:solidFill>
                    <a:srgbClr val="DC2626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  <p:sp>
            <p:nvSpPr>
              <p:cNvPr id="41" name="文本框 40"/>
              <p:cNvSpPr txBox="1"/>
              <p:nvPr/>
            </p:nvSpPr>
            <p:spPr>
              <a:xfrm>
                <a:off x="7004685" y="4954905"/>
                <a:ext cx="2106930" cy="2724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50" spc="0" baseline="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可能硬编码密钥或忽略 SQL 注入</a:t>
                </a:r>
                <a:endParaRPr lang="zh-CN" altLang="en-US" sz="1050" spc="0" baseline="0">
                  <a:solidFill>
                    <a:srgbClr val="64748B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</p:grpSp>
      </p:grpSp>
      <p:grpSp>
        <p:nvGrpSpPr>
          <p:cNvPr id="42" name="SVG Image 4"/>
          <p:cNvGrpSpPr/>
          <p:nvPr/>
        </p:nvGrpSpPr>
        <p:grpSpPr>
          <a:xfrm>
            <a:off x="2286000" y="6143625"/>
            <a:ext cx="7620000" cy="476250"/>
            <a:chOff x="2286000" y="6143625"/>
            <a:chExt cx="7620000" cy="476250"/>
          </a:xfrm>
        </p:grpSpPr>
        <p:sp>
          <p:nvSpPr>
            <p:cNvPr id="43" name="任意多边形: 形状 42"/>
            <p:cNvSpPr/>
            <p:nvPr/>
          </p:nvSpPr>
          <p:spPr>
            <a:xfrm>
              <a:off x="2286000" y="6143625"/>
              <a:ext cx="7620000" cy="476250"/>
            </a:xfrm>
            <a:custGeom>
              <a:avLst/>
              <a:gdLst>
                <a:gd name="connsiteX0" fmla="*/ 76840 w 7620000"/>
                <a:gd name="connsiteY0" fmla="*/ 670 h 476250"/>
                <a:gd name="connsiteX1" fmla="*/ 7544440 w 7620000"/>
                <a:gd name="connsiteY1" fmla="*/ 670 h 476250"/>
                <a:gd name="connsiteX2" fmla="*/ 7620640 w 7620000"/>
                <a:gd name="connsiteY2" fmla="*/ 76870 h 476250"/>
                <a:gd name="connsiteX3" fmla="*/ 7620640 w 7620000"/>
                <a:gd name="connsiteY3" fmla="*/ 400720 h 476250"/>
                <a:gd name="connsiteX4" fmla="*/ 7544440 w 7620000"/>
                <a:gd name="connsiteY4" fmla="*/ 476920 h 476250"/>
                <a:gd name="connsiteX5" fmla="*/ 76840 w 7620000"/>
                <a:gd name="connsiteY5" fmla="*/ 476920 h 476250"/>
                <a:gd name="connsiteX6" fmla="*/ 640 w 7620000"/>
                <a:gd name="connsiteY6" fmla="*/ 400720 h 476250"/>
                <a:gd name="connsiteX7" fmla="*/ 640 w 7620000"/>
                <a:gd name="connsiteY7" fmla="*/ 76870 h 476250"/>
                <a:gd name="connsiteX8" fmla="*/ 76840 w 7620000"/>
                <a:gd name="connsiteY8" fmla="*/ 67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20000" h="476250">
                  <a:moveTo>
                    <a:pt x="76840" y="670"/>
                  </a:moveTo>
                  <a:lnTo>
                    <a:pt x="7544440" y="670"/>
                  </a:lnTo>
                  <a:cubicBezTo>
                    <a:pt x="7586524" y="670"/>
                    <a:pt x="7620640" y="34786"/>
                    <a:pt x="7620640" y="76870"/>
                  </a:cubicBezTo>
                  <a:lnTo>
                    <a:pt x="7620640" y="400720"/>
                  </a:lnTo>
                  <a:cubicBezTo>
                    <a:pt x="7620640" y="442804"/>
                    <a:pt x="7586524" y="476920"/>
                    <a:pt x="7544440" y="476920"/>
                  </a:cubicBezTo>
                  <a:lnTo>
                    <a:pt x="76840" y="476920"/>
                  </a:lnTo>
                  <a:cubicBezTo>
                    <a:pt x="34756" y="476920"/>
                    <a:pt x="640" y="442804"/>
                    <a:pt x="640" y="400720"/>
                  </a:cubicBezTo>
                  <a:lnTo>
                    <a:pt x="640" y="76870"/>
                  </a:lnTo>
                  <a:cubicBezTo>
                    <a:pt x="640" y="34786"/>
                    <a:pt x="34756" y="670"/>
                    <a:pt x="76840" y="670"/>
                  </a:cubicBezTo>
                  <a:close/>
                </a:path>
              </a:pathLst>
            </a:custGeom>
            <a:solidFill>
              <a:srgbClr val="FEF2F2"/>
            </a:solidFill>
            <a:ln w="19050" cap="flat">
              <a:solidFill>
                <a:srgbClr val="DC262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304347" y="6221730"/>
              <a:ext cx="3583305" cy="2914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solidFill>
                    <a:srgbClr val="DC2626"/>
                  </a:solidFill>
                  <a:latin typeface="Segoe UI Emoji" panose="020B0502040204020203"/>
                  <a:sym typeface="Segoe UI Emoji" panose="020B0502040204020203"/>
                  <a:rtl val="0"/>
                </a:rPr>
                <a:t>⚠️</a:t>
              </a:r>
              <a:r>
                <a:rPr lang="zh-CN" altLang="en-US" sz="1200" spc="0" baseline="0">
                  <a:solidFill>
                    <a:srgbClr val="DC2626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 重要：支付、安全等关键环节必须人工 Review</a:t>
              </a:r>
              <a:endParaRPr lang="zh-CN" altLang="en-US" sz="1200" spc="0" baseline="0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/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EF2F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" name="任意多边形: 形状 4"/>
          <p:cNvSpPr/>
          <p:nvPr/>
        </p:nvSpPr>
        <p:spPr>
          <a:xfrm>
            <a:off x="609600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0FDF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" name="任意多边形: 形状 5"/>
          <p:cNvSpPr/>
          <p:nvPr/>
        </p:nvSpPr>
        <p:spPr>
          <a:xfrm>
            <a:off x="0" y="0"/>
            <a:ext cx="12192000" cy="76200"/>
          </a:xfrm>
          <a:custGeom>
            <a:avLst/>
            <a:gdLst>
              <a:gd name="connsiteX0" fmla="*/ 0 w 12192000"/>
              <a:gd name="connsiteY0" fmla="*/ 0 h 76200"/>
              <a:gd name="connsiteX1" fmla="*/ 12192000 w 12192000"/>
              <a:gd name="connsiteY1" fmla="*/ 0 h 76200"/>
              <a:gd name="connsiteX2" fmla="*/ 12192000 w 12192000"/>
              <a:gd name="connsiteY2" fmla="*/ 76200 h 76200"/>
              <a:gd name="connsiteX3" fmla="*/ 0 w 12192000"/>
              <a:gd name="connsiteY3" fmla="*/ 76200 h 7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76200">
                <a:moveTo>
                  <a:pt x="0" y="0"/>
                </a:moveTo>
                <a:lnTo>
                  <a:pt x="12192000" y="0"/>
                </a:lnTo>
                <a:lnTo>
                  <a:pt x="1219200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1E3A5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661410" y="201930"/>
            <a:ext cx="4869180" cy="615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150" b="1" spc="0" baseline="0">
                <a:solidFill>
                  <a:srgbClr val="1E3A5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rPr>
              <a:t>如何让 AI 听懂你的需求？</a:t>
            </a:r>
            <a:endParaRPr lang="zh-CN" altLang="en-US" sz="3150" b="1" spc="0" baseline="0">
              <a:solidFill>
                <a:srgbClr val="1E3A5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  <a:rtl val="0"/>
            </a:endParaRPr>
          </a:p>
        </p:txBody>
      </p:sp>
      <p:sp>
        <p:nvSpPr>
          <p:cNvPr id="8" name="任意多边形: 形状 7"/>
          <p:cNvSpPr/>
          <p:nvPr/>
        </p:nvSpPr>
        <p:spPr>
          <a:xfrm>
            <a:off x="5143500" y="904875"/>
            <a:ext cx="1905000" cy="28575"/>
          </a:xfrm>
          <a:custGeom>
            <a:avLst/>
            <a:gdLst>
              <a:gd name="connsiteX0" fmla="*/ 0 w 1905000"/>
              <a:gd name="connsiteY0" fmla="*/ 0 h 28575"/>
              <a:gd name="connsiteX1" fmla="*/ 1905000 w 1905000"/>
              <a:gd name="connsiteY1" fmla="*/ 0 h 28575"/>
              <a:gd name="connsiteX2" fmla="*/ 1905000 w 1905000"/>
              <a:gd name="connsiteY2" fmla="*/ 28575 h 28575"/>
              <a:gd name="connsiteX3" fmla="*/ 0 w 1905000"/>
              <a:gd name="connsiteY3" fmla="*/ 28575 h 28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5000" h="28575">
                <a:moveTo>
                  <a:pt x="0" y="0"/>
                </a:moveTo>
                <a:lnTo>
                  <a:pt x="1905000" y="0"/>
                </a:lnTo>
                <a:lnTo>
                  <a:pt x="1905000" y="28575"/>
                </a:lnTo>
                <a:lnTo>
                  <a:pt x="0" y="28575"/>
                </a:lnTo>
                <a:close/>
              </a:path>
            </a:pathLst>
          </a:custGeom>
          <a:solidFill>
            <a:srgbClr val="22D3E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894897" y="1021080"/>
            <a:ext cx="2402205" cy="367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50" spc="0" baseline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rPr>
              <a:t>关键实践 I：提示词工程</a:t>
            </a:r>
            <a:endParaRPr lang="zh-CN" altLang="en-US" sz="1650" spc="0" baseline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  <a:rtl val="0"/>
            </a:endParaRPr>
          </a:p>
        </p:txBody>
      </p:sp>
      <p:grpSp>
        <p:nvGrpSpPr>
          <p:cNvPr id="10" name="SVG Image 5"/>
          <p:cNvGrpSpPr/>
          <p:nvPr/>
        </p:nvGrpSpPr>
        <p:grpSpPr>
          <a:xfrm>
            <a:off x="762000" y="1714500"/>
            <a:ext cx="4953000" cy="4286250"/>
            <a:chOff x="762000" y="1714500"/>
            <a:chExt cx="4953000" cy="4286250"/>
          </a:xfrm>
        </p:grpSpPr>
        <p:sp>
          <p:nvSpPr>
            <p:cNvPr id="11" name="任意多边形: 形状 10"/>
            <p:cNvSpPr/>
            <p:nvPr/>
          </p:nvSpPr>
          <p:spPr>
            <a:xfrm>
              <a:off x="762000" y="1714500"/>
              <a:ext cx="952500" cy="342900"/>
            </a:xfrm>
            <a:custGeom>
              <a:avLst/>
              <a:gdLst>
                <a:gd name="connsiteX0" fmla="*/ 57230 w 952500"/>
                <a:gd name="connsiteY0" fmla="*/ 180 h 342900"/>
                <a:gd name="connsiteX1" fmla="*/ 895430 w 952500"/>
                <a:gd name="connsiteY1" fmla="*/ 180 h 342900"/>
                <a:gd name="connsiteX2" fmla="*/ 952580 w 952500"/>
                <a:gd name="connsiteY2" fmla="*/ 57330 h 342900"/>
                <a:gd name="connsiteX3" fmla="*/ 952580 w 952500"/>
                <a:gd name="connsiteY3" fmla="*/ 285930 h 342900"/>
                <a:gd name="connsiteX4" fmla="*/ 895430 w 952500"/>
                <a:gd name="connsiteY4" fmla="*/ 343080 h 342900"/>
                <a:gd name="connsiteX5" fmla="*/ 57230 w 952500"/>
                <a:gd name="connsiteY5" fmla="*/ 343080 h 342900"/>
                <a:gd name="connsiteX6" fmla="*/ 80 w 952500"/>
                <a:gd name="connsiteY6" fmla="*/ 285930 h 342900"/>
                <a:gd name="connsiteX7" fmla="*/ 80 w 952500"/>
                <a:gd name="connsiteY7" fmla="*/ 57330 h 342900"/>
                <a:gd name="connsiteX8" fmla="*/ 57230 w 952500"/>
                <a:gd name="connsiteY8" fmla="*/ 180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2500" h="342900">
                  <a:moveTo>
                    <a:pt x="57230" y="180"/>
                  </a:moveTo>
                  <a:lnTo>
                    <a:pt x="895430" y="180"/>
                  </a:lnTo>
                  <a:cubicBezTo>
                    <a:pt x="926993" y="180"/>
                    <a:pt x="952580" y="25767"/>
                    <a:pt x="952580" y="57330"/>
                  </a:cubicBezTo>
                  <a:lnTo>
                    <a:pt x="952580" y="285930"/>
                  </a:lnTo>
                  <a:cubicBezTo>
                    <a:pt x="952580" y="317493"/>
                    <a:pt x="926993" y="343080"/>
                    <a:pt x="895430" y="343080"/>
                  </a:cubicBezTo>
                  <a:lnTo>
                    <a:pt x="57230" y="343080"/>
                  </a:lnTo>
                  <a:cubicBezTo>
                    <a:pt x="25667" y="343080"/>
                    <a:pt x="80" y="317493"/>
                    <a:pt x="80" y="285930"/>
                  </a:cubicBezTo>
                  <a:lnTo>
                    <a:pt x="80" y="57330"/>
                  </a:lnTo>
                  <a:cubicBezTo>
                    <a:pt x="80" y="25767"/>
                    <a:pt x="25667" y="180"/>
                    <a:pt x="57230" y="180"/>
                  </a:cubicBezTo>
                  <a:close/>
                </a:path>
              </a:pathLst>
            </a:custGeom>
            <a:solidFill>
              <a:srgbClr val="DC262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865822" y="1735455"/>
              <a:ext cx="744855" cy="2914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b="1" spc="0" baseline="0">
                  <a:solidFill>
                    <a:srgbClr val="FFFFFF"/>
                  </a:solidFill>
                  <a:latin typeface="Segoe UI Emoji" panose="020B0502040204020203"/>
                  <a:sym typeface="Segoe UI Emoji" panose="020B0502040204020203"/>
                  <a:rtl val="0"/>
                </a:rPr>
                <a:t>❌</a:t>
              </a:r>
              <a:r>
                <a:rPr lang="zh-CN" altLang="en-US" sz="1200" b="1" spc="0" baseline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 Bad</a:t>
              </a:r>
              <a:endParaRPr lang="zh-CN" altLang="en-US" sz="1200" b="1" spc="0" baseline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762000" y="2190750"/>
              <a:ext cx="4953000" cy="3810000"/>
            </a:xfrm>
            <a:custGeom>
              <a:avLst/>
              <a:gdLst>
                <a:gd name="connsiteX0" fmla="*/ 114380 w 4953000"/>
                <a:gd name="connsiteY0" fmla="*/ 180 h 3810000"/>
                <a:gd name="connsiteX1" fmla="*/ 4838780 w 4953000"/>
                <a:gd name="connsiteY1" fmla="*/ 180 h 3810000"/>
                <a:gd name="connsiteX2" fmla="*/ 4953080 w 4953000"/>
                <a:gd name="connsiteY2" fmla="*/ 114480 h 3810000"/>
                <a:gd name="connsiteX3" fmla="*/ 4953080 w 4953000"/>
                <a:gd name="connsiteY3" fmla="*/ 3695880 h 3810000"/>
                <a:gd name="connsiteX4" fmla="*/ 4838780 w 4953000"/>
                <a:gd name="connsiteY4" fmla="*/ 3810180 h 3810000"/>
                <a:gd name="connsiteX5" fmla="*/ 114380 w 4953000"/>
                <a:gd name="connsiteY5" fmla="*/ 3810180 h 3810000"/>
                <a:gd name="connsiteX6" fmla="*/ 80 w 4953000"/>
                <a:gd name="connsiteY6" fmla="*/ 3695880 h 3810000"/>
                <a:gd name="connsiteX7" fmla="*/ 80 w 4953000"/>
                <a:gd name="connsiteY7" fmla="*/ 114480 h 3810000"/>
                <a:gd name="connsiteX8" fmla="*/ 114380 w 4953000"/>
                <a:gd name="connsiteY8" fmla="*/ 180 h 38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53000" h="3810000">
                  <a:moveTo>
                    <a:pt x="114380" y="180"/>
                  </a:moveTo>
                  <a:lnTo>
                    <a:pt x="4838780" y="180"/>
                  </a:lnTo>
                  <a:cubicBezTo>
                    <a:pt x="4901907" y="180"/>
                    <a:pt x="4953080" y="51354"/>
                    <a:pt x="4953080" y="114480"/>
                  </a:cubicBezTo>
                  <a:lnTo>
                    <a:pt x="4953080" y="3695880"/>
                  </a:lnTo>
                  <a:cubicBezTo>
                    <a:pt x="4953080" y="3759006"/>
                    <a:pt x="4901907" y="3810180"/>
                    <a:pt x="4838780" y="3810180"/>
                  </a:cubicBezTo>
                  <a:lnTo>
                    <a:pt x="114380" y="3810180"/>
                  </a:lnTo>
                  <a:cubicBezTo>
                    <a:pt x="51254" y="3810180"/>
                    <a:pt x="80" y="3759006"/>
                    <a:pt x="80" y="3695880"/>
                  </a:cubicBezTo>
                  <a:lnTo>
                    <a:pt x="80" y="114480"/>
                  </a:lnTo>
                  <a:cubicBezTo>
                    <a:pt x="80" y="51354"/>
                    <a:pt x="51254" y="180"/>
                    <a:pt x="114380" y="180"/>
                  </a:cubicBezTo>
                  <a:close/>
                </a:path>
              </a:pathLst>
            </a:custGeom>
            <a:solidFill>
              <a:srgbClr val="FEF2F2"/>
            </a:solidFill>
            <a:ln w="19050" cap="flat">
              <a:solidFill>
                <a:srgbClr val="FECAC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14" name="SVG Image 5"/>
            <p:cNvGrpSpPr/>
            <p:nvPr/>
          </p:nvGrpSpPr>
          <p:grpSpPr>
            <a:xfrm>
              <a:off x="1047750" y="2390775"/>
              <a:ext cx="4381500" cy="3362325"/>
              <a:chOff x="1047750" y="2390775"/>
              <a:chExt cx="4381500" cy="3362325"/>
            </a:xfrm>
          </p:grpSpPr>
          <p:sp>
            <p:nvSpPr>
              <p:cNvPr id="15" name="文本框 14"/>
              <p:cNvSpPr txBox="1"/>
              <p:nvPr/>
            </p:nvSpPr>
            <p:spPr>
              <a:xfrm>
                <a:off x="956310" y="2345055"/>
                <a:ext cx="1878330" cy="3200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350" spc="0" baseline="0">
                    <a:solidFill>
                      <a:srgbClr val="991B1B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"帮我做一个待办应用"</a:t>
                </a:r>
                <a:endParaRPr lang="zh-CN" altLang="en-US" sz="1350" spc="0" baseline="0">
                  <a:solidFill>
                    <a:srgbClr val="991B1B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  <p:sp>
            <p:nvSpPr>
              <p:cNvPr id="16" name="任意多边形: 形状 15"/>
              <p:cNvSpPr/>
              <p:nvPr/>
            </p:nvSpPr>
            <p:spPr>
              <a:xfrm>
                <a:off x="1047750" y="2857500"/>
                <a:ext cx="4381500" cy="9525"/>
              </a:xfrm>
              <a:custGeom>
                <a:avLst/>
                <a:gdLst>
                  <a:gd name="connsiteX0" fmla="*/ 110 w 4381500"/>
                  <a:gd name="connsiteY0" fmla="*/ 270 h 9525"/>
                  <a:gd name="connsiteX1" fmla="*/ 4381610 w 4381500"/>
                  <a:gd name="connsiteY1" fmla="*/ 27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381500" h="9525">
                    <a:moveTo>
                      <a:pt x="110" y="270"/>
                    </a:moveTo>
                    <a:lnTo>
                      <a:pt x="4381610" y="270"/>
                    </a:lnTo>
                  </a:path>
                </a:pathLst>
              </a:custGeom>
              <a:ln w="9525" cap="flat">
                <a:solidFill>
                  <a:srgbClr val="FECACA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17" name="SVG Image 5"/>
              <p:cNvGrpSpPr/>
              <p:nvPr/>
            </p:nvGrpSpPr>
            <p:grpSpPr>
              <a:xfrm>
                <a:off x="1047750" y="2981325"/>
                <a:ext cx="1333500" cy="1343025"/>
                <a:chOff x="1047750" y="2981325"/>
                <a:chExt cx="1333500" cy="1343025"/>
              </a:xfrm>
              <a:solidFill>
                <a:srgbClr val="DC2626"/>
              </a:solidFill>
            </p:grpSpPr>
            <p:sp>
              <p:nvSpPr>
                <p:cNvPr id="18" name="文本框 17"/>
                <p:cNvSpPr txBox="1"/>
                <p:nvPr/>
              </p:nvSpPr>
              <p:spPr>
                <a:xfrm>
                  <a:off x="956310" y="2935605"/>
                  <a:ext cx="640080" cy="2914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1200" spc="0" baseline="0">
                      <a:solidFill>
                        <a:srgbClr val="DC2626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微软雅黑" panose="020B0503020204020204" charset="-122"/>
                      <a:rtl val="0"/>
                    </a:rPr>
                    <a:t>问题：</a:t>
                  </a:r>
                  <a:endParaRPr lang="zh-CN" altLang="en-US" sz="1200" spc="0" baseline="0">
                    <a:solidFill>
                      <a:srgbClr val="DC2626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endParaRPr>
                </a:p>
              </p:txBody>
            </p:sp>
            <p:sp>
              <p:nvSpPr>
                <p:cNvPr id="19" name="文本框 18"/>
                <p:cNvSpPr txBox="1"/>
                <p:nvPr/>
              </p:nvSpPr>
              <p:spPr>
                <a:xfrm>
                  <a:off x="956310" y="3221355"/>
                  <a:ext cx="1363980" cy="2914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1200" spc="0" baseline="0">
                      <a:solidFill>
                        <a:srgbClr val="DC2626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微软雅黑" panose="020B0503020204020204" charset="-122"/>
                      <a:rtl val="0"/>
                    </a:rPr>
                    <a:t>• 没有说明技术栈</a:t>
                  </a:r>
                  <a:endParaRPr lang="zh-CN" altLang="en-US" sz="1200" spc="0" baseline="0">
                    <a:solidFill>
                      <a:srgbClr val="DC2626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endParaRPr>
                </a:p>
              </p:txBody>
            </p:sp>
            <p:sp>
              <p:nvSpPr>
                <p:cNvPr id="20" name="文本框 19"/>
                <p:cNvSpPr txBox="1"/>
                <p:nvPr/>
              </p:nvSpPr>
              <p:spPr>
                <a:xfrm>
                  <a:off x="956310" y="3507105"/>
                  <a:ext cx="1516380" cy="2914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1200" spc="0" baseline="0">
                      <a:solidFill>
                        <a:srgbClr val="DC2626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微软雅黑" panose="020B0503020204020204" charset="-122"/>
                      <a:rtl val="0"/>
                    </a:rPr>
                    <a:t>• 没有说明功能范围</a:t>
                  </a:r>
                  <a:endParaRPr lang="zh-CN" altLang="en-US" sz="1200" spc="0" baseline="0">
                    <a:solidFill>
                      <a:srgbClr val="DC2626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endParaRPr>
                </a:p>
              </p:txBody>
            </p:sp>
            <p:sp>
              <p:nvSpPr>
                <p:cNvPr id="21" name="文本框 20"/>
                <p:cNvSpPr txBox="1"/>
                <p:nvPr/>
              </p:nvSpPr>
              <p:spPr>
                <a:xfrm>
                  <a:off x="956310" y="3792855"/>
                  <a:ext cx="1516380" cy="2914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1200" spc="0" baseline="0">
                      <a:solidFill>
                        <a:srgbClr val="DC2626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微软雅黑" panose="020B0503020204020204" charset="-122"/>
                      <a:rtl val="0"/>
                    </a:rPr>
                    <a:t>• 没有说明数据结构</a:t>
                  </a:r>
                  <a:endParaRPr lang="zh-CN" altLang="en-US" sz="1200" spc="0" baseline="0">
                    <a:solidFill>
                      <a:srgbClr val="DC2626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endParaRPr>
                </a:p>
              </p:txBody>
            </p:sp>
            <p:sp>
              <p:nvSpPr>
                <p:cNvPr id="22" name="文本框 21"/>
                <p:cNvSpPr txBox="1"/>
                <p:nvPr/>
              </p:nvSpPr>
              <p:spPr>
                <a:xfrm>
                  <a:off x="956310" y="4078605"/>
                  <a:ext cx="1516380" cy="2914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1200" spc="0" baseline="0">
                      <a:solidFill>
                        <a:srgbClr val="DC2626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微软雅黑" panose="020B0503020204020204" charset="-122"/>
                      <a:rtl val="0"/>
                    </a:rPr>
                    <a:t>• 没有说明验收标准</a:t>
                  </a:r>
                  <a:endParaRPr lang="zh-CN" altLang="en-US" sz="1200" spc="0" baseline="0">
                    <a:solidFill>
                      <a:srgbClr val="DC2626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endParaRPr>
                </a:p>
              </p:txBody>
            </p:sp>
          </p:grpSp>
          <p:grpSp>
            <p:nvGrpSpPr>
              <p:cNvPr id="23" name="SVG Image 5"/>
              <p:cNvGrpSpPr/>
              <p:nvPr/>
            </p:nvGrpSpPr>
            <p:grpSpPr>
              <a:xfrm>
                <a:off x="1047750" y="4762500"/>
                <a:ext cx="4381500" cy="762000"/>
                <a:chOff x="1047750" y="4762500"/>
                <a:chExt cx="4381500" cy="762000"/>
              </a:xfrm>
            </p:grpSpPr>
            <p:sp>
              <p:nvSpPr>
                <p:cNvPr id="24" name="任意多边形: 形状 23"/>
                <p:cNvSpPr/>
                <p:nvPr/>
              </p:nvSpPr>
              <p:spPr>
                <a:xfrm>
                  <a:off x="1047750" y="4762500"/>
                  <a:ext cx="4381500" cy="762000"/>
                </a:xfrm>
                <a:custGeom>
                  <a:avLst/>
                  <a:gdLst>
                    <a:gd name="connsiteX0" fmla="*/ 76310 w 4381500"/>
                    <a:gd name="connsiteY0" fmla="*/ 500 h 762000"/>
                    <a:gd name="connsiteX1" fmla="*/ 4305410 w 4381500"/>
                    <a:gd name="connsiteY1" fmla="*/ 500 h 762000"/>
                    <a:gd name="connsiteX2" fmla="*/ 4381610 w 4381500"/>
                    <a:gd name="connsiteY2" fmla="*/ 76700 h 762000"/>
                    <a:gd name="connsiteX3" fmla="*/ 4381610 w 4381500"/>
                    <a:gd name="connsiteY3" fmla="*/ 686300 h 762000"/>
                    <a:gd name="connsiteX4" fmla="*/ 4305410 w 4381500"/>
                    <a:gd name="connsiteY4" fmla="*/ 762500 h 762000"/>
                    <a:gd name="connsiteX5" fmla="*/ 76310 w 4381500"/>
                    <a:gd name="connsiteY5" fmla="*/ 762500 h 762000"/>
                    <a:gd name="connsiteX6" fmla="*/ 110 w 4381500"/>
                    <a:gd name="connsiteY6" fmla="*/ 686300 h 762000"/>
                    <a:gd name="connsiteX7" fmla="*/ 110 w 4381500"/>
                    <a:gd name="connsiteY7" fmla="*/ 76700 h 762000"/>
                    <a:gd name="connsiteX8" fmla="*/ 76310 w 4381500"/>
                    <a:gd name="connsiteY8" fmla="*/ 500 h 762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381500" h="762000">
                      <a:moveTo>
                        <a:pt x="76310" y="500"/>
                      </a:moveTo>
                      <a:lnTo>
                        <a:pt x="4305410" y="500"/>
                      </a:lnTo>
                      <a:cubicBezTo>
                        <a:pt x="4347494" y="500"/>
                        <a:pt x="4381610" y="34616"/>
                        <a:pt x="4381610" y="76700"/>
                      </a:cubicBezTo>
                      <a:lnTo>
                        <a:pt x="4381610" y="686300"/>
                      </a:lnTo>
                      <a:cubicBezTo>
                        <a:pt x="4381610" y="728384"/>
                        <a:pt x="4347494" y="762500"/>
                        <a:pt x="4305410" y="762500"/>
                      </a:cubicBezTo>
                      <a:lnTo>
                        <a:pt x="76310" y="762500"/>
                      </a:lnTo>
                      <a:cubicBezTo>
                        <a:pt x="34226" y="762500"/>
                        <a:pt x="110" y="728384"/>
                        <a:pt x="110" y="686300"/>
                      </a:cubicBezTo>
                      <a:lnTo>
                        <a:pt x="110" y="76700"/>
                      </a:lnTo>
                      <a:cubicBezTo>
                        <a:pt x="110" y="34616"/>
                        <a:pt x="34226" y="500"/>
                        <a:pt x="76310" y="500"/>
                      </a:cubicBezTo>
                      <a:close/>
                    </a:path>
                  </a:pathLst>
                </a:custGeom>
                <a:solidFill>
                  <a:srgbClr val="FEE2E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5" name="文本框 24"/>
                <p:cNvSpPr txBox="1"/>
                <p:nvPr/>
              </p:nvSpPr>
              <p:spPr>
                <a:xfrm>
                  <a:off x="2718435" y="4859655"/>
                  <a:ext cx="1040130" cy="27241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1050" b="1" spc="0" baseline="0">
                      <a:solidFill>
                        <a:srgbClr val="991B1B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微软雅黑" panose="020B0503020204020204" charset="-122"/>
                      <a:rtl val="0"/>
                    </a:rPr>
                    <a:t>AI 可能返回：</a:t>
                  </a:r>
                  <a:endParaRPr lang="zh-CN" altLang="en-US" sz="1050" b="1" spc="0" baseline="0">
                    <a:solidFill>
                      <a:srgbClr val="991B1B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endParaRPr>
                </a:p>
              </p:txBody>
            </p:sp>
            <p:sp>
              <p:nvSpPr>
                <p:cNvPr id="26" name="文本框 25"/>
                <p:cNvSpPr txBox="1"/>
                <p:nvPr/>
              </p:nvSpPr>
              <p:spPr>
                <a:xfrm>
                  <a:off x="2285047" y="5107305"/>
                  <a:ext cx="1906905" cy="2533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975" spc="0" baseline="0">
                      <a:solidFill>
                        <a:srgbClr val="991B1B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微软雅黑" panose="020B0503020204020204" charset="-122"/>
                      <a:rtl val="0"/>
                    </a:rPr>
                    <a:t>"您想要什么功能的待办应用？"</a:t>
                  </a:r>
                  <a:endParaRPr lang="zh-CN" altLang="en-US" sz="975" spc="0" baseline="0">
                    <a:solidFill>
                      <a:srgbClr val="991B1B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endParaRPr>
                </a:p>
              </p:txBody>
            </p:sp>
          </p:grpSp>
          <p:sp>
            <p:nvSpPr>
              <p:cNvPr id="27" name="文本框 26"/>
              <p:cNvSpPr txBox="1"/>
              <p:nvPr/>
            </p:nvSpPr>
            <p:spPr>
              <a:xfrm>
                <a:off x="956310" y="5526405"/>
                <a:ext cx="1821180" cy="2724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50" spc="0" baseline="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→ 需要反复追问，效率低下</a:t>
                </a:r>
                <a:endParaRPr lang="zh-CN" altLang="en-US" sz="1050" spc="0" baseline="0">
                  <a:solidFill>
                    <a:srgbClr val="64748B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</p:grpSp>
      </p:grpSp>
      <p:grpSp>
        <p:nvGrpSpPr>
          <p:cNvPr id="28" name="SVG Image 5"/>
          <p:cNvGrpSpPr/>
          <p:nvPr/>
        </p:nvGrpSpPr>
        <p:grpSpPr>
          <a:xfrm>
            <a:off x="5810250" y="3333750"/>
            <a:ext cx="571500" cy="571500"/>
            <a:chOff x="5810250" y="3333750"/>
            <a:chExt cx="571500" cy="571500"/>
          </a:xfrm>
        </p:grpSpPr>
        <p:sp>
          <p:nvSpPr>
            <p:cNvPr id="29" name="任意多边形: 形状 28"/>
            <p:cNvSpPr/>
            <p:nvPr/>
          </p:nvSpPr>
          <p:spPr>
            <a:xfrm>
              <a:off x="5810250" y="3333750"/>
              <a:ext cx="571500" cy="571500"/>
            </a:xfrm>
            <a:custGeom>
              <a:avLst/>
              <a:gdLst>
                <a:gd name="connsiteX0" fmla="*/ 572120 w 571500"/>
                <a:gd name="connsiteY0" fmla="*/ 286130 h 571500"/>
                <a:gd name="connsiteX1" fmla="*/ 286370 w 571500"/>
                <a:gd name="connsiteY1" fmla="*/ 571880 h 571500"/>
                <a:gd name="connsiteX2" fmla="*/ 620 w 571500"/>
                <a:gd name="connsiteY2" fmla="*/ 286130 h 571500"/>
                <a:gd name="connsiteX3" fmla="*/ 286370 w 571500"/>
                <a:gd name="connsiteY3" fmla="*/ 380 h 571500"/>
                <a:gd name="connsiteX4" fmla="*/ 572120 w 571500"/>
                <a:gd name="connsiteY4" fmla="*/ 28613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0" h="571500">
                  <a:moveTo>
                    <a:pt x="572120" y="286130"/>
                  </a:moveTo>
                  <a:cubicBezTo>
                    <a:pt x="572120" y="443945"/>
                    <a:pt x="444185" y="571880"/>
                    <a:pt x="286370" y="571880"/>
                  </a:cubicBezTo>
                  <a:cubicBezTo>
                    <a:pt x="128555" y="571880"/>
                    <a:pt x="620" y="443945"/>
                    <a:pt x="620" y="286130"/>
                  </a:cubicBezTo>
                  <a:cubicBezTo>
                    <a:pt x="620" y="128315"/>
                    <a:pt x="128555" y="380"/>
                    <a:pt x="286370" y="380"/>
                  </a:cubicBezTo>
                  <a:cubicBezTo>
                    <a:pt x="444185" y="380"/>
                    <a:pt x="572120" y="128315"/>
                    <a:pt x="572120" y="286130"/>
                  </a:cubicBezTo>
                  <a:close/>
                </a:path>
              </a:pathLst>
            </a:custGeom>
            <a:solidFill>
              <a:srgbClr val="22D3E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5871210" y="3411855"/>
              <a:ext cx="449580" cy="3867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100" spc="0" baseline="0">
                  <a:solidFill>
                    <a:srgbClr val="FFFFFF"/>
                  </a:solidFill>
                  <a:latin typeface="Arial" panose="020B0604020202020204"/>
                  <a:cs typeface="Arial" panose="020B0604020202020204"/>
                  <a:sym typeface="Arial" panose="020B0604020202020204"/>
                  <a:rtl val="0"/>
                </a:rPr>
                <a:t>→</a:t>
              </a:r>
              <a:endParaRPr lang="zh-CN" altLang="en-US" sz="2100" spc="0" baseline="0">
                <a:solidFill>
                  <a:srgbClr val="FFFFFF"/>
                </a:solidFill>
                <a:latin typeface="Arial" panose="020B0604020202020204"/>
                <a:cs typeface="Arial" panose="020B0604020202020204"/>
                <a:sym typeface="Arial" panose="020B0604020202020204"/>
                <a:rtl val="0"/>
              </a:endParaRPr>
            </a:p>
          </p:txBody>
        </p:sp>
      </p:grpSp>
      <p:grpSp>
        <p:nvGrpSpPr>
          <p:cNvPr id="31" name="SVG Image 5"/>
          <p:cNvGrpSpPr/>
          <p:nvPr/>
        </p:nvGrpSpPr>
        <p:grpSpPr>
          <a:xfrm>
            <a:off x="6477000" y="1714500"/>
            <a:ext cx="4953000" cy="4286250"/>
            <a:chOff x="6477000" y="1714500"/>
            <a:chExt cx="4953000" cy="4286250"/>
          </a:xfrm>
        </p:grpSpPr>
        <p:sp>
          <p:nvSpPr>
            <p:cNvPr id="32" name="任意多边形: 形状 31"/>
            <p:cNvSpPr/>
            <p:nvPr/>
          </p:nvSpPr>
          <p:spPr>
            <a:xfrm>
              <a:off x="6477000" y="1714500"/>
              <a:ext cx="952500" cy="342900"/>
            </a:xfrm>
            <a:custGeom>
              <a:avLst/>
              <a:gdLst>
                <a:gd name="connsiteX0" fmla="*/ 57830 w 952500"/>
                <a:gd name="connsiteY0" fmla="*/ 180 h 342900"/>
                <a:gd name="connsiteX1" fmla="*/ 896030 w 952500"/>
                <a:gd name="connsiteY1" fmla="*/ 180 h 342900"/>
                <a:gd name="connsiteX2" fmla="*/ 953180 w 952500"/>
                <a:gd name="connsiteY2" fmla="*/ 57330 h 342900"/>
                <a:gd name="connsiteX3" fmla="*/ 953180 w 952500"/>
                <a:gd name="connsiteY3" fmla="*/ 285930 h 342900"/>
                <a:gd name="connsiteX4" fmla="*/ 896030 w 952500"/>
                <a:gd name="connsiteY4" fmla="*/ 343080 h 342900"/>
                <a:gd name="connsiteX5" fmla="*/ 57830 w 952500"/>
                <a:gd name="connsiteY5" fmla="*/ 343080 h 342900"/>
                <a:gd name="connsiteX6" fmla="*/ 680 w 952500"/>
                <a:gd name="connsiteY6" fmla="*/ 285930 h 342900"/>
                <a:gd name="connsiteX7" fmla="*/ 680 w 952500"/>
                <a:gd name="connsiteY7" fmla="*/ 57330 h 342900"/>
                <a:gd name="connsiteX8" fmla="*/ 57830 w 952500"/>
                <a:gd name="connsiteY8" fmla="*/ 180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2500" h="342900">
                  <a:moveTo>
                    <a:pt x="57830" y="180"/>
                  </a:moveTo>
                  <a:lnTo>
                    <a:pt x="896030" y="180"/>
                  </a:lnTo>
                  <a:cubicBezTo>
                    <a:pt x="927593" y="180"/>
                    <a:pt x="953180" y="25767"/>
                    <a:pt x="953180" y="57330"/>
                  </a:cubicBezTo>
                  <a:lnTo>
                    <a:pt x="953180" y="285930"/>
                  </a:lnTo>
                  <a:cubicBezTo>
                    <a:pt x="953180" y="317493"/>
                    <a:pt x="927593" y="343080"/>
                    <a:pt x="896030" y="343080"/>
                  </a:cubicBezTo>
                  <a:lnTo>
                    <a:pt x="57830" y="343080"/>
                  </a:lnTo>
                  <a:cubicBezTo>
                    <a:pt x="26267" y="343080"/>
                    <a:pt x="680" y="317493"/>
                    <a:pt x="680" y="285930"/>
                  </a:cubicBezTo>
                  <a:lnTo>
                    <a:pt x="680" y="57330"/>
                  </a:lnTo>
                  <a:cubicBezTo>
                    <a:pt x="680" y="25767"/>
                    <a:pt x="26267" y="180"/>
                    <a:pt x="57830" y="180"/>
                  </a:cubicBezTo>
                  <a:close/>
                </a:path>
              </a:pathLst>
            </a:custGeom>
            <a:solidFill>
              <a:srgbClr val="16A34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6514147" y="1735455"/>
              <a:ext cx="878205" cy="2914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b="1" spc="0" baseline="0">
                  <a:solidFill>
                    <a:srgbClr val="FFFFFF"/>
                  </a:solidFill>
                  <a:latin typeface="Segoe UI Emoji" panose="020B0502040204020203"/>
                  <a:sym typeface="Segoe UI Emoji" panose="020B0502040204020203"/>
                  <a:rtl val="0"/>
                </a:rPr>
                <a:t>✅</a:t>
              </a:r>
              <a:r>
                <a:rPr lang="zh-CN" altLang="en-US" sz="1200" b="1" spc="0" baseline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 Good</a:t>
              </a:r>
              <a:endParaRPr lang="zh-CN" altLang="en-US" sz="1200" b="1" spc="0" baseline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  <p:sp>
          <p:nvSpPr>
            <p:cNvPr id="34" name="任意多边形: 形状 33"/>
            <p:cNvSpPr/>
            <p:nvPr/>
          </p:nvSpPr>
          <p:spPr>
            <a:xfrm>
              <a:off x="6477000" y="2190750"/>
              <a:ext cx="4953000" cy="3810000"/>
            </a:xfrm>
            <a:custGeom>
              <a:avLst/>
              <a:gdLst>
                <a:gd name="connsiteX0" fmla="*/ 114980 w 4953000"/>
                <a:gd name="connsiteY0" fmla="*/ 180 h 3810000"/>
                <a:gd name="connsiteX1" fmla="*/ 4839380 w 4953000"/>
                <a:gd name="connsiteY1" fmla="*/ 180 h 3810000"/>
                <a:gd name="connsiteX2" fmla="*/ 4953680 w 4953000"/>
                <a:gd name="connsiteY2" fmla="*/ 114480 h 3810000"/>
                <a:gd name="connsiteX3" fmla="*/ 4953680 w 4953000"/>
                <a:gd name="connsiteY3" fmla="*/ 3695880 h 3810000"/>
                <a:gd name="connsiteX4" fmla="*/ 4839380 w 4953000"/>
                <a:gd name="connsiteY4" fmla="*/ 3810180 h 3810000"/>
                <a:gd name="connsiteX5" fmla="*/ 114980 w 4953000"/>
                <a:gd name="connsiteY5" fmla="*/ 3810180 h 3810000"/>
                <a:gd name="connsiteX6" fmla="*/ 680 w 4953000"/>
                <a:gd name="connsiteY6" fmla="*/ 3695880 h 3810000"/>
                <a:gd name="connsiteX7" fmla="*/ 680 w 4953000"/>
                <a:gd name="connsiteY7" fmla="*/ 114480 h 3810000"/>
                <a:gd name="connsiteX8" fmla="*/ 114980 w 4953000"/>
                <a:gd name="connsiteY8" fmla="*/ 180 h 38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53000" h="3810000">
                  <a:moveTo>
                    <a:pt x="114980" y="180"/>
                  </a:moveTo>
                  <a:lnTo>
                    <a:pt x="4839380" y="180"/>
                  </a:lnTo>
                  <a:cubicBezTo>
                    <a:pt x="4902507" y="180"/>
                    <a:pt x="4953680" y="51354"/>
                    <a:pt x="4953680" y="114480"/>
                  </a:cubicBezTo>
                  <a:lnTo>
                    <a:pt x="4953680" y="3695880"/>
                  </a:lnTo>
                  <a:cubicBezTo>
                    <a:pt x="4953680" y="3759006"/>
                    <a:pt x="4902507" y="3810180"/>
                    <a:pt x="4839380" y="3810180"/>
                  </a:cubicBezTo>
                  <a:lnTo>
                    <a:pt x="114980" y="3810180"/>
                  </a:lnTo>
                  <a:cubicBezTo>
                    <a:pt x="51854" y="3810180"/>
                    <a:pt x="680" y="3759006"/>
                    <a:pt x="680" y="3695880"/>
                  </a:cubicBezTo>
                  <a:lnTo>
                    <a:pt x="680" y="114480"/>
                  </a:lnTo>
                  <a:cubicBezTo>
                    <a:pt x="680" y="51354"/>
                    <a:pt x="51854" y="180"/>
                    <a:pt x="114980" y="180"/>
                  </a:cubicBezTo>
                  <a:close/>
                </a:path>
              </a:pathLst>
            </a:custGeom>
            <a:solidFill>
              <a:srgbClr val="F0FDF4"/>
            </a:solidFill>
            <a:ln w="19050" cap="flat">
              <a:solidFill>
                <a:srgbClr val="BBF7D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35" name="SVG Image 5"/>
            <p:cNvGrpSpPr/>
            <p:nvPr/>
          </p:nvGrpSpPr>
          <p:grpSpPr>
            <a:xfrm>
              <a:off x="6762750" y="2571750"/>
              <a:ext cx="4381500" cy="2609850"/>
              <a:chOff x="6762750" y="2571750"/>
              <a:chExt cx="4381500" cy="2609850"/>
            </a:xfrm>
          </p:grpSpPr>
          <p:grpSp>
            <p:nvGrpSpPr>
              <p:cNvPr id="36" name="SVG Image 5"/>
              <p:cNvGrpSpPr/>
              <p:nvPr/>
            </p:nvGrpSpPr>
            <p:grpSpPr>
              <a:xfrm>
                <a:off x="6762750" y="2571750"/>
                <a:ext cx="2114550" cy="247650"/>
                <a:chOff x="6762750" y="2571750"/>
                <a:chExt cx="2114550" cy="247650"/>
              </a:xfrm>
            </p:grpSpPr>
            <p:sp>
              <p:nvSpPr>
                <p:cNvPr id="37" name="任意多边形: 形状 36"/>
                <p:cNvSpPr/>
                <p:nvPr/>
              </p:nvSpPr>
              <p:spPr>
                <a:xfrm>
                  <a:off x="6762750" y="2571750"/>
                  <a:ext cx="952500" cy="247650"/>
                </a:xfrm>
                <a:custGeom>
                  <a:avLst/>
                  <a:gdLst>
                    <a:gd name="connsiteX0" fmla="*/ 38810 w 952500"/>
                    <a:gd name="connsiteY0" fmla="*/ 270 h 247650"/>
                    <a:gd name="connsiteX1" fmla="*/ 915110 w 952500"/>
                    <a:gd name="connsiteY1" fmla="*/ 270 h 247650"/>
                    <a:gd name="connsiteX2" fmla="*/ 953210 w 952500"/>
                    <a:gd name="connsiteY2" fmla="*/ 38370 h 247650"/>
                    <a:gd name="connsiteX3" fmla="*/ 953210 w 952500"/>
                    <a:gd name="connsiteY3" fmla="*/ 209820 h 247650"/>
                    <a:gd name="connsiteX4" fmla="*/ 915110 w 952500"/>
                    <a:gd name="connsiteY4" fmla="*/ 247920 h 247650"/>
                    <a:gd name="connsiteX5" fmla="*/ 38810 w 952500"/>
                    <a:gd name="connsiteY5" fmla="*/ 247920 h 247650"/>
                    <a:gd name="connsiteX6" fmla="*/ 710 w 952500"/>
                    <a:gd name="connsiteY6" fmla="*/ 209820 h 247650"/>
                    <a:gd name="connsiteX7" fmla="*/ 710 w 952500"/>
                    <a:gd name="connsiteY7" fmla="*/ 38370 h 247650"/>
                    <a:gd name="connsiteX8" fmla="*/ 38810 w 952500"/>
                    <a:gd name="connsiteY8" fmla="*/ 270 h 2476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52500" h="247650">
                      <a:moveTo>
                        <a:pt x="38810" y="270"/>
                      </a:moveTo>
                      <a:lnTo>
                        <a:pt x="915110" y="270"/>
                      </a:lnTo>
                      <a:cubicBezTo>
                        <a:pt x="936152" y="270"/>
                        <a:pt x="953210" y="17328"/>
                        <a:pt x="953210" y="38370"/>
                      </a:cubicBezTo>
                      <a:lnTo>
                        <a:pt x="953210" y="209820"/>
                      </a:lnTo>
                      <a:cubicBezTo>
                        <a:pt x="953210" y="230862"/>
                        <a:pt x="936152" y="247920"/>
                        <a:pt x="915110" y="247920"/>
                      </a:cubicBezTo>
                      <a:lnTo>
                        <a:pt x="38810" y="247920"/>
                      </a:lnTo>
                      <a:cubicBezTo>
                        <a:pt x="17768" y="247920"/>
                        <a:pt x="710" y="230862"/>
                        <a:pt x="710" y="209820"/>
                      </a:cubicBezTo>
                      <a:lnTo>
                        <a:pt x="710" y="38370"/>
                      </a:lnTo>
                      <a:cubicBezTo>
                        <a:pt x="710" y="17328"/>
                        <a:pt x="17768" y="270"/>
                        <a:pt x="38810" y="270"/>
                      </a:cubicBezTo>
                      <a:close/>
                    </a:path>
                  </a:pathLst>
                </a:custGeom>
                <a:solidFill>
                  <a:srgbClr val="DCFCE7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8" name="文本框 37"/>
                <p:cNvSpPr txBox="1"/>
                <p:nvPr/>
              </p:nvSpPr>
              <p:spPr>
                <a:xfrm>
                  <a:off x="7033260" y="2573655"/>
                  <a:ext cx="411480" cy="2438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900" b="1" spc="0" baseline="0">
                      <a:solidFill>
                        <a:srgbClr val="166534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微软雅黑" panose="020B0503020204020204" charset="-122"/>
                      <a:rtl val="0"/>
                    </a:rPr>
                    <a:t>角色</a:t>
                  </a:r>
                  <a:endParaRPr lang="zh-CN" altLang="en-US" sz="900" b="1" spc="0" baseline="0">
                    <a:solidFill>
                      <a:srgbClr val="166534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endParaRPr>
                </a:p>
              </p:txBody>
            </p:sp>
            <p:sp>
              <p:nvSpPr>
                <p:cNvPr id="39" name="文本框 38"/>
                <p:cNvSpPr txBox="1"/>
                <p:nvPr/>
              </p:nvSpPr>
              <p:spPr>
                <a:xfrm>
                  <a:off x="7719060" y="2554605"/>
                  <a:ext cx="1249680" cy="27241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1050" spc="0" baseline="0">
                      <a:solidFill>
                        <a:srgbClr val="166534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微软雅黑" panose="020B0503020204020204" charset="-122"/>
                      <a:rtl val="0"/>
                    </a:rPr>
                    <a:t>= 资深全栈工程师</a:t>
                  </a:r>
                  <a:endParaRPr lang="zh-CN" altLang="en-US" sz="1050" spc="0" baseline="0">
                    <a:solidFill>
                      <a:srgbClr val="166534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endParaRPr>
                </a:p>
              </p:txBody>
            </p:sp>
          </p:grpSp>
          <p:grpSp>
            <p:nvGrpSpPr>
              <p:cNvPr id="40" name="SVG Image 5"/>
              <p:cNvGrpSpPr/>
              <p:nvPr/>
            </p:nvGrpSpPr>
            <p:grpSpPr>
              <a:xfrm>
                <a:off x="6762750" y="2905125"/>
                <a:ext cx="3057525" cy="247650"/>
                <a:chOff x="6762750" y="2905125"/>
                <a:chExt cx="3057525" cy="247650"/>
              </a:xfrm>
            </p:grpSpPr>
            <p:sp>
              <p:nvSpPr>
                <p:cNvPr id="41" name="任意多边形: 形状 40"/>
                <p:cNvSpPr/>
                <p:nvPr/>
              </p:nvSpPr>
              <p:spPr>
                <a:xfrm>
                  <a:off x="6762750" y="2905125"/>
                  <a:ext cx="952500" cy="247650"/>
                </a:xfrm>
                <a:custGeom>
                  <a:avLst/>
                  <a:gdLst>
                    <a:gd name="connsiteX0" fmla="*/ 38810 w 952500"/>
                    <a:gd name="connsiteY0" fmla="*/ 305 h 247650"/>
                    <a:gd name="connsiteX1" fmla="*/ 915110 w 952500"/>
                    <a:gd name="connsiteY1" fmla="*/ 305 h 247650"/>
                    <a:gd name="connsiteX2" fmla="*/ 953210 w 952500"/>
                    <a:gd name="connsiteY2" fmla="*/ 38405 h 247650"/>
                    <a:gd name="connsiteX3" fmla="*/ 953210 w 952500"/>
                    <a:gd name="connsiteY3" fmla="*/ 209855 h 247650"/>
                    <a:gd name="connsiteX4" fmla="*/ 915110 w 952500"/>
                    <a:gd name="connsiteY4" fmla="*/ 247955 h 247650"/>
                    <a:gd name="connsiteX5" fmla="*/ 38810 w 952500"/>
                    <a:gd name="connsiteY5" fmla="*/ 247955 h 247650"/>
                    <a:gd name="connsiteX6" fmla="*/ 710 w 952500"/>
                    <a:gd name="connsiteY6" fmla="*/ 209855 h 247650"/>
                    <a:gd name="connsiteX7" fmla="*/ 710 w 952500"/>
                    <a:gd name="connsiteY7" fmla="*/ 38405 h 247650"/>
                    <a:gd name="connsiteX8" fmla="*/ 38810 w 952500"/>
                    <a:gd name="connsiteY8" fmla="*/ 305 h 2476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52500" h="247650">
                      <a:moveTo>
                        <a:pt x="38810" y="305"/>
                      </a:moveTo>
                      <a:lnTo>
                        <a:pt x="915110" y="305"/>
                      </a:lnTo>
                      <a:cubicBezTo>
                        <a:pt x="936152" y="305"/>
                        <a:pt x="953210" y="17363"/>
                        <a:pt x="953210" y="38405"/>
                      </a:cubicBezTo>
                      <a:lnTo>
                        <a:pt x="953210" y="209855"/>
                      </a:lnTo>
                      <a:cubicBezTo>
                        <a:pt x="953210" y="230897"/>
                        <a:pt x="936152" y="247955"/>
                        <a:pt x="915110" y="247955"/>
                      </a:cubicBezTo>
                      <a:lnTo>
                        <a:pt x="38810" y="247955"/>
                      </a:lnTo>
                      <a:cubicBezTo>
                        <a:pt x="17768" y="247955"/>
                        <a:pt x="710" y="230897"/>
                        <a:pt x="710" y="209855"/>
                      </a:cubicBezTo>
                      <a:lnTo>
                        <a:pt x="710" y="38405"/>
                      </a:lnTo>
                      <a:cubicBezTo>
                        <a:pt x="710" y="17363"/>
                        <a:pt x="17768" y="305"/>
                        <a:pt x="38810" y="305"/>
                      </a:cubicBezTo>
                      <a:close/>
                    </a:path>
                  </a:pathLst>
                </a:custGeom>
                <a:solidFill>
                  <a:srgbClr val="DCFCE7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2" name="文本框 41"/>
                <p:cNvSpPr txBox="1"/>
                <p:nvPr/>
              </p:nvSpPr>
              <p:spPr>
                <a:xfrm>
                  <a:off x="7033260" y="2907030"/>
                  <a:ext cx="411480" cy="2438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900" b="1" spc="0" baseline="0">
                      <a:solidFill>
                        <a:srgbClr val="166534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微软雅黑" panose="020B0503020204020204" charset="-122"/>
                      <a:rtl val="0"/>
                    </a:rPr>
                    <a:t>背景</a:t>
                  </a:r>
                  <a:endParaRPr lang="zh-CN" altLang="en-US" sz="900" b="1" spc="0" baseline="0">
                    <a:solidFill>
                      <a:srgbClr val="166534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endParaRPr>
                </a:p>
              </p:txBody>
            </p:sp>
            <p:sp>
              <p:nvSpPr>
                <p:cNvPr id="43" name="文本框 42"/>
                <p:cNvSpPr txBox="1"/>
                <p:nvPr/>
              </p:nvSpPr>
              <p:spPr>
                <a:xfrm>
                  <a:off x="7719060" y="2887980"/>
                  <a:ext cx="2192655" cy="27241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1050" spc="0" baseline="0">
                      <a:solidFill>
                        <a:srgbClr val="166534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微软雅黑" panose="020B0503020204020204" charset="-122"/>
                      <a:rtl val="0"/>
                    </a:rPr>
                    <a:t>= Spring Boot + Vue3 + MySQL</a:t>
                  </a:r>
                  <a:endParaRPr lang="zh-CN" altLang="en-US" sz="1050" spc="0" baseline="0">
                    <a:solidFill>
                      <a:srgbClr val="166534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endParaRPr>
                </a:p>
              </p:txBody>
            </p:sp>
          </p:grpSp>
          <p:grpSp>
            <p:nvGrpSpPr>
              <p:cNvPr id="44" name="SVG Image 5"/>
              <p:cNvGrpSpPr/>
              <p:nvPr/>
            </p:nvGrpSpPr>
            <p:grpSpPr>
              <a:xfrm>
                <a:off x="6762750" y="3238500"/>
                <a:ext cx="3257550" cy="247650"/>
                <a:chOff x="6762750" y="3238500"/>
                <a:chExt cx="3257550" cy="247650"/>
              </a:xfrm>
            </p:grpSpPr>
            <p:sp>
              <p:nvSpPr>
                <p:cNvPr id="45" name="任意多边形: 形状 44"/>
                <p:cNvSpPr/>
                <p:nvPr/>
              </p:nvSpPr>
              <p:spPr>
                <a:xfrm>
                  <a:off x="6762750" y="3238500"/>
                  <a:ext cx="952500" cy="247650"/>
                </a:xfrm>
                <a:custGeom>
                  <a:avLst/>
                  <a:gdLst>
                    <a:gd name="connsiteX0" fmla="*/ 38810 w 952500"/>
                    <a:gd name="connsiteY0" fmla="*/ 340 h 247650"/>
                    <a:gd name="connsiteX1" fmla="*/ 915110 w 952500"/>
                    <a:gd name="connsiteY1" fmla="*/ 340 h 247650"/>
                    <a:gd name="connsiteX2" fmla="*/ 953210 w 952500"/>
                    <a:gd name="connsiteY2" fmla="*/ 38440 h 247650"/>
                    <a:gd name="connsiteX3" fmla="*/ 953210 w 952500"/>
                    <a:gd name="connsiteY3" fmla="*/ 209890 h 247650"/>
                    <a:gd name="connsiteX4" fmla="*/ 915110 w 952500"/>
                    <a:gd name="connsiteY4" fmla="*/ 247990 h 247650"/>
                    <a:gd name="connsiteX5" fmla="*/ 38810 w 952500"/>
                    <a:gd name="connsiteY5" fmla="*/ 247990 h 247650"/>
                    <a:gd name="connsiteX6" fmla="*/ 710 w 952500"/>
                    <a:gd name="connsiteY6" fmla="*/ 209890 h 247650"/>
                    <a:gd name="connsiteX7" fmla="*/ 710 w 952500"/>
                    <a:gd name="connsiteY7" fmla="*/ 38440 h 247650"/>
                    <a:gd name="connsiteX8" fmla="*/ 38810 w 952500"/>
                    <a:gd name="connsiteY8" fmla="*/ 340 h 2476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52500" h="247650">
                      <a:moveTo>
                        <a:pt x="38810" y="340"/>
                      </a:moveTo>
                      <a:lnTo>
                        <a:pt x="915110" y="340"/>
                      </a:lnTo>
                      <a:cubicBezTo>
                        <a:pt x="936152" y="340"/>
                        <a:pt x="953210" y="17398"/>
                        <a:pt x="953210" y="38440"/>
                      </a:cubicBezTo>
                      <a:lnTo>
                        <a:pt x="953210" y="209890"/>
                      </a:lnTo>
                      <a:cubicBezTo>
                        <a:pt x="953210" y="230932"/>
                        <a:pt x="936152" y="247990"/>
                        <a:pt x="915110" y="247990"/>
                      </a:cubicBezTo>
                      <a:lnTo>
                        <a:pt x="38810" y="247990"/>
                      </a:lnTo>
                      <a:cubicBezTo>
                        <a:pt x="17768" y="247990"/>
                        <a:pt x="710" y="230932"/>
                        <a:pt x="710" y="209890"/>
                      </a:cubicBezTo>
                      <a:lnTo>
                        <a:pt x="710" y="38440"/>
                      </a:lnTo>
                      <a:cubicBezTo>
                        <a:pt x="710" y="17398"/>
                        <a:pt x="17768" y="340"/>
                        <a:pt x="38810" y="340"/>
                      </a:cubicBezTo>
                      <a:close/>
                    </a:path>
                  </a:pathLst>
                </a:custGeom>
                <a:solidFill>
                  <a:srgbClr val="DCFCE7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6" name="文本框 45"/>
                <p:cNvSpPr txBox="1"/>
                <p:nvPr/>
              </p:nvSpPr>
              <p:spPr>
                <a:xfrm>
                  <a:off x="7033260" y="3240405"/>
                  <a:ext cx="411480" cy="2438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900" b="1" spc="0" baseline="0">
                      <a:solidFill>
                        <a:srgbClr val="166534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微软雅黑" panose="020B0503020204020204" charset="-122"/>
                      <a:rtl val="0"/>
                    </a:rPr>
                    <a:t>任务</a:t>
                  </a:r>
                  <a:endParaRPr lang="zh-CN" altLang="en-US" sz="900" b="1" spc="0" baseline="0">
                    <a:solidFill>
                      <a:srgbClr val="166534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endParaRPr>
                </a:p>
              </p:txBody>
            </p:sp>
            <p:sp>
              <p:nvSpPr>
                <p:cNvPr id="47" name="文本框 46"/>
                <p:cNvSpPr txBox="1"/>
                <p:nvPr/>
              </p:nvSpPr>
              <p:spPr>
                <a:xfrm>
                  <a:off x="7719060" y="3221355"/>
                  <a:ext cx="2392680" cy="27241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1050" spc="0" baseline="0">
                      <a:solidFill>
                        <a:srgbClr val="166534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微软雅黑" panose="020B0503020204020204" charset="-122"/>
                      <a:rtl val="0"/>
                    </a:rPr>
                    <a:t>= 创建 TodoItem 实体的 CRUD 接口</a:t>
                  </a:r>
                  <a:endParaRPr lang="zh-CN" altLang="en-US" sz="1050" spc="0" baseline="0">
                    <a:solidFill>
                      <a:srgbClr val="166534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endParaRPr>
                </a:p>
              </p:txBody>
            </p:sp>
          </p:grpSp>
          <p:grpSp>
            <p:nvGrpSpPr>
              <p:cNvPr id="48" name="SVG Image 5"/>
              <p:cNvGrpSpPr/>
              <p:nvPr/>
            </p:nvGrpSpPr>
            <p:grpSpPr>
              <a:xfrm>
                <a:off x="6762750" y="3571875"/>
                <a:ext cx="3124200" cy="247650"/>
                <a:chOff x="6762750" y="3571875"/>
                <a:chExt cx="3124200" cy="247650"/>
              </a:xfrm>
            </p:grpSpPr>
            <p:sp>
              <p:nvSpPr>
                <p:cNvPr id="49" name="任意多边形: 形状 48"/>
                <p:cNvSpPr/>
                <p:nvPr/>
              </p:nvSpPr>
              <p:spPr>
                <a:xfrm>
                  <a:off x="6762750" y="3571875"/>
                  <a:ext cx="952500" cy="247650"/>
                </a:xfrm>
                <a:custGeom>
                  <a:avLst/>
                  <a:gdLst>
                    <a:gd name="connsiteX0" fmla="*/ 38810 w 952500"/>
                    <a:gd name="connsiteY0" fmla="*/ 375 h 247650"/>
                    <a:gd name="connsiteX1" fmla="*/ 915110 w 952500"/>
                    <a:gd name="connsiteY1" fmla="*/ 375 h 247650"/>
                    <a:gd name="connsiteX2" fmla="*/ 953210 w 952500"/>
                    <a:gd name="connsiteY2" fmla="*/ 38475 h 247650"/>
                    <a:gd name="connsiteX3" fmla="*/ 953210 w 952500"/>
                    <a:gd name="connsiteY3" fmla="*/ 209925 h 247650"/>
                    <a:gd name="connsiteX4" fmla="*/ 915110 w 952500"/>
                    <a:gd name="connsiteY4" fmla="*/ 248025 h 247650"/>
                    <a:gd name="connsiteX5" fmla="*/ 38810 w 952500"/>
                    <a:gd name="connsiteY5" fmla="*/ 248025 h 247650"/>
                    <a:gd name="connsiteX6" fmla="*/ 710 w 952500"/>
                    <a:gd name="connsiteY6" fmla="*/ 209925 h 247650"/>
                    <a:gd name="connsiteX7" fmla="*/ 710 w 952500"/>
                    <a:gd name="connsiteY7" fmla="*/ 38475 h 247650"/>
                    <a:gd name="connsiteX8" fmla="*/ 38810 w 952500"/>
                    <a:gd name="connsiteY8" fmla="*/ 375 h 2476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52500" h="247650">
                      <a:moveTo>
                        <a:pt x="38810" y="375"/>
                      </a:moveTo>
                      <a:lnTo>
                        <a:pt x="915110" y="375"/>
                      </a:lnTo>
                      <a:cubicBezTo>
                        <a:pt x="936152" y="375"/>
                        <a:pt x="953210" y="17433"/>
                        <a:pt x="953210" y="38475"/>
                      </a:cubicBezTo>
                      <a:lnTo>
                        <a:pt x="953210" y="209925"/>
                      </a:lnTo>
                      <a:cubicBezTo>
                        <a:pt x="953210" y="230967"/>
                        <a:pt x="936152" y="248025"/>
                        <a:pt x="915110" y="248025"/>
                      </a:cubicBezTo>
                      <a:lnTo>
                        <a:pt x="38810" y="248025"/>
                      </a:lnTo>
                      <a:cubicBezTo>
                        <a:pt x="17768" y="248025"/>
                        <a:pt x="710" y="230967"/>
                        <a:pt x="710" y="209925"/>
                      </a:cubicBezTo>
                      <a:lnTo>
                        <a:pt x="710" y="38475"/>
                      </a:lnTo>
                      <a:cubicBezTo>
                        <a:pt x="710" y="17433"/>
                        <a:pt x="17768" y="375"/>
                        <a:pt x="38810" y="375"/>
                      </a:cubicBezTo>
                      <a:close/>
                    </a:path>
                  </a:pathLst>
                </a:custGeom>
                <a:solidFill>
                  <a:srgbClr val="DCFCE7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0" name="文本框 49"/>
                <p:cNvSpPr txBox="1"/>
                <p:nvPr/>
              </p:nvSpPr>
              <p:spPr>
                <a:xfrm>
                  <a:off x="7033260" y="3573780"/>
                  <a:ext cx="411480" cy="2438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900" b="1" spc="0" baseline="0">
                      <a:solidFill>
                        <a:srgbClr val="166534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微软雅黑" panose="020B0503020204020204" charset="-122"/>
                      <a:rtl val="0"/>
                    </a:rPr>
                    <a:t>约束</a:t>
                  </a:r>
                  <a:endParaRPr lang="zh-CN" altLang="en-US" sz="900" b="1" spc="0" baseline="0">
                    <a:solidFill>
                      <a:srgbClr val="166534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endParaRPr>
                </a:p>
              </p:txBody>
            </p:sp>
            <p:sp>
              <p:nvSpPr>
                <p:cNvPr id="51" name="文本框 50"/>
                <p:cNvSpPr txBox="1"/>
                <p:nvPr/>
              </p:nvSpPr>
              <p:spPr>
                <a:xfrm>
                  <a:off x="7719060" y="3554730"/>
                  <a:ext cx="2259330" cy="27241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1050" spc="0" baseline="0">
                      <a:solidFill>
                        <a:srgbClr val="166534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微软雅黑" panose="020B0503020204020204" charset="-122"/>
                      <a:rtl val="0"/>
                    </a:rPr>
                    <a:t>= 字段验证 + 中文注释 + 异常处理</a:t>
                  </a:r>
                  <a:endParaRPr lang="zh-CN" altLang="en-US" sz="1050" spc="0" baseline="0">
                    <a:solidFill>
                      <a:srgbClr val="166534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endParaRPr>
                </a:p>
              </p:txBody>
            </p:sp>
          </p:grpSp>
          <p:sp>
            <p:nvSpPr>
              <p:cNvPr id="52" name="任意多边形: 形状 51"/>
              <p:cNvSpPr/>
              <p:nvPr/>
            </p:nvSpPr>
            <p:spPr>
              <a:xfrm>
                <a:off x="6762750" y="4000500"/>
                <a:ext cx="4381500" cy="9525"/>
              </a:xfrm>
              <a:custGeom>
                <a:avLst/>
                <a:gdLst>
                  <a:gd name="connsiteX0" fmla="*/ 710 w 4381500"/>
                  <a:gd name="connsiteY0" fmla="*/ 270 h 9525"/>
                  <a:gd name="connsiteX1" fmla="*/ 4382210 w 4381500"/>
                  <a:gd name="connsiteY1" fmla="*/ 27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381500" h="9525">
                    <a:moveTo>
                      <a:pt x="710" y="270"/>
                    </a:moveTo>
                    <a:lnTo>
                      <a:pt x="4382210" y="270"/>
                    </a:lnTo>
                  </a:path>
                </a:pathLst>
              </a:custGeom>
              <a:ln w="9525" cap="flat">
                <a:solidFill>
                  <a:srgbClr val="BBF7D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53" name="SVG Image 5"/>
              <p:cNvGrpSpPr/>
              <p:nvPr/>
            </p:nvGrpSpPr>
            <p:grpSpPr>
              <a:xfrm>
                <a:off x="6762750" y="4191000"/>
                <a:ext cx="4381500" cy="762000"/>
                <a:chOff x="6762750" y="4191000"/>
                <a:chExt cx="4381500" cy="762000"/>
              </a:xfrm>
            </p:grpSpPr>
            <p:sp>
              <p:nvSpPr>
                <p:cNvPr id="54" name="任意多边形: 形状 53"/>
                <p:cNvSpPr/>
                <p:nvPr/>
              </p:nvSpPr>
              <p:spPr>
                <a:xfrm>
                  <a:off x="6762750" y="4191000"/>
                  <a:ext cx="4381500" cy="762000"/>
                </a:xfrm>
                <a:custGeom>
                  <a:avLst/>
                  <a:gdLst>
                    <a:gd name="connsiteX0" fmla="*/ 76910 w 4381500"/>
                    <a:gd name="connsiteY0" fmla="*/ 440 h 762000"/>
                    <a:gd name="connsiteX1" fmla="*/ 4306010 w 4381500"/>
                    <a:gd name="connsiteY1" fmla="*/ 440 h 762000"/>
                    <a:gd name="connsiteX2" fmla="*/ 4382210 w 4381500"/>
                    <a:gd name="connsiteY2" fmla="*/ 76640 h 762000"/>
                    <a:gd name="connsiteX3" fmla="*/ 4382210 w 4381500"/>
                    <a:gd name="connsiteY3" fmla="*/ 686240 h 762000"/>
                    <a:gd name="connsiteX4" fmla="*/ 4306010 w 4381500"/>
                    <a:gd name="connsiteY4" fmla="*/ 762440 h 762000"/>
                    <a:gd name="connsiteX5" fmla="*/ 76910 w 4381500"/>
                    <a:gd name="connsiteY5" fmla="*/ 762440 h 762000"/>
                    <a:gd name="connsiteX6" fmla="*/ 710 w 4381500"/>
                    <a:gd name="connsiteY6" fmla="*/ 686240 h 762000"/>
                    <a:gd name="connsiteX7" fmla="*/ 710 w 4381500"/>
                    <a:gd name="connsiteY7" fmla="*/ 76640 h 762000"/>
                    <a:gd name="connsiteX8" fmla="*/ 76910 w 4381500"/>
                    <a:gd name="connsiteY8" fmla="*/ 440 h 762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381500" h="762000">
                      <a:moveTo>
                        <a:pt x="76910" y="440"/>
                      </a:moveTo>
                      <a:lnTo>
                        <a:pt x="4306010" y="440"/>
                      </a:lnTo>
                      <a:cubicBezTo>
                        <a:pt x="4348094" y="440"/>
                        <a:pt x="4382210" y="34556"/>
                        <a:pt x="4382210" y="76640"/>
                      </a:cubicBezTo>
                      <a:lnTo>
                        <a:pt x="4382210" y="686240"/>
                      </a:lnTo>
                      <a:cubicBezTo>
                        <a:pt x="4382210" y="728324"/>
                        <a:pt x="4348094" y="762440"/>
                        <a:pt x="4306010" y="762440"/>
                      </a:cubicBezTo>
                      <a:lnTo>
                        <a:pt x="76910" y="762440"/>
                      </a:lnTo>
                      <a:cubicBezTo>
                        <a:pt x="34826" y="762440"/>
                        <a:pt x="710" y="728324"/>
                        <a:pt x="710" y="686240"/>
                      </a:cubicBezTo>
                      <a:lnTo>
                        <a:pt x="710" y="76640"/>
                      </a:lnTo>
                      <a:cubicBezTo>
                        <a:pt x="710" y="34556"/>
                        <a:pt x="34826" y="440"/>
                        <a:pt x="76910" y="440"/>
                      </a:cubicBezTo>
                      <a:close/>
                    </a:path>
                  </a:pathLst>
                </a:custGeom>
                <a:solidFill>
                  <a:srgbClr val="DCFCE7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" name="文本框 54"/>
                <p:cNvSpPr txBox="1"/>
                <p:nvPr/>
              </p:nvSpPr>
              <p:spPr>
                <a:xfrm>
                  <a:off x="8566785" y="4288155"/>
                  <a:ext cx="773430" cy="27241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1050" b="1" spc="0" baseline="0">
                      <a:solidFill>
                        <a:srgbClr val="166534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微软雅黑" panose="020B0503020204020204" charset="-122"/>
                      <a:rtl val="0"/>
                    </a:rPr>
                    <a:t>AI 返回：</a:t>
                  </a:r>
                  <a:endParaRPr lang="zh-CN" altLang="en-US" sz="1050" b="1" spc="0" baseline="0">
                    <a:solidFill>
                      <a:srgbClr val="166534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endParaRPr>
                </a:p>
              </p:txBody>
            </p:sp>
            <p:sp>
              <p:nvSpPr>
                <p:cNvPr id="56" name="文本框 55"/>
                <p:cNvSpPr txBox="1"/>
                <p:nvPr/>
              </p:nvSpPr>
              <p:spPr>
                <a:xfrm>
                  <a:off x="7423785" y="4535805"/>
                  <a:ext cx="3059430" cy="2533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975" spc="0" baseline="0">
                      <a:solidFill>
                        <a:srgbClr val="166534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微软雅黑" panose="020B0503020204020204" charset="-122"/>
                      <a:rtl val="0"/>
                    </a:rPr>
                    <a:t>完整的 Entity + Repository + Service + Controller</a:t>
                  </a:r>
                  <a:endParaRPr lang="zh-CN" altLang="en-US" sz="975" spc="0" baseline="0">
                    <a:solidFill>
                      <a:srgbClr val="166534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endParaRPr>
                </a:p>
              </p:txBody>
            </p:sp>
          </p:grpSp>
          <p:sp>
            <p:nvSpPr>
              <p:cNvPr id="57" name="文本框 56"/>
              <p:cNvSpPr txBox="1"/>
              <p:nvPr/>
            </p:nvSpPr>
            <p:spPr>
              <a:xfrm>
                <a:off x="6671310" y="4954905"/>
                <a:ext cx="2087880" cy="2724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50" spc="0" baseline="0">
                    <a:solidFill>
                      <a:srgbClr val="166534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→ 像给实习生布置任务一样详细</a:t>
                </a:r>
                <a:endParaRPr lang="zh-CN" altLang="en-US" sz="1050" spc="0" baseline="0">
                  <a:solidFill>
                    <a:srgbClr val="166534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</p:grpSp>
      </p:grpSp>
      <p:grpSp>
        <p:nvGrpSpPr>
          <p:cNvPr id="58" name="SVG Image 5"/>
          <p:cNvGrpSpPr/>
          <p:nvPr/>
        </p:nvGrpSpPr>
        <p:grpSpPr>
          <a:xfrm>
            <a:off x="2762250" y="6238875"/>
            <a:ext cx="6667500" cy="476250"/>
            <a:chOff x="2762250" y="6238875"/>
            <a:chExt cx="6667500" cy="476250"/>
          </a:xfrm>
        </p:grpSpPr>
        <p:sp>
          <p:nvSpPr>
            <p:cNvPr id="59" name="任意多边形: 形状 58"/>
            <p:cNvSpPr/>
            <p:nvPr/>
          </p:nvSpPr>
          <p:spPr>
            <a:xfrm>
              <a:off x="2762250" y="6238875"/>
              <a:ext cx="6667500" cy="476250"/>
            </a:xfrm>
            <a:custGeom>
              <a:avLst/>
              <a:gdLst>
                <a:gd name="connsiteX0" fmla="*/ 76840 w 6667500"/>
                <a:gd name="connsiteY0" fmla="*/ 680 h 476250"/>
                <a:gd name="connsiteX1" fmla="*/ 6591940 w 6667500"/>
                <a:gd name="connsiteY1" fmla="*/ 680 h 476250"/>
                <a:gd name="connsiteX2" fmla="*/ 6668140 w 6667500"/>
                <a:gd name="connsiteY2" fmla="*/ 76880 h 476250"/>
                <a:gd name="connsiteX3" fmla="*/ 6668140 w 6667500"/>
                <a:gd name="connsiteY3" fmla="*/ 400730 h 476250"/>
                <a:gd name="connsiteX4" fmla="*/ 6591940 w 6667500"/>
                <a:gd name="connsiteY4" fmla="*/ 476930 h 476250"/>
                <a:gd name="connsiteX5" fmla="*/ 76840 w 6667500"/>
                <a:gd name="connsiteY5" fmla="*/ 476930 h 476250"/>
                <a:gd name="connsiteX6" fmla="*/ 640 w 6667500"/>
                <a:gd name="connsiteY6" fmla="*/ 400730 h 476250"/>
                <a:gd name="connsiteX7" fmla="*/ 640 w 6667500"/>
                <a:gd name="connsiteY7" fmla="*/ 76880 h 476250"/>
                <a:gd name="connsiteX8" fmla="*/ 76840 w 6667500"/>
                <a:gd name="connsiteY8" fmla="*/ 68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67500" h="476250">
                  <a:moveTo>
                    <a:pt x="76840" y="680"/>
                  </a:moveTo>
                  <a:lnTo>
                    <a:pt x="6591940" y="680"/>
                  </a:lnTo>
                  <a:cubicBezTo>
                    <a:pt x="6634024" y="680"/>
                    <a:pt x="6668140" y="34796"/>
                    <a:pt x="6668140" y="76880"/>
                  </a:cubicBezTo>
                  <a:lnTo>
                    <a:pt x="6668140" y="400730"/>
                  </a:lnTo>
                  <a:cubicBezTo>
                    <a:pt x="6668140" y="442814"/>
                    <a:pt x="6634024" y="476930"/>
                    <a:pt x="6591940" y="476930"/>
                  </a:cubicBezTo>
                  <a:lnTo>
                    <a:pt x="76840" y="476930"/>
                  </a:lnTo>
                  <a:cubicBezTo>
                    <a:pt x="34756" y="476930"/>
                    <a:pt x="640" y="442814"/>
                    <a:pt x="640" y="400730"/>
                  </a:cubicBezTo>
                  <a:lnTo>
                    <a:pt x="640" y="76880"/>
                  </a:lnTo>
                  <a:cubicBezTo>
                    <a:pt x="640" y="34796"/>
                    <a:pt x="34756" y="680"/>
                    <a:pt x="76840" y="680"/>
                  </a:cubicBezTo>
                  <a:close/>
                </a:path>
              </a:pathLst>
            </a:custGeom>
            <a:solidFill>
              <a:srgbClr val="1E3A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4699635" y="6316980"/>
              <a:ext cx="2792730" cy="2914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黄金法则：</a:t>
              </a:r>
              <a:r>
                <a:rPr lang="zh-CN" altLang="en-US" sz="1200" b="1" spc="0" baseline="0">
                  <a:solidFill>
                    <a:srgbClr val="22D3EE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角色 + 背景 + 任务 + 约束</a:t>
              </a:r>
              <a:endParaRPr lang="zh-CN" altLang="en-US" sz="1200" b="1" spc="0" baseline="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DBEAFE"/>
              </a:gs>
              <a:gs pos="50000">
                <a:srgbClr val="DDE8FE"/>
              </a:gs>
              <a:gs pos="100000">
                <a:srgbClr val="E0E7FF"/>
              </a:gs>
            </a:gsLst>
            <a:lin ang="27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" name="任意多边形: 形状 4"/>
          <p:cNvSpPr/>
          <p:nvPr/>
        </p:nvSpPr>
        <p:spPr>
          <a:xfrm>
            <a:off x="0" y="0"/>
            <a:ext cx="12192000" cy="76200"/>
          </a:xfrm>
          <a:custGeom>
            <a:avLst/>
            <a:gdLst>
              <a:gd name="connsiteX0" fmla="*/ 0 w 12192000"/>
              <a:gd name="connsiteY0" fmla="*/ 0 h 76200"/>
              <a:gd name="connsiteX1" fmla="*/ 12192000 w 12192000"/>
              <a:gd name="connsiteY1" fmla="*/ 0 h 76200"/>
              <a:gd name="connsiteX2" fmla="*/ 12192000 w 12192000"/>
              <a:gd name="connsiteY2" fmla="*/ 76200 h 76200"/>
              <a:gd name="connsiteX3" fmla="*/ 0 w 12192000"/>
              <a:gd name="connsiteY3" fmla="*/ 76200 h 7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76200">
                <a:moveTo>
                  <a:pt x="0" y="0"/>
                </a:moveTo>
                <a:lnTo>
                  <a:pt x="12192000" y="0"/>
                </a:lnTo>
                <a:lnTo>
                  <a:pt x="1219200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1E3A5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651885" y="201930"/>
            <a:ext cx="4888230" cy="615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150" b="1" spc="0" baseline="0">
                <a:solidFill>
                  <a:srgbClr val="1E3A5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rPr>
              <a:t>掌控 AI 的"分而治之"策略</a:t>
            </a:r>
            <a:endParaRPr lang="zh-CN" altLang="en-US" sz="3150" b="1" spc="0" baseline="0">
              <a:solidFill>
                <a:srgbClr val="1E3A5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  <a:rtl val="0"/>
            </a:endParaRPr>
          </a:p>
        </p:txBody>
      </p:sp>
      <p:sp>
        <p:nvSpPr>
          <p:cNvPr id="7" name="任意多边形: 形状 6"/>
          <p:cNvSpPr/>
          <p:nvPr/>
        </p:nvSpPr>
        <p:spPr>
          <a:xfrm>
            <a:off x="5143500" y="904875"/>
            <a:ext cx="1905000" cy="28575"/>
          </a:xfrm>
          <a:custGeom>
            <a:avLst/>
            <a:gdLst>
              <a:gd name="connsiteX0" fmla="*/ 0 w 1905000"/>
              <a:gd name="connsiteY0" fmla="*/ 0 h 28575"/>
              <a:gd name="connsiteX1" fmla="*/ 1905000 w 1905000"/>
              <a:gd name="connsiteY1" fmla="*/ 0 h 28575"/>
              <a:gd name="connsiteX2" fmla="*/ 1905000 w 1905000"/>
              <a:gd name="connsiteY2" fmla="*/ 28575 h 28575"/>
              <a:gd name="connsiteX3" fmla="*/ 0 w 1905000"/>
              <a:gd name="connsiteY3" fmla="*/ 28575 h 28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5000" h="28575">
                <a:moveTo>
                  <a:pt x="0" y="0"/>
                </a:moveTo>
                <a:lnTo>
                  <a:pt x="1905000" y="0"/>
                </a:lnTo>
                <a:lnTo>
                  <a:pt x="1905000" y="28575"/>
                </a:lnTo>
                <a:lnTo>
                  <a:pt x="0" y="28575"/>
                </a:lnTo>
                <a:close/>
              </a:path>
            </a:pathLst>
          </a:custGeom>
          <a:solidFill>
            <a:srgbClr val="22D3E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551997" y="1021080"/>
            <a:ext cx="3088005" cy="367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50" spc="0" baseline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rPr>
              <a:t>关键实践 II：迭代策略与上下文</a:t>
            </a:r>
            <a:endParaRPr lang="zh-CN" altLang="en-US" sz="1650" spc="0" baseline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  <a:rtl val="0"/>
            </a:endParaRPr>
          </a:p>
        </p:txBody>
      </p:sp>
      <p:grpSp>
        <p:nvGrpSpPr>
          <p:cNvPr id="9" name="SVG Image 6"/>
          <p:cNvGrpSpPr/>
          <p:nvPr/>
        </p:nvGrpSpPr>
        <p:grpSpPr>
          <a:xfrm>
            <a:off x="1333500" y="1714500"/>
            <a:ext cx="9525000" cy="476250"/>
            <a:chOff x="1333500" y="1714500"/>
            <a:chExt cx="9525000" cy="476250"/>
          </a:xfrm>
        </p:grpSpPr>
        <p:sp>
          <p:nvSpPr>
            <p:cNvPr id="10" name="任意多边形: 形状 9"/>
            <p:cNvSpPr/>
            <p:nvPr/>
          </p:nvSpPr>
          <p:spPr>
            <a:xfrm>
              <a:off x="1333500" y="1714500"/>
              <a:ext cx="9525000" cy="476250"/>
            </a:xfrm>
            <a:custGeom>
              <a:avLst/>
              <a:gdLst>
                <a:gd name="connsiteX0" fmla="*/ 76840 w 9525000"/>
                <a:gd name="connsiteY0" fmla="*/ 180 h 476250"/>
                <a:gd name="connsiteX1" fmla="*/ 9449440 w 9525000"/>
                <a:gd name="connsiteY1" fmla="*/ 180 h 476250"/>
                <a:gd name="connsiteX2" fmla="*/ 9525640 w 9525000"/>
                <a:gd name="connsiteY2" fmla="*/ 76380 h 476250"/>
                <a:gd name="connsiteX3" fmla="*/ 9525640 w 9525000"/>
                <a:gd name="connsiteY3" fmla="*/ 400230 h 476250"/>
                <a:gd name="connsiteX4" fmla="*/ 9449440 w 9525000"/>
                <a:gd name="connsiteY4" fmla="*/ 476430 h 476250"/>
                <a:gd name="connsiteX5" fmla="*/ 76840 w 9525000"/>
                <a:gd name="connsiteY5" fmla="*/ 476430 h 476250"/>
                <a:gd name="connsiteX6" fmla="*/ 640 w 9525000"/>
                <a:gd name="connsiteY6" fmla="*/ 400230 h 476250"/>
                <a:gd name="connsiteX7" fmla="*/ 640 w 9525000"/>
                <a:gd name="connsiteY7" fmla="*/ 76380 h 476250"/>
                <a:gd name="connsiteX8" fmla="*/ 76840 w 9525000"/>
                <a:gd name="connsiteY8" fmla="*/ 18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25000" h="476250">
                  <a:moveTo>
                    <a:pt x="76840" y="180"/>
                  </a:moveTo>
                  <a:lnTo>
                    <a:pt x="9449440" y="180"/>
                  </a:lnTo>
                  <a:cubicBezTo>
                    <a:pt x="9491524" y="180"/>
                    <a:pt x="9525640" y="34296"/>
                    <a:pt x="9525640" y="76380"/>
                  </a:cubicBezTo>
                  <a:lnTo>
                    <a:pt x="9525640" y="400230"/>
                  </a:lnTo>
                  <a:cubicBezTo>
                    <a:pt x="9525640" y="442314"/>
                    <a:pt x="9491524" y="476430"/>
                    <a:pt x="9449440" y="476430"/>
                  </a:cubicBezTo>
                  <a:lnTo>
                    <a:pt x="76840" y="476430"/>
                  </a:lnTo>
                  <a:cubicBezTo>
                    <a:pt x="34756" y="476430"/>
                    <a:pt x="640" y="442314"/>
                    <a:pt x="640" y="400230"/>
                  </a:cubicBezTo>
                  <a:lnTo>
                    <a:pt x="640" y="76380"/>
                  </a:lnTo>
                  <a:cubicBezTo>
                    <a:pt x="640" y="34296"/>
                    <a:pt x="34756" y="180"/>
                    <a:pt x="76840" y="180"/>
                  </a:cubicBezTo>
                  <a:close/>
                </a:path>
              </a:pathLst>
            </a:custGeom>
            <a:solidFill>
              <a:srgbClr val="FEF2F2"/>
            </a:solidFill>
            <a:ln w="19050" cap="flat">
              <a:solidFill>
                <a:srgbClr val="DC262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3770947" y="1792605"/>
              <a:ext cx="4650105" cy="3200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350" b="1" spc="0" baseline="0">
                  <a:solidFill>
                    <a:srgbClr val="DC2626"/>
                  </a:solidFill>
                  <a:latin typeface="Segoe UI Emoji" panose="020B0502040204020203"/>
                  <a:sym typeface="Segoe UI Emoji" panose="020B0502040204020203"/>
                  <a:rtl val="0"/>
                </a:rPr>
                <a:t>⚠️</a:t>
              </a:r>
              <a:r>
                <a:rPr lang="zh-CN" altLang="en-US" sz="1350" b="1" spc="0" baseline="0">
                  <a:solidFill>
                    <a:srgbClr val="DC2626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 禁止一次性生成整个项目！采用模块化构建 + 分而治之</a:t>
              </a:r>
              <a:endParaRPr lang="zh-CN" altLang="en-US" sz="1350" b="1" spc="0" baseline="0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</p:grpSp>
      <p:grpSp>
        <p:nvGrpSpPr>
          <p:cNvPr id="12" name="SVG Image 6"/>
          <p:cNvGrpSpPr/>
          <p:nvPr/>
        </p:nvGrpSpPr>
        <p:grpSpPr>
          <a:xfrm>
            <a:off x="952500" y="2476500"/>
            <a:ext cx="10572750" cy="1714500"/>
            <a:chOff x="952500" y="2476500"/>
            <a:chExt cx="10572750" cy="1714500"/>
          </a:xfrm>
        </p:grpSpPr>
        <p:grpSp>
          <p:nvGrpSpPr>
            <p:cNvPr id="13" name="SVG Image 6"/>
            <p:cNvGrpSpPr/>
            <p:nvPr/>
          </p:nvGrpSpPr>
          <p:grpSpPr>
            <a:xfrm>
              <a:off x="952500" y="2476500"/>
              <a:ext cx="2286000" cy="1714500"/>
              <a:chOff x="952500" y="2476500"/>
              <a:chExt cx="2286000" cy="1714500"/>
            </a:xfrm>
          </p:grpSpPr>
          <p:sp>
            <p:nvSpPr>
              <p:cNvPr id="14" name="任意多边形: 形状 13"/>
              <p:cNvSpPr/>
              <p:nvPr/>
            </p:nvSpPr>
            <p:spPr>
              <a:xfrm>
                <a:off x="952500" y="2476500"/>
                <a:ext cx="2286000" cy="1714500"/>
              </a:xfrm>
              <a:custGeom>
                <a:avLst/>
                <a:gdLst>
                  <a:gd name="connsiteX0" fmla="*/ 114400 w 2286000"/>
                  <a:gd name="connsiteY0" fmla="*/ 260 h 1714500"/>
                  <a:gd name="connsiteX1" fmla="*/ 2171800 w 2286000"/>
                  <a:gd name="connsiteY1" fmla="*/ 260 h 1714500"/>
                  <a:gd name="connsiteX2" fmla="*/ 2286100 w 2286000"/>
                  <a:gd name="connsiteY2" fmla="*/ 114560 h 1714500"/>
                  <a:gd name="connsiteX3" fmla="*/ 2286100 w 2286000"/>
                  <a:gd name="connsiteY3" fmla="*/ 1600460 h 1714500"/>
                  <a:gd name="connsiteX4" fmla="*/ 2171800 w 2286000"/>
                  <a:gd name="connsiteY4" fmla="*/ 1714760 h 1714500"/>
                  <a:gd name="connsiteX5" fmla="*/ 114400 w 2286000"/>
                  <a:gd name="connsiteY5" fmla="*/ 1714760 h 1714500"/>
                  <a:gd name="connsiteX6" fmla="*/ 100 w 2286000"/>
                  <a:gd name="connsiteY6" fmla="*/ 1600460 h 1714500"/>
                  <a:gd name="connsiteX7" fmla="*/ 100 w 2286000"/>
                  <a:gd name="connsiteY7" fmla="*/ 114560 h 1714500"/>
                  <a:gd name="connsiteX8" fmla="*/ 114400 w 2286000"/>
                  <a:gd name="connsiteY8" fmla="*/ 260 h 1714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86000" h="1714500">
                    <a:moveTo>
                      <a:pt x="114400" y="260"/>
                    </a:moveTo>
                    <a:lnTo>
                      <a:pt x="2171800" y="260"/>
                    </a:lnTo>
                    <a:cubicBezTo>
                      <a:pt x="2234926" y="260"/>
                      <a:pt x="2286100" y="51434"/>
                      <a:pt x="2286100" y="114560"/>
                    </a:cubicBezTo>
                    <a:lnTo>
                      <a:pt x="2286100" y="1600460"/>
                    </a:lnTo>
                    <a:cubicBezTo>
                      <a:pt x="2286100" y="1663586"/>
                      <a:pt x="2234926" y="1714760"/>
                      <a:pt x="2171800" y="1714760"/>
                    </a:cubicBezTo>
                    <a:lnTo>
                      <a:pt x="114400" y="1714760"/>
                    </a:lnTo>
                    <a:cubicBezTo>
                      <a:pt x="51274" y="1714760"/>
                      <a:pt x="100" y="1663586"/>
                      <a:pt x="100" y="1600460"/>
                    </a:cubicBezTo>
                    <a:lnTo>
                      <a:pt x="100" y="114560"/>
                    </a:lnTo>
                    <a:cubicBezTo>
                      <a:pt x="100" y="51434"/>
                      <a:pt x="51274" y="260"/>
                      <a:pt x="114400" y="26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flat">
                <a:solidFill>
                  <a:srgbClr val="22D3EE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" name="任意多边形: 形状 14"/>
              <p:cNvSpPr/>
              <p:nvPr/>
            </p:nvSpPr>
            <p:spPr>
              <a:xfrm>
                <a:off x="952500" y="2476500"/>
                <a:ext cx="476250" cy="285750"/>
              </a:xfrm>
              <a:custGeom>
                <a:avLst/>
                <a:gdLst>
                  <a:gd name="connsiteX0" fmla="*/ 57250 w 476250"/>
                  <a:gd name="connsiteY0" fmla="*/ 260 h 285750"/>
                  <a:gd name="connsiteX1" fmla="*/ 419200 w 476250"/>
                  <a:gd name="connsiteY1" fmla="*/ 260 h 285750"/>
                  <a:gd name="connsiteX2" fmla="*/ 476350 w 476250"/>
                  <a:gd name="connsiteY2" fmla="*/ 57410 h 285750"/>
                  <a:gd name="connsiteX3" fmla="*/ 476350 w 476250"/>
                  <a:gd name="connsiteY3" fmla="*/ 228860 h 285750"/>
                  <a:gd name="connsiteX4" fmla="*/ 419200 w 476250"/>
                  <a:gd name="connsiteY4" fmla="*/ 286010 h 285750"/>
                  <a:gd name="connsiteX5" fmla="*/ 57250 w 476250"/>
                  <a:gd name="connsiteY5" fmla="*/ 286010 h 285750"/>
                  <a:gd name="connsiteX6" fmla="*/ 100 w 476250"/>
                  <a:gd name="connsiteY6" fmla="*/ 228860 h 285750"/>
                  <a:gd name="connsiteX7" fmla="*/ 100 w 476250"/>
                  <a:gd name="connsiteY7" fmla="*/ 57410 h 285750"/>
                  <a:gd name="connsiteX8" fmla="*/ 57250 w 476250"/>
                  <a:gd name="connsiteY8" fmla="*/ 26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76250" h="285750">
                    <a:moveTo>
                      <a:pt x="57250" y="260"/>
                    </a:moveTo>
                    <a:lnTo>
                      <a:pt x="419200" y="260"/>
                    </a:lnTo>
                    <a:cubicBezTo>
                      <a:pt x="450763" y="260"/>
                      <a:pt x="476350" y="25847"/>
                      <a:pt x="476350" y="57410"/>
                    </a:cubicBezTo>
                    <a:lnTo>
                      <a:pt x="476350" y="228860"/>
                    </a:lnTo>
                    <a:cubicBezTo>
                      <a:pt x="476350" y="260423"/>
                      <a:pt x="450763" y="286010"/>
                      <a:pt x="419200" y="286010"/>
                    </a:cubicBezTo>
                    <a:lnTo>
                      <a:pt x="57250" y="286010"/>
                    </a:lnTo>
                    <a:cubicBezTo>
                      <a:pt x="25687" y="286010"/>
                      <a:pt x="100" y="260423"/>
                      <a:pt x="100" y="228860"/>
                    </a:cubicBezTo>
                    <a:lnTo>
                      <a:pt x="100" y="57410"/>
                    </a:lnTo>
                    <a:cubicBezTo>
                      <a:pt x="100" y="25847"/>
                      <a:pt x="25687" y="260"/>
                      <a:pt x="57250" y="260"/>
                    </a:cubicBezTo>
                    <a:close/>
                  </a:path>
                </a:pathLst>
              </a:custGeom>
              <a:solidFill>
                <a:srgbClr val="22D3E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1061085" y="2497455"/>
                <a:ext cx="259080" cy="2438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50" b="1" spc="0" baseline="0">
                    <a:solidFill>
                      <a:srgbClr val="FFFFFF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  <a:rtl val="0"/>
                  </a:rPr>
                  <a:t>1</a:t>
                </a:r>
                <a:endParaRPr lang="zh-CN" altLang="en-US" sz="1050" b="1" spc="0" baseline="0">
                  <a:solidFill>
                    <a:srgbClr val="FFFFFF"/>
                  </a:solidFill>
                  <a:latin typeface="Arial" panose="020B0604020202020204"/>
                  <a:cs typeface="Arial" panose="020B0604020202020204"/>
                  <a:sym typeface="Arial" panose="020B0604020202020204"/>
                  <a:rtl val="0"/>
                </a:endParaRPr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1527810" y="2802255"/>
                <a:ext cx="1135380" cy="3390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500" b="1" spc="0" baseline="0">
                    <a:solidFill>
                      <a:srgbClr val="1E3A5F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数据库结构</a:t>
                </a:r>
                <a:endParaRPr lang="zh-CN" altLang="en-US" sz="1500" b="1" spc="0" baseline="0">
                  <a:solidFill>
                    <a:srgbClr val="1E3A5F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1813560" y="3040380"/>
                <a:ext cx="563880" cy="3390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500" b="1" spc="0" baseline="0">
                    <a:solidFill>
                      <a:srgbClr val="1E3A5F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先行</a:t>
                </a:r>
                <a:endParaRPr lang="zh-CN" altLang="en-US" sz="1500" b="1" spc="0" baseline="0">
                  <a:solidFill>
                    <a:srgbClr val="1E3A5F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  <p:sp>
            <p:nvSpPr>
              <p:cNvPr id="19" name="任意多边形: 形状 18"/>
              <p:cNvSpPr/>
              <p:nvPr/>
            </p:nvSpPr>
            <p:spPr>
              <a:xfrm>
                <a:off x="1857375" y="3429000"/>
                <a:ext cx="476250" cy="476250"/>
              </a:xfrm>
              <a:custGeom>
                <a:avLst/>
                <a:gdLst>
                  <a:gd name="connsiteX0" fmla="*/ 476350 w 476250"/>
                  <a:gd name="connsiteY0" fmla="*/ 238385 h 476250"/>
                  <a:gd name="connsiteX1" fmla="*/ 238225 w 476250"/>
                  <a:gd name="connsiteY1" fmla="*/ 476510 h 476250"/>
                  <a:gd name="connsiteX2" fmla="*/ 100 w 476250"/>
                  <a:gd name="connsiteY2" fmla="*/ 238385 h 476250"/>
                  <a:gd name="connsiteX3" fmla="*/ 238225 w 476250"/>
                  <a:gd name="connsiteY3" fmla="*/ 260 h 476250"/>
                  <a:gd name="connsiteX4" fmla="*/ 476350 w 476250"/>
                  <a:gd name="connsiteY4" fmla="*/ 238385 h 476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0" h="476250">
                    <a:moveTo>
                      <a:pt x="476350" y="238385"/>
                    </a:moveTo>
                    <a:cubicBezTo>
                      <a:pt x="476350" y="369898"/>
                      <a:pt x="369738" y="476510"/>
                      <a:pt x="238225" y="476510"/>
                    </a:cubicBezTo>
                    <a:cubicBezTo>
                      <a:pt x="106712" y="476510"/>
                      <a:pt x="100" y="369898"/>
                      <a:pt x="100" y="238385"/>
                    </a:cubicBezTo>
                    <a:cubicBezTo>
                      <a:pt x="100" y="106872"/>
                      <a:pt x="106712" y="260"/>
                      <a:pt x="238225" y="260"/>
                    </a:cubicBezTo>
                    <a:cubicBezTo>
                      <a:pt x="369738" y="260"/>
                      <a:pt x="476350" y="106872"/>
                      <a:pt x="476350" y="238385"/>
                    </a:cubicBezTo>
                    <a:close/>
                  </a:path>
                </a:pathLst>
              </a:custGeom>
              <a:solidFill>
                <a:srgbClr val="E0F2F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1861185" y="3459480"/>
                <a:ext cx="468630" cy="3771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650" spc="0" baseline="0">
                    <a:solidFill>
                      <a:srgbClr val="000000"/>
                    </a:solidFill>
                    <a:latin typeface="Segoe UI Emoji" panose="020B0502040204020203"/>
                    <a:sym typeface="Segoe UI Emoji" panose="020B0502040204020203"/>
                    <a:rtl val="0"/>
                  </a:rPr>
                  <a:t>🗄️</a:t>
                </a:r>
                <a:endParaRPr lang="zh-CN" altLang="en-US" sz="1650" spc="0" baseline="0">
                  <a:solidFill>
                    <a:srgbClr val="000000"/>
                  </a:solidFill>
                  <a:latin typeface="Segoe UI Emoji" panose="020B0502040204020203"/>
                  <a:sym typeface="Segoe UI Emoji" panose="020B0502040204020203"/>
                  <a:rtl val="0"/>
                </a:endParaRPr>
              </a:p>
            </p:txBody>
          </p:sp>
        </p:grpSp>
        <p:sp>
          <p:nvSpPr>
            <p:cNvPr id="21" name="文本框 20"/>
            <p:cNvSpPr txBox="1"/>
            <p:nvPr/>
          </p:nvSpPr>
          <p:spPr>
            <a:xfrm>
              <a:off x="3156585" y="3049905"/>
              <a:ext cx="449580" cy="3867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100" spc="0" baseline="0">
                  <a:solidFill>
                    <a:srgbClr val="22D3EE"/>
                  </a:solidFill>
                  <a:latin typeface="Arial" panose="020B0604020202020204"/>
                  <a:cs typeface="Arial" panose="020B0604020202020204"/>
                  <a:sym typeface="Arial" panose="020B0604020202020204"/>
                  <a:rtl val="0"/>
                </a:rPr>
                <a:t>→</a:t>
              </a:r>
              <a:endParaRPr lang="zh-CN" altLang="en-US" sz="2100" spc="0" baseline="0">
                <a:solidFill>
                  <a:srgbClr val="22D3EE"/>
                </a:solidFill>
                <a:latin typeface="Arial" panose="020B0604020202020204"/>
                <a:cs typeface="Arial" panose="020B0604020202020204"/>
                <a:sym typeface="Arial" panose="020B0604020202020204"/>
                <a:rtl val="0"/>
              </a:endParaRPr>
            </a:p>
          </p:txBody>
        </p:sp>
        <p:grpSp>
          <p:nvGrpSpPr>
            <p:cNvPr id="22" name="SVG Image 6"/>
            <p:cNvGrpSpPr/>
            <p:nvPr/>
          </p:nvGrpSpPr>
          <p:grpSpPr>
            <a:xfrm>
              <a:off x="3714750" y="2476500"/>
              <a:ext cx="2286000" cy="1714500"/>
              <a:chOff x="3714750" y="2476500"/>
              <a:chExt cx="2286000" cy="1714500"/>
            </a:xfrm>
          </p:grpSpPr>
          <p:sp>
            <p:nvSpPr>
              <p:cNvPr id="23" name="任意多边形: 形状 22"/>
              <p:cNvSpPr/>
              <p:nvPr/>
            </p:nvSpPr>
            <p:spPr>
              <a:xfrm>
                <a:off x="3714750" y="2476500"/>
                <a:ext cx="2286000" cy="1714500"/>
              </a:xfrm>
              <a:custGeom>
                <a:avLst/>
                <a:gdLst>
                  <a:gd name="connsiteX0" fmla="*/ 114690 w 2286000"/>
                  <a:gd name="connsiteY0" fmla="*/ 260 h 1714500"/>
                  <a:gd name="connsiteX1" fmla="*/ 2172090 w 2286000"/>
                  <a:gd name="connsiteY1" fmla="*/ 260 h 1714500"/>
                  <a:gd name="connsiteX2" fmla="*/ 2286390 w 2286000"/>
                  <a:gd name="connsiteY2" fmla="*/ 114560 h 1714500"/>
                  <a:gd name="connsiteX3" fmla="*/ 2286390 w 2286000"/>
                  <a:gd name="connsiteY3" fmla="*/ 1600460 h 1714500"/>
                  <a:gd name="connsiteX4" fmla="*/ 2172090 w 2286000"/>
                  <a:gd name="connsiteY4" fmla="*/ 1714760 h 1714500"/>
                  <a:gd name="connsiteX5" fmla="*/ 114690 w 2286000"/>
                  <a:gd name="connsiteY5" fmla="*/ 1714760 h 1714500"/>
                  <a:gd name="connsiteX6" fmla="*/ 390 w 2286000"/>
                  <a:gd name="connsiteY6" fmla="*/ 1600460 h 1714500"/>
                  <a:gd name="connsiteX7" fmla="*/ 390 w 2286000"/>
                  <a:gd name="connsiteY7" fmla="*/ 114560 h 1714500"/>
                  <a:gd name="connsiteX8" fmla="*/ 114690 w 2286000"/>
                  <a:gd name="connsiteY8" fmla="*/ 260 h 1714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86000" h="1714500">
                    <a:moveTo>
                      <a:pt x="114690" y="260"/>
                    </a:moveTo>
                    <a:lnTo>
                      <a:pt x="2172090" y="260"/>
                    </a:lnTo>
                    <a:cubicBezTo>
                      <a:pt x="2235216" y="260"/>
                      <a:pt x="2286390" y="51434"/>
                      <a:pt x="2286390" y="114560"/>
                    </a:cubicBezTo>
                    <a:lnTo>
                      <a:pt x="2286390" y="1600460"/>
                    </a:lnTo>
                    <a:cubicBezTo>
                      <a:pt x="2286390" y="1663586"/>
                      <a:pt x="2235216" y="1714760"/>
                      <a:pt x="2172090" y="1714760"/>
                    </a:cubicBezTo>
                    <a:lnTo>
                      <a:pt x="114690" y="1714760"/>
                    </a:lnTo>
                    <a:cubicBezTo>
                      <a:pt x="51564" y="1714760"/>
                      <a:pt x="390" y="1663586"/>
                      <a:pt x="390" y="1600460"/>
                    </a:cubicBezTo>
                    <a:lnTo>
                      <a:pt x="390" y="114560"/>
                    </a:lnTo>
                    <a:cubicBezTo>
                      <a:pt x="390" y="51434"/>
                      <a:pt x="51564" y="260"/>
                      <a:pt x="114690" y="26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flat">
                <a:solidFill>
                  <a:srgbClr val="6366F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" name="任意多边形: 形状 23"/>
              <p:cNvSpPr/>
              <p:nvPr/>
            </p:nvSpPr>
            <p:spPr>
              <a:xfrm>
                <a:off x="3714750" y="2476500"/>
                <a:ext cx="476250" cy="285750"/>
              </a:xfrm>
              <a:custGeom>
                <a:avLst/>
                <a:gdLst>
                  <a:gd name="connsiteX0" fmla="*/ 57540 w 476250"/>
                  <a:gd name="connsiteY0" fmla="*/ 260 h 285750"/>
                  <a:gd name="connsiteX1" fmla="*/ 419490 w 476250"/>
                  <a:gd name="connsiteY1" fmla="*/ 260 h 285750"/>
                  <a:gd name="connsiteX2" fmla="*/ 476640 w 476250"/>
                  <a:gd name="connsiteY2" fmla="*/ 57410 h 285750"/>
                  <a:gd name="connsiteX3" fmla="*/ 476640 w 476250"/>
                  <a:gd name="connsiteY3" fmla="*/ 228860 h 285750"/>
                  <a:gd name="connsiteX4" fmla="*/ 419490 w 476250"/>
                  <a:gd name="connsiteY4" fmla="*/ 286010 h 285750"/>
                  <a:gd name="connsiteX5" fmla="*/ 57540 w 476250"/>
                  <a:gd name="connsiteY5" fmla="*/ 286010 h 285750"/>
                  <a:gd name="connsiteX6" fmla="*/ 390 w 476250"/>
                  <a:gd name="connsiteY6" fmla="*/ 228860 h 285750"/>
                  <a:gd name="connsiteX7" fmla="*/ 390 w 476250"/>
                  <a:gd name="connsiteY7" fmla="*/ 57410 h 285750"/>
                  <a:gd name="connsiteX8" fmla="*/ 57540 w 476250"/>
                  <a:gd name="connsiteY8" fmla="*/ 26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76250" h="285750">
                    <a:moveTo>
                      <a:pt x="57540" y="260"/>
                    </a:moveTo>
                    <a:lnTo>
                      <a:pt x="419490" y="260"/>
                    </a:lnTo>
                    <a:cubicBezTo>
                      <a:pt x="451053" y="260"/>
                      <a:pt x="476640" y="25847"/>
                      <a:pt x="476640" y="57410"/>
                    </a:cubicBezTo>
                    <a:lnTo>
                      <a:pt x="476640" y="228860"/>
                    </a:lnTo>
                    <a:cubicBezTo>
                      <a:pt x="476640" y="260423"/>
                      <a:pt x="451053" y="286010"/>
                      <a:pt x="419490" y="286010"/>
                    </a:cubicBezTo>
                    <a:lnTo>
                      <a:pt x="57540" y="286010"/>
                    </a:lnTo>
                    <a:cubicBezTo>
                      <a:pt x="25977" y="286010"/>
                      <a:pt x="390" y="260423"/>
                      <a:pt x="390" y="228860"/>
                    </a:cubicBezTo>
                    <a:lnTo>
                      <a:pt x="390" y="57410"/>
                    </a:lnTo>
                    <a:cubicBezTo>
                      <a:pt x="390" y="25847"/>
                      <a:pt x="25977" y="260"/>
                      <a:pt x="57540" y="260"/>
                    </a:cubicBezTo>
                    <a:close/>
                  </a:path>
                </a:pathLst>
              </a:custGeom>
              <a:solidFill>
                <a:srgbClr val="6366F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3823335" y="2497455"/>
                <a:ext cx="259080" cy="2438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50" b="1" spc="0" baseline="0">
                    <a:solidFill>
                      <a:srgbClr val="FFFFFF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  <a:rtl val="0"/>
                  </a:rPr>
                  <a:t>2</a:t>
                </a:r>
                <a:endParaRPr lang="zh-CN" altLang="en-US" sz="1050" b="1" spc="0" baseline="0">
                  <a:solidFill>
                    <a:srgbClr val="FFFFFF"/>
                  </a:solidFill>
                  <a:latin typeface="Arial" panose="020B0604020202020204"/>
                  <a:cs typeface="Arial" panose="020B0604020202020204"/>
                  <a:sym typeface="Arial" panose="020B0604020202020204"/>
                  <a:rtl val="0"/>
                </a:endParaRP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4385310" y="2802255"/>
                <a:ext cx="944880" cy="3390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500" b="1" spc="0" baseline="0">
                    <a:solidFill>
                      <a:srgbClr val="1E3A5F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后端接口</a:t>
                </a:r>
                <a:endParaRPr lang="zh-CN" altLang="en-US" sz="1500" b="1" spc="0" baseline="0">
                  <a:solidFill>
                    <a:srgbClr val="1E3A5F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4485322" y="3040380"/>
                <a:ext cx="744855" cy="3390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500" b="1" spc="0" baseline="0">
                    <a:solidFill>
                      <a:srgbClr val="1E3A5F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CRUD</a:t>
                </a:r>
                <a:endParaRPr lang="zh-CN" altLang="en-US" sz="1500" b="1" spc="0" baseline="0">
                  <a:solidFill>
                    <a:srgbClr val="1E3A5F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  <p:sp>
            <p:nvSpPr>
              <p:cNvPr id="28" name="任意多边形: 形状 27"/>
              <p:cNvSpPr/>
              <p:nvPr/>
            </p:nvSpPr>
            <p:spPr>
              <a:xfrm>
                <a:off x="4619625" y="3429000"/>
                <a:ext cx="476250" cy="476250"/>
              </a:xfrm>
              <a:custGeom>
                <a:avLst/>
                <a:gdLst>
                  <a:gd name="connsiteX0" fmla="*/ 476640 w 476250"/>
                  <a:gd name="connsiteY0" fmla="*/ 238385 h 476250"/>
                  <a:gd name="connsiteX1" fmla="*/ 238515 w 476250"/>
                  <a:gd name="connsiteY1" fmla="*/ 476510 h 476250"/>
                  <a:gd name="connsiteX2" fmla="*/ 390 w 476250"/>
                  <a:gd name="connsiteY2" fmla="*/ 238385 h 476250"/>
                  <a:gd name="connsiteX3" fmla="*/ 238515 w 476250"/>
                  <a:gd name="connsiteY3" fmla="*/ 260 h 476250"/>
                  <a:gd name="connsiteX4" fmla="*/ 476640 w 476250"/>
                  <a:gd name="connsiteY4" fmla="*/ 238385 h 476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0" h="476250">
                    <a:moveTo>
                      <a:pt x="476640" y="238385"/>
                    </a:moveTo>
                    <a:cubicBezTo>
                      <a:pt x="476640" y="369898"/>
                      <a:pt x="370028" y="476510"/>
                      <a:pt x="238515" y="476510"/>
                    </a:cubicBezTo>
                    <a:cubicBezTo>
                      <a:pt x="107002" y="476510"/>
                      <a:pt x="390" y="369898"/>
                      <a:pt x="390" y="238385"/>
                    </a:cubicBezTo>
                    <a:cubicBezTo>
                      <a:pt x="390" y="106872"/>
                      <a:pt x="107002" y="260"/>
                      <a:pt x="238515" y="260"/>
                    </a:cubicBezTo>
                    <a:cubicBezTo>
                      <a:pt x="370028" y="260"/>
                      <a:pt x="476640" y="106872"/>
                      <a:pt x="476640" y="238385"/>
                    </a:cubicBezTo>
                    <a:close/>
                  </a:path>
                </a:pathLst>
              </a:custGeom>
              <a:solidFill>
                <a:srgbClr val="EDE9F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4623435" y="3459480"/>
                <a:ext cx="468630" cy="3771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650" spc="0" baseline="0">
                    <a:solidFill>
                      <a:srgbClr val="000000"/>
                    </a:solidFill>
                    <a:latin typeface="Segoe UI Emoji" panose="020B0502040204020203"/>
                    <a:sym typeface="Segoe UI Emoji" panose="020B0502040204020203"/>
                    <a:rtl val="0"/>
                  </a:rPr>
                  <a:t>⚙️</a:t>
                </a:r>
                <a:endParaRPr lang="zh-CN" altLang="en-US" sz="1650" spc="0" baseline="0">
                  <a:solidFill>
                    <a:srgbClr val="000000"/>
                  </a:solidFill>
                  <a:latin typeface="Segoe UI Emoji" panose="020B0502040204020203"/>
                  <a:sym typeface="Segoe UI Emoji" panose="020B0502040204020203"/>
                  <a:rtl val="0"/>
                </a:endParaRPr>
              </a:p>
            </p:txBody>
          </p:sp>
        </p:grpSp>
        <p:sp>
          <p:nvSpPr>
            <p:cNvPr id="30" name="文本框 29"/>
            <p:cNvSpPr txBox="1"/>
            <p:nvPr/>
          </p:nvSpPr>
          <p:spPr>
            <a:xfrm>
              <a:off x="5918835" y="3049905"/>
              <a:ext cx="449580" cy="3867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100" spc="0" baseline="0">
                  <a:solidFill>
                    <a:srgbClr val="22D3EE"/>
                  </a:solidFill>
                  <a:latin typeface="Arial" panose="020B0604020202020204"/>
                  <a:cs typeface="Arial" panose="020B0604020202020204"/>
                  <a:sym typeface="Arial" panose="020B0604020202020204"/>
                  <a:rtl val="0"/>
                </a:rPr>
                <a:t>→</a:t>
              </a:r>
              <a:endParaRPr lang="zh-CN" altLang="en-US" sz="2100" spc="0" baseline="0">
                <a:solidFill>
                  <a:srgbClr val="22D3EE"/>
                </a:solidFill>
                <a:latin typeface="Arial" panose="020B0604020202020204"/>
                <a:cs typeface="Arial" panose="020B0604020202020204"/>
                <a:sym typeface="Arial" panose="020B0604020202020204"/>
                <a:rtl val="0"/>
              </a:endParaRPr>
            </a:p>
          </p:txBody>
        </p:sp>
        <p:grpSp>
          <p:nvGrpSpPr>
            <p:cNvPr id="31" name="SVG Image 6"/>
            <p:cNvGrpSpPr/>
            <p:nvPr/>
          </p:nvGrpSpPr>
          <p:grpSpPr>
            <a:xfrm>
              <a:off x="6477000" y="2476500"/>
              <a:ext cx="2286000" cy="1714500"/>
              <a:chOff x="6477000" y="2476500"/>
              <a:chExt cx="2286000" cy="1714500"/>
            </a:xfrm>
          </p:grpSpPr>
          <p:sp>
            <p:nvSpPr>
              <p:cNvPr id="32" name="任意多边形: 形状 31"/>
              <p:cNvSpPr/>
              <p:nvPr/>
            </p:nvSpPr>
            <p:spPr>
              <a:xfrm>
                <a:off x="6477000" y="2476500"/>
                <a:ext cx="2286000" cy="1714500"/>
              </a:xfrm>
              <a:custGeom>
                <a:avLst/>
                <a:gdLst>
                  <a:gd name="connsiteX0" fmla="*/ 114980 w 2286000"/>
                  <a:gd name="connsiteY0" fmla="*/ 260 h 1714500"/>
                  <a:gd name="connsiteX1" fmla="*/ 2172380 w 2286000"/>
                  <a:gd name="connsiteY1" fmla="*/ 260 h 1714500"/>
                  <a:gd name="connsiteX2" fmla="*/ 2286680 w 2286000"/>
                  <a:gd name="connsiteY2" fmla="*/ 114560 h 1714500"/>
                  <a:gd name="connsiteX3" fmla="*/ 2286680 w 2286000"/>
                  <a:gd name="connsiteY3" fmla="*/ 1600460 h 1714500"/>
                  <a:gd name="connsiteX4" fmla="*/ 2172380 w 2286000"/>
                  <a:gd name="connsiteY4" fmla="*/ 1714760 h 1714500"/>
                  <a:gd name="connsiteX5" fmla="*/ 114980 w 2286000"/>
                  <a:gd name="connsiteY5" fmla="*/ 1714760 h 1714500"/>
                  <a:gd name="connsiteX6" fmla="*/ 680 w 2286000"/>
                  <a:gd name="connsiteY6" fmla="*/ 1600460 h 1714500"/>
                  <a:gd name="connsiteX7" fmla="*/ 680 w 2286000"/>
                  <a:gd name="connsiteY7" fmla="*/ 114560 h 1714500"/>
                  <a:gd name="connsiteX8" fmla="*/ 114980 w 2286000"/>
                  <a:gd name="connsiteY8" fmla="*/ 260 h 1714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86000" h="1714500">
                    <a:moveTo>
                      <a:pt x="114980" y="260"/>
                    </a:moveTo>
                    <a:lnTo>
                      <a:pt x="2172380" y="260"/>
                    </a:lnTo>
                    <a:cubicBezTo>
                      <a:pt x="2235506" y="260"/>
                      <a:pt x="2286680" y="51434"/>
                      <a:pt x="2286680" y="114560"/>
                    </a:cubicBezTo>
                    <a:lnTo>
                      <a:pt x="2286680" y="1600460"/>
                    </a:lnTo>
                    <a:cubicBezTo>
                      <a:pt x="2286680" y="1663586"/>
                      <a:pt x="2235506" y="1714760"/>
                      <a:pt x="2172380" y="1714760"/>
                    </a:cubicBezTo>
                    <a:lnTo>
                      <a:pt x="114980" y="1714760"/>
                    </a:lnTo>
                    <a:cubicBezTo>
                      <a:pt x="51854" y="1714760"/>
                      <a:pt x="680" y="1663586"/>
                      <a:pt x="680" y="1600460"/>
                    </a:cubicBezTo>
                    <a:lnTo>
                      <a:pt x="680" y="114560"/>
                    </a:lnTo>
                    <a:cubicBezTo>
                      <a:pt x="680" y="51434"/>
                      <a:pt x="51854" y="260"/>
                      <a:pt x="114980" y="26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flat">
                <a:solidFill>
                  <a:srgbClr val="22D3EE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3" name="任意多边形: 形状 32"/>
              <p:cNvSpPr/>
              <p:nvPr/>
            </p:nvSpPr>
            <p:spPr>
              <a:xfrm>
                <a:off x="6477000" y="2476500"/>
                <a:ext cx="476250" cy="285750"/>
              </a:xfrm>
              <a:custGeom>
                <a:avLst/>
                <a:gdLst>
                  <a:gd name="connsiteX0" fmla="*/ 57830 w 476250"/>
                  <a:gd name="connsiteY0" fmla="*/ 260 h 285750"/>
                  <a:gd name="connsiteX1" fmla="*/ 419780 w 476250"/>
                  <a:gd name="connsiteY1" fmla="*/ 260 h 285750"/>
                  <a:gd name="connsiteX2" fmla="*/ 476930 w 476250"/>
                  <a:gd name="connsiteY2" fmla="*/ 57410 h 285750"/>
                  <a:gd name="connsiteX3" fmla="*/ 476930 w 476250"/>
                  <a:gd name="connsiteY3" fmla="*/ 228860 h 285750"/>
                  <a:gd name="connsiteX4" fmla="*/ 419780 w 476250"/>
                  <a:gd name="connsiteY4" fmla="*/ 286010 h 285750"/>
                  <a:gd name="connsiteX5" fmla="*/ 57830 w 476250"/>
                  <a:gd name="connsiteY5" fmla="*/ 286010 h 285750"/>
                  <a:gd name="connsiteX6" fmla="*/ 680 w 476250"/>
                  <a:gd name="connsiteY6" fmla="*/ 228860 h 285750"/>
                  <a:gd name="connsiteX7" fmla="*/ 680 w 476250"/>
                  <a:gd name="connsiteY7" fmla="*/ 57410 h 285750"/>
                  <a:gd name="connsiteX8" fmla="*/ 57830 w 476250"/>
                  <a:gd name="connsiteY8" fmla="*/ 26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76250" h="285750">
                    <a:moveTo>
                      <a:pt x="57830" y="260"/>
                    </a:moveTo>
                    <a:lnTo>
                      <a:pt x="419780" y="260"/>
                    </a:lnTo>
                    <a:cubicBezTo>
                      <a:pt x="451343" y="260"/>
                      <a:pt x="476930" y="25847"/>
                      <a:pt x="476930" y="57410"/>
                    </a:cubicBezTo>
                    <a:lnTo>
                      <a:pt x="476930" y="228860"/>
                    </a:lnTo>
                    <a:cubicBezTo>
                      <a:pt x="476930" y="260423"/>
                      <a:pt x="451343" y="286010"/>
                      <a:pt x="419780" y="286010"/>
                    </a:cubicBezTo>
                    <a:lnTo>
                      <a:pt x="57830" y="286010"/>
                    </a:lnTo>
                    <a:cubicBezTo>
                      <a:pt x="26267" y="286010"/>
                      <a:pt x="680" y="260423"/>
                      <a:pt x="680" y="228860"/>
                    </a:cubicBezTo>
                    <a:lnTo>
                      <a:pt x="680" y="57410"/>
                    </a:lnTo>
                    <a:cubicBezTo>
                      <a:pt x="680" y="25847"/>
                      <a:pt x="26267" y="260"/>
                      <a:pt x="57830" y="260"/>
                    </a:cubicBezTo>
                    <a:close/>
                  </a:path>
                </a:pathLst>
              </a:custGeom>
              <a:solidFill>
                <a:srgbClr val="22D3E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6585585" y="2497455"/>
                <a:ext cx="259080" cy="2438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50" b="1" spc="0" baseline="0">
                    <a:solidFill>
                      <a:srgbClr val="FFFFFF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  <a:rtl val="0"/>
                  </a:rPr>
                  <a:t>3</a:t>
                </a:r>
                <a:endParaRPr lang="zh-CN" altLang="en-US" sz="1050" b="1" spc="0" baseline="0">
                  <a:solidFill>
                    <a:srgbClr val="FFFFFF"/>
                  </a:solidFill>
                  <a:latin typeface="Arial" panose="020B0604020202020204"/>
                  <a:cs typeface="Arial" panose="020B0604020202020204"/>
                  <a:sym typeface="Arial" panose="020B0604020202020204"/>
                  <a:rtl val="0"/>
                </a:endParaRPr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7147560" y="2802255"/>
                <a:ext cx="944880" cy="3390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500" b="1" spc="0" baseline="0">
                    <a:solidFill>
                      <a:srgbClr val="1E3A5F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前端页面</a:t>
                </a:r>
                <a:endParaRPr lang="zh-CN" altLang="en-US" sz="1500" b="1" spc="0" baseline="0">
                  <a:solidFill>
                    <a:srgbClr val="1E3A5F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7338060" y="3040380"/>
                <a:ext cx="563880" cy="3390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500" b="1" spc="0" baseline="0">
                    <a:solidFill>
                      <a:srgbClr val="1E3A5F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对接</a:t>
                </a:r>
                <a:endParaRPr lang="zh-CN" altLang="en-US" sz="1500" b="1" spc="0" baseline="0">
                  <a:solidFill>
                    <a:srgbClr val="1E3A5F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  <p:sp>
            <p:nvSpPr>
              <p:cNvPr id="37" name="任意多边形: 形状 36"/>
              <p:cNvSpPr/>
              <p:nvPr/>
            </p:nvSpPr>
            <p:spPr>
              <a:xfrm>
                <a:off x="7381875" y="3429000"/>
                <a:ext cx="476250" cy="476250"/>
              </a:xfrm>
              <a:custGeom>
                <a:avLst/>
                <a:gdLst>
                  <a:gd name="connsiteX0" fmla="*/ 476930 w 476250"/>
                  <a:gd name="connsiteY0" fmla="*/ 238385 h 476250"/>
                  <a:gd name="connsiteX1" fmla="*/ 238805 w 476250"/>
                  <a:gd name="connsiteY1" fmla="*/ 476510 h 476250"/>
                  <a:gd name="connsiteX2" fmla="*/ 680 w 476250"/>
                  <a:gd name="connsiteY2" fmla="*/ 238385 h 476250"/>
                  <a:gd name="connsiteX3" fmla="*/ 238805 w 476250"/>
                  <a:gd name="connsiteY3" fmla="*/ 260 h 476250"/>
                  <a:gd name="connsiteX4" fmla="*/ 476930 w 476250"/>
                  <a:gd name="connsiteY4" fmla="*/ 238385 h 476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0" h="476250">
                    <a:moveTo>
                      <a:pt x="476930" y="238385"/>
                    </a:moveTo>
                    <a:cubicBezTo>
                      <a:pt x="476930" y="369898"/>
                      <a:pt x="370318" y="476510"/>
                      <a:pt x="238805" y="476510"/>
                    </a:cubicBezTo>
                    <a:cubicBezTo>
                      <a:pt x="107292" y="476510"/>
                      <a:pt x="680" y="369898"/>
                      <a:pt x="680" y="238385"/>
                    </a:cubicBezTo>
                    <a:cubicBezTo>
                      <a:pt x="680" y="106872"/>
                      <a:pt x="107292" y="260"/>
                      <a:pt x="238805" y="260"/>
                    </a:cubicBezTo>
                    <a:cubicBezTo>
                      <a:pt x="370318" y="260"/>
                      <a:pt x="476930" y="106872"/>
                      <a:pt x="476930" y="238385"/>
                    </a:cubicBezTo>
                    <a:close/>
                  </a:path>
                </a:pathLst>
              </a:custGeom>
              <a:solidFill>
                <a:srgbClr val="E0F2F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7385685" y="3459480"/>
                <a:ext cx="468630" cy="3771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650" spc="0" baseline="0">
                    <a:solidFill>
                      <a:srgbClr val="000000"/>
                    </a:solidFill>
                    <a:latin typeface="Segoe UI Emoji" panose="020B0502040204020203"/>
                    <a:sym typeface="Segoe UI Emoji" panose="020B0502040204020203"/>
                    <a:rtl val="0"/>
                  </a:rPr>
                  <a:t>🎨</a:t>
                </a:r>
                <a:endParaRPr lang="zh-CN" altLang="en-US" sz="1650" spc="0" baseline="0">
                  <a:solidFill>
                    <a:srgbClr val="000000"/>
                  </a:solidFill>
                  <a:latin typeface="Segoe UI Emoji" panose="020B0502040204020203"/>
                  <a:sym typeface="Segoe UI Emoji" panose="020B0502040204020203"/>
                  <a:rtl val="0"/>
                </a:endParaRPr>
              </a:p>
            </p:txBody>
          </p:sp>
        </p:grpSp>
        <p:sp>
          <p:nvSpPr>
            <p:cNvPr id="39" name="文本框 38"/>
            <p:cNvSpPr txBox="1"/>
            <p:nvPr/>
          </p:nvSpPr>
          <p:spPr>
            <a:xfrm>
              <a:off x="8681085" y="3049905"/>
              <a:ext cx="449580" cy="3867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100" spc="0" baseline="0">
                  <a:solidFill>
                    <a:srgbClr val="22D3EE"/>
                  </a:solidFill>
                  <a:latin typeface="Arial" panose="020B0604020202020204"/>
                  <a:cs typeface="Arial" panose="020B0604020202020204"/>
                  <a:sym typeface="Arial" panose="020B0604020202020204"/>
                  <a:rtl val="0"/>
                </a:rPr>
                <a:t>→</a:t>
              </a:r>
              <a:endParaRPr lang="zh-CN" altLang="en-US" sz="2100" spc="0" baseline="0">
                <a:solidFill>
                  <a:srgbClr val="22D3EE"/>
                </a:solidFill>
                <a:latin typeface="Arial" panose="020B0604020202020204"/>
                <a:cs typeface="Arial" panose="020B0604020202020204"/>
                <a:sym typeface="Arial" panose="020B0604020202020204"/>
                <a:rtl val="0"/>
              </a:endParaRPr>
            </a:p>
          </p:txBody>
        </p:sp>
        <p:grpSp>
          <p:nvGrpSpPr>
            <p:cNvPr id="40" name="SVG Image 6"/>
            <p:cNvGrpSpPr/>
            <p:nvPr/>
          </p:nvGrpSpPr>
          <p:grpSpPr>
            <a:xfrm>
              <a:off x="9239250" y="2476500"/>
              <a:ext cx="2286000" cy="1714500"/>
              <a:chOff x="9239250" y="2476500"/>
              <a:chExt cx="2286000" cy="1714500"/>
            </a:xfrm>
          </p:grpSpPr>
          <p:sp>
            <p:nvSpPr>
              <p:cNvPr id="41" name="任意多边形: 形状 40"/>
              <p:cNvSpPr/>
              <p:nvPr/>
            </p:nvSpPr>
            <p:spPr>
              <a:xfrm>
                <a:off x="9239250" y="2476500"/>
                <a:ext cx="2286000" cy="1714500"/>
              </a:xfrm>
              <a:custGeom>
                <a:avLst/>
                <a:gdLst>
                  <a:gd name="connsiteX0" fmla="*/ 115270 w 2286000"/>
                  <a:gd name="connsiteY0" fmla="*/ 260 h 1714500"/>
                  <a:gd name="connsiteX1" fmla="*/ 2172670 w 2286000"/>
                  <a:gd name="connsiteY1" fmla="*/ 260 h 1714500"/>
                  <a:gd name="connsiteX2" fmla="*/ 2286970 w 2286000"/>
                  <a:gd name="connsiteY2" fmla="*/ 114560 h 1714500"/>
                  <a:gd name="connsiteX3" fmla="*/ 2286970 w 2286000"/>
                  <a:gd name="connsiteY3" fmla="*/ 1600460 h 1714500"/>
                  <a:gd name="connsiteX4" fmla="*/ 2172670 w 2286000"/>
                  <a:gd name="connsiteY4" fmla="*/ 1714760 h 1714500"/>
                  <a:gd name="connsiteX5" fmla="*/ 115270 w 2286000"/>
                  <a:gd name="connsiteY5" fmla="*/ 1714760 h 1714500"/>
                  <a:gd name="connsiteX6" fmla="*/ 970 w 2286000"/>
                  <a:gd name="connsiteY6" fmla="*/ 1600460 h 1714500"/>
                  <a:gd name="connsiteX7" fmla="*/ 970 w 2286000"/>
                  <a:gd name="connsiteY7" fmla="*/ 114560 h 1714500"/>
                  <a:gd name="connsiteX8" fmla="*/ 115270 w 2286000"/>
                  <a:gd name="connsiteY8" fmla="*/ 260 h 1714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86000" h="1714500">
                    <a:moveTo>
                      <a:pt x="115270" y="260"/>
                    </a:moveTo>
                    <a:lnTo>
                      <a:pt x="2172670" y="260"/>
                    </a:lnTo>
                    <a:cubicBezTo>
                      <a:pt x="2235796" y="260"/>
                      <a:pt x="2286970" y="51434"/>
                      <a:pt x="2286970" y="114560"/>
                    </a:cubicBezTo>
                    <a:lnTo>
                      <a:pt x="2286970" y="1600460"/>
                    </a:lnTo>
                    <a:cubicBezTo>
                      <a:pt x="2286970" y="1663586"/>
                      <a:pt x="2235796" y="1714760"/>
                      <a:pt x="2172670" y="1714760"/>
                    </a:cubicBezTo>
                    <a:lnTo>
                      <a:pt x="115270" y="1714760"/>
                    </a:lnTo>
                    <a:cubicBezTo>
                      <a:pt x="52144" y="1714760"/>
                      <a:pt x="970" y="1663586"/>
                      <a:pt x="970" y="1600460"/>
                    </a:cubicBezTo>
                    <a:lnTo>
                      <a:pt x="970" y="114560"/>
                    </a:lnTo>
                    <a:cubicBezTo>
                      <a:pt x="970" y="51434"/>
                      <a:pt x="52144" y="260"/>
                      <a:pt x="115270" y="26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flat">
                <a:solidFill>
                  <a:srgbClr val="6366F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2" name="任意多边形: 形状 41"/>
              <p:cNvSpPr/>
              <p:nvPr/>
            </p:nvSpPr>
            <p:spPr>
              <a:xfrm>
                <a:off x="9239250" y="2476500"/>
                <a:ext cx="476250" cy="285750"/>
              </a:xfrm>
              <a:custGeom>
                <a:avLst/>
                <a:gdLst>
                  <a:gd name="connsiteX0" fmla="*/ 58120 w 476250"/>
                  <a:gd name="connsiteY0" fmla="*/ 260 h 285750"/>
                  <a:gd name="connsiteX1" fmla="*/ 420070 w 476250"/>
                  <a:gd name="connsiteY1" fmla="*/ 260 h 285750"/>
                  <a:gd name="connsiteX2" fmla="*/ 477220 w 476250"/>
                  <a:gd name="connsiteY2" fmla="*/ 57410 h 285750"/>
                  <a:gd name="connsiteX3" fmla="*/ 477220 w 476250"/>
                  <a:gd name="connsiteY3" fmla="*/ 228860 h 285750"/>
                  <a:gd name="connsiteX4" fmla="*/ 420070 w 476250"/>
                  <a:gd name="connsiteY4" fmla="*/ 286010 h 285750"/>
                  <a:gd name="connsiteX5" fmla="*/ 58120 w 476250"/>
                  <a:gd name="connsiteY5" fmla="*/ 286010 h 285750"/>
                  <a:gd name="connsiteX6" fmla="*/ 970 w 476250"/>
                  <a:gd name="connsiteY6" fmla="*/ 228860 h 285750"/>
                  <a:gd name="connsiteX7" fmla="*/ 970 w 476250"/>
                  <a:gd name="connsiteY7" fmla="*/ 57410 h 285750"/>
                  <a:gd name="connsiteX8" fmla="*/ 58120 w 476250"/>
                  <a:gd name="connsiteY8" fmla="*/ 26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76250" h="285750">
                    <a:moveTo>
                      <a:pt x="58120" y="260"/>
                    </a:moveTo>
                    <a:lnTo>
                      <a:pt x="420070" y="260"/>
                    </a:lnTo>
                    <a:cubicBezTo>
                      <a:pt x="451633" y="260"/>
                      <a:pt x="477220" y="25847"/>
                      <a:pt x="477220" y="57410"/>
                    </a:cubicBezTo>
                    <a:lnTo>
                      <a:pt x="477220" y="228860"/>
                    </a:lnTo>
                    <a:cubicBezTo>
                      <a:pt x="477220" y="260423"/>
                      <a:pt x="451633" y="286010"/>
                      <a:pt x="420070" y="286010"/>
                    </a:cubicBezTo>
                    <a:lnTo>
                      <a:pt x="58120" y="286010"/>
                    </a:lnTo>
                    <a:cubicBezTo>
                      <a:pt x="26557" y="286010"/>
                      <a:pt x="970" y="260423"/>
                      <a:pt x="970" y="228860"/>
                    </a:cubicBezTo>
                    <a:lnTo>
                      <a:pt x="970" y="57410"/>
                    </a:lnTo>
                    <a:cubicBezTo>
                      <a:pt x="970" y="25847"/>
                      <a:pt x="26557" y="260"/>
                      <a:pt x="58120" y="260"/>
                    </a:cubicBezTo>
                    <a:close/>
                  </a:path>
                </a:pathLst>
              </a:custGeom>
              <a:solidFill>
                <a:srgbClr val="6366F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9347835" y="2497455"/>
                <a:ext cx="259080" cy="2438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50" b="1" spc="0" baseline="0">
                    <a:solidFill>
                      <a:srgbClr val="FFFFFF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  <a:rtl val="0"/>
                  </a:rPr>
                  <a:t>4</a:t>
                </a:r>
                <a:endParaRPr lang="zh-CN" altLang="en-US" sz="1050" b="1" spc="0" baseline="0">
                  <a:solidFill>
                    <a:srgbClr val="FFFFFF"/>
                  </a:solidFill>
                  <a:latin typeface="Arial" panose="020B0604020202020204"/>
                  <a:cs typeface="Arial" panose="020B0604020202020204"/>
                  <a:sym typeface="Arial" panose="020B0604020202020204"/>
                  <a:rtl val="0"/>
                </a:endParaRPr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9909810" y="2802255"/>
                <a:ext cx="944880" cy="3390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500" b="1" spc="0" baseline="0">
                    <a:solidFill>
                      <a:srgbClr val="1E3A5F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功能逐个</a:t>
                </a:r>
                <a:endParaRPr lang="zh-CN" altLang="en-US" sz="1500" b="1" spc="0" baseline="0">
                  <a:solidFill>
                    <a:srgbClr val="1E3A5F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10100310" y="3040380"/>
                <a:ext cx="563880" cy="3390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500" b="1" spc="0" baseline="0">
                    <a:solidFill>
                      <a:srgbClr val="1E3A5F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叠加</a:t>
                </a:r>
                <a:endParaRPr lang="zh-CN" altLang="en-US" sz="1500" b="1" spc="0" baseline="0">
                  <a:solidFill>
                    <a:srgbClr val="1E3A5F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  <p:sp>
            <p:nvSpPr>
              <p:cNvPr id="46" name="任意多边形: 形状 45"/>
              <p:cNvSpPr/>
              <p:nvPr/>
            </p:nvSpPr>
            <p:spPr>
              <a:xfrm>
                <a:off x="10144125" y="3429000"/>
                <a:ext cx="476250" cy="476250"/>
              </a:xfrm>
              <a:custGeom>
                <a:avLst/>
                <a:gdLst>
                  <a:gd name="connsiteX0" fmla="*/ 477220 w 476250"/>
                  <a:gd name="connsiteY0" fmla="*/ 238385 h 476250"/>
                  <a:gd name="connsiteX1" fmla="*/ 239095 w 476250"/>
                  <a:gd name="connsiteY1" fmla="*/ 476510 h 476250"/>
                  <a:gd name="connsiteX2" fmla="*/ 970 w 476250"/>
                  <a:gd name="connsiteY2" fmla="*/ 238385 h 476250"/>
                  <a:gd name="connsiteX3" fmla="*/ 239095 w 476250"/>
                  <a:gd name="connsiteY3" fmla="*/ 260 h 476250"/>
                  <a:gd name="connsiteX4" fmla="*/ 477220 w 476250"/>
                  <a:gd name="connsiteY4" fmla="*/ 238385 h 476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0" h="476250">
                    <a:moveTo>
                      <a:pt x="477220" y="238385"/>
                    </a:moveTo>
                    <a:cubicBezTo>
                      <a:pt x="477220" y="369898"/>
                      <a:pt x="370608" y="476510"/>
                      <a:pt x="239095" y="476510"/>
                    </a:cubicBezTo>
                    <a:cubicBezTo>
                      <a:pt x="107582" y="476510"/>
                      <a:pt x="970" y="369898"/>
                      <a:pt x="970" y="238385"/>
                    </a:cubicBezTo>
                    <a:cubicBezTo>
                      <a:pt x="970" y="106872"/>
                      <a:pt x="107582" y="260"/>
                      <a:pt x="239095" y="260"/>
                    </a:cubicBezTo>
                    <a:cubicBezTo>
                      <a:pt x="370608" y="260"/>
                      <a:pt x="477220" y="106872"/>
                      <a:pt x="477220" y="238385"/>
                    </a:cubicBezTo>
                    <a:close/>
                  </a:path>
                </a:pathLst>
              </a:custGeom>
              <a:solidFill>
                <a:srgbClr val="EDE9F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10147935" y="3459480"/>
                <a:ext cx="468630" cy="3771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650" spc="0" baseline="0">
                    <a:solidFill>
                      <a:srgbClr val="000000"/>
                    </a:solidFill>
                    <a:latin typeface="Segoe UI Emoji" panose="020B0502040204020203"/>
                    <a:sym typeface="Segoe UI Emoji" panose="020B0502040204020203"/>
                    <a:rtl val="0"/>
                  </a:rPr>
                  <a:t>➕</a:t>
                </a:r>
                <a:endParaRPr lang="zh-CN" altLang="en-US" sz="1650" spc="0" baseline="0">
                  <a:solidFill>
                    <a:srgbClr val="000000"/>
                  </a:solidFill>
                  <a:latin typeface="Segoe UI Emoji" panose="020B0502040204020203"/>
                  <a:sym typeface="Segoe UI Emoji" panose="020B0502040204020203"/>
                  <a:rtl val="0"/>
                </a:endParaRPr>
              </a:p>
            </p:txBody>
          </p:sp>
        </p:grpSp>
      </p:grpSp>
      <p:grpSp>
        <p:nvGrpSpPr>
          <p:cNvPr id="48" name="SVG Image 6"/>
          <p:cNvGrpSpPr/>
          <p:nvPr/>
        </p:nvGrpSpPr>
        <p:grpSpPr>
          <a:xfrm>
            <a:off x="952500" y="4572000"/>
            <a:ext cx="10287000" cy="1143000"/>
            <a:chOff x="952500" y="4572000"/>
            <a:chExt cx="10287000" cy="1143000"/>
          </a:xfrm>
        </p:grpSpPr>
        <p:sp>
          <p:nvSpPr>
            <p:cNvPr id="49" name="任意多边形: 形状 48"/>
            <p:cNvSpPr/>
            <p:nvPr/>
          </p:nvSpPr>
          <p:spPr>
            <a:xfrm>
              <a:off x="952500" y="4572000"/>
              <a:ext cx="10287000" cy="1143000"/>
            </a:xfrm>
            <a:custGeom>
              <a:avLst/>
              <a:gdLst>
                <a:gd name="connsiteX0" fmla="*/ 114400 w 10287000"/>
                <a:gd name="connsiteY0" fmla="*/ 480 h 1143000"/>
                <a:gd name="connsiteX1" fmla="*/ 10172800 w 10287000"/>
                <a:gd name="connsiteY1" fmla="*/ 480 h 1143000"/>
                <a:gd name="connsiteX2" fmla="*/ 10287100 w 10287000"/>
                <a:gd name="connsiteY2" fmla="*/ 114780 h 1143000"/>
                <a:gd name="connsiteX3" fmla="*/ 10287100 w 10287000"/>
                <a:gd name="connsiteY3" fmla="*/ 1029180 h 1143000"/>
                <a:gd name="connsiteX4" fmla="*/ 10172800 w 10287000"/>
                <a:gd name="connsiteY4" fmla="*/ 1143480 h 1143000"/>
                <a:gd name="connsiteX5" fmla="*/ 114400 w 10287000"/>
                <a:gd name="connsiteY5" fmla="*/ 1143480 h 1143000"/>
                <a:gd name="connsiteX6" fmla="*/ 100 w 10287000"/>
                <a:gd name="connsiteY6" fmla="*/ 1029180 h 1143000"/>
                <a:gd name="connsiteX7" fmla="*/ 100 w 10287000"/>
                <a:gd name="connsiteY7" fmla="*/ 114780 h 1143000"/>
                <a:gd name="connsiteX8" fmla="*/ 114400 w 10287000"/>
                <a:gd name="connsiteY8" fmla="*/ 48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287000" h="1143000">
                  <a:moveTo>
                    <a:pt x="114400" y="480"/>
                  </a:moveTo>
                  <a:lnTo>
                    <a:pt x="10172800" y="480"/>
                  </a:lnTo>
                  <a:cubicBezTo>
                    <a:pt x="10235926" y="480"/>
                    <a:pt x="10287100" y="51654"/>
                    <a:pt x="10287100" y="114780"/>
                  </a:cubicBezTo>
                  <a:lnTo>
                    <a:pt x="10287100" y="1029180"/>
                  </a:lnTo>
                  <a:cubicBezTo>
                    <a:pt x="10287100" y="1092306"/>
                    <a:pt x="10235926" y="1143480"/>
                    <a:pt x="10172800" y="1143480"/>
                  </a:cubicBezTo>
                  <a:lnTo>
                    <a:pt x="114400" y="1143480"/>
                  </a:lnTo>
                  <a:cubicBezTo>
                    <a:pt x="51274" y="1143480"/>
                    <a:pt x="100" y="1092306"/>
                    <a:pt x="100" y="1029180"/>
                  </a:cubicBezTo>
                  <a:lnTo>
                    <a:pt x="100" y="114780"/>
                  </a:lnTo>
                  <a:cubicBezTo>
                    <a:pt x="100" y="51654"/>
                    <a:pt x="51274" y="480"/>
                    <a:pt x="114400" y="480"/>
                  </a:cubicBezTo>
                  <a:close/>
                </a:path>
              </a:pathLst>
            </a:custGeom>
            <a:solidFill>
              <a:srgbClr val="FEF3C7"/>
            </a:solidFill>
            <a:ln w="19050" cap="flat">
              <a:solidFill>
                <a:srgbClr val="F59E0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" name="任意多边形: 形状 49"/>
            <p:cNvSpPr/>
            <p:nvPr/>
          </p:nvSpPr>
          <p:spPr>
            <a:xfrm>
              <a:off x="952500" y="4572000"/>
              <a:ext cx="1333500" cy="342900"/>
            </a:xfrm>
            <a:custGeom>
              <a:avLst/>
              <a:gdLst>
                <a:gd name="connsiteX0" fmla="*/ 57250 w 1333500"/>
                <a:gd name="connsiteY0" fmla="*/ 480 h 342900"/>
                <a:gd name="connsiteX1" fmla="*/ 1276450 w 1333500"/>
                <a:gd name="connsiteY1" fmla="*/ 480 h 342900"/>
                <a:gd name="connsiteX2" fmla="*/ 1333600 w 1333500"/>
                <a:gd name="connsiteY2" fmla="*/ 57630 h 342900"/>
                <a:gd name="connsiteX3" fmla="*/ 1333600 w 1333500"/>
                <a:gd name="connsiteY3" fmla="*/ 286230 h 342900"/>
                <a:gd name="connsiteX4" fmla="*/ 1276450 w 1333500"/>
                <a:gd name="connsiteY4" fmla="*/ 343380 h 342900"/>
                <a:gd name="connsiteX5" fmla="*/ 57250 w 1333500"/>
                <a:gd name="connsiteY5" fmla="*/ 343380 h 342900"/>
                <a:gd name="connsiteX6" fmla="*/ 100 w 1333500"/>
                <a:gd name="connsiteY6" fmla="*/ 286230 h 342900"/>
                <a:gd name="connsiteX7" fmla="*/ 100 w 1333500"/>
                <a:gd name="connsiteY7" fmla="*/ 57630 h 342900"/>
                <a:gd name="connsiteX8" fmla="*/ 57250 w 1333500"/>
                <a:gd name="connsiteY8" fmla="*/ 480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33500" h="342900">
                  <a:moveTo>
                    <a:pt x="57250" y="480"/>
                  </a:moveTo>
                  <a:lnTo>
                    <a:pt x="1276450" y="480"/>
                  </a:lnTo>
                  <a:cubicBezTo>
                    <a:pt x="1308013" y="480"/>
                    <a:pt x="1333600" y="26067"/>
                    <a:pt x="1333600" y="57630"/>
                  </a:cubicBezTo>
                  <a:lnTo>
                    <a:pt x="1333600" y="286230"/>
                  </a:lnTo>
                  <a:cubicBezTo>
                    <a:pt x="1333600" y="317793"/>
                    <a:pt x="1308013" y="343380"/>
                    <a:pt x="1276450" y="343380"/>
                  </a:cubicBezTo>
                  <a:lnTo>
                    <a:pt x="57250" y="343380"/>
                  </a:lnTo>
                  <a:cubicBezTo>
                    <a:pt x="25687" y="343380"/>
                    <a:pt x="100" y="317793"/>
                    <a:pt x="100" y="286230"/>
                  </a:cubicBezTo>
                  <a:lnTo>
                    <a:pt x="100" y="57630"/>
                  </a:lnTo>
                  <a:cubicBezTo>
                    <a:pt x="100" y="26067"/>
                    <a:pt x="25687" y="480"/>
                    <a:pt x="57250" y="480"/>
                  </a:cubicBezTo>
                  <a:close/>
                </a:path>
              </a:pathLst>
            </a:custGeom>
            <a:solidFill>
              <a:srgbClr val="F59E0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1146810" y="4592955"/>
              <a:ext cx="944880" cy="2914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b="1" spc="0" baseline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上下文投喂</a:t>
              </a:r>
              <a:endParaRPr lang="zh-CN" altLang="en-US" sz="1200" b="1" spc="0" baseline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  <p:grpSp>
          <p:nvGrpSpPr>
            <p:cNvPr id="52" name="SVG Image 6"/>
            <p:cNvGrpSpPr/>
            <p:nvPr/>
          </p:nvGrpSpPr>
          <p:grpSpPr>
            <a:xfrm>
              <a:off x="1238250" y="4933950"/>
              <a:ext cx="6210300" cy="771525"/>
              <a:chOff x="1238250" y="4933950"/>
              <a:chExt cx="6210300" cy="771525"/>
            </a:xfrm>
            <a:solidFill>
              <a:srgbClr val="92400E"/>
            </a:solidFill>
          </p:grpSpPr>
          <p:sp>
            <p:nvSpPr>
              <p:cNvPr id="53" name="文本框 52"/>
              <p:cNvSpPr txBox="1"/>
              <p:nvPr/>
            </p:nvSpPr>
            <p:spPr>
              <a:xfrm>
                <a:off x="1146810" y="4888230"/>
                <a:ext cx="3078480" cy="2914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>
                    <a:solidFill>
                      <a:srgbClr val="92400E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每次修改时，务必提供相关文件的完整代码</a:t>
                </a:r>
                <a:endParaRPr lang="zh-CN" altLang="en-US" sz="1200" spc="0" baseline="0">
                  <a:solidFill>
                    <a:srgbClr val="92400E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  <p:sp>
            <p:nvSpPr>
              <p:cNvPr id="54" name="文本框 53"/>
              <p:cNvSpPr txBox="1"/>
              <p:nvPr/>
            </p:nvSpPr>
            <p:spPr>
              <a:xfrm>
                <a:off x="1146810" y="5173980"/>
                <a:ext cx="2526030" cy="2914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>
                    <a:solidFill>
                      <a:srgbClr val="92400E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• 不要指望 AI 记住之前的对话内容</a:t>
                </a:r>
                <a:endParaRPr lang="zh-CN" altLang="en-US" sz="1200" spc="0" baseline="0">
                  <a:solidFill>
                    <a:srgbClr val="92400E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4956810" y="5173980"/>
                <a:ext cx="2583180" cy="2914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>
                    <a:solidFill>
                      <a:srgbClr val="92400E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• 使用 @ 文件引用 或直接粘贴代码</a:t>
                </a:r>
                <a:endParaRPr lang="zh-CN" altLang="en-US" sz="1200" spc="0" baseline="0">
                  <a:solidFill>
                    <a:srgbClr val="92400E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1146810" y="5459730"/>
                <a:ext cx="2783205" cy="2914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>
                    <a:solidFill>
                      <a:srgbClr val="92400E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• 上下文越完整，AI 生成的代码越准确</a:t>
                </a:r>
                <a:endParaRPr lang="zh-CN" altLang="en-US" sz="1200" spc="0" baseline="0">
                  <a:solidFill>
                    <a:srgbClr val="92400E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</p:grpSp>
      </p:grpSp>
      <p:grpSp>
        <p:nvGrpSpPr>
          <p:cNvPr id="57" name="SVG Image 6"/>
          <p:cNvGrpSpPr/>
          <p:nvPr/>
        </p:nvGrpSpPr>
        <p:grpSpPr>
          <a:xfrm>
            <a:off x="2762250" y="5857875"/>
            <a:ext cx="6667500" cy="476250"/>
            <a:chOff x="2762250" y="5857875"/>
            <a:chExt cx="6667500" cy="476250"/>
          </a:xfrm>
        </p:grpSpPr>
        <p:sp>
          <p:nvSpPr>
            <p:cNvPr id="58" name="任意多边形: 形状 57"/>
            <p:cNvSpPr/>
            <p:nvPr/>
          </p:nvSpPr>
          <p:spPr>
            <a:xfrm>
              <a:off x="2762250" y="5857875"/>
              <a:ext cx="6667500" cy="476250"/>
            </a:xfrm>
            <a:custGeom>
              <a:avLst/>
              <a:gdLst>
                <a:gd name="connsiteX0" fmla="*/ 76840 w 6667500"/>
                <a:gd name="connsiteY0" fmla="*/ 640 h 476250"/>
                <a:gd name="connsiteX1" fmla="*/ 6591940 w 6667500"/>
                <a:gd name="connsiteY1" fmla="*/ 640 h 476250"/>
                <a:gd name="connsiteX2" fmla="*/ 6668140 w 6667500"/>
                <a:gd name="connsiteY2" fmla="*/ 76840 h 476250"/>
                <a:gd name="connsiteX3" fmla="*/ 6668140 w 6667500"/>
                <a:gd name="connsiteY3" fmla="*/ 400690 h 476250"/>
                <a:gd name="connsiteX4" fmla="*/ 6591940 w 6667500"/>
                <a:gd name="connsiteY4" fmla="*/ 476890 h 476250"/>
                <a:gd name="connsiteX5" fmla="*/ 76840 w 6667500"/>
                <a:gd name="connsiteY5" fmla="*/ 476890 h 476250"/>
                <a:gd name="connsiteX6" fmla="*/ 640 w 6667500"/>
                <a:gd name="connsiteY6" fmla="*/ 400690 h 476250"/>
                <a:gd name="connsiteX7" fmla="*/ 640 w 6667500"/>
                <a:gd name="connsiteY7" fmla="*/ 76840 h 476250"/>
                <a:gd name="connsiteX8" fmla="*/ 76840 w 6667500"/>
                <a:gd name="connsiteY8" fmla="*/ 64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67500" h="476250">
                  <a:moveTo>
                    <a:pt x="76840" y="640"/>
                  </a:moveTo>
                  <a:lnTo>
                    <a:pt x="6591940" y="640"/>
                  </a:lnTo>
                  <a:cubicBezTo>
                    <a:pt x="6634024" y="640"/>
                    <a:pt x="6668140" y="34756"/>
                    <a:pt x="6668140" y="76840"/>
                  </a:cubicBezTo>
                  <a:lnTo>
                    <a:pt x="6668140" y="400690"/>
                  </a:lnTo>
                  <a:cubicBezTo>
                    <a:pt x="6668140" y="442774"/>
                    <a:pt x="6634024" y="476890"/>
                    <a:pt x="6591940" y="476890"/>
                  </a:cubicBezTo>
                  <a:lnTo>
                    <a:pt x="76840" y="476890"/>
                  </a:lnTo>
                  <a:cubicBezTo>
                    <a:pt x="34756" y="476890"/>
                    <a:pt x="640" y="442774"/>
                    <a:pt x="640" y="400690"/>
                  </a:cubicBezTo>
                  <a:lnTo>
                    <a:pt x="640" y="76840"/>
                  </a:lnTo>
                  <a:cubicBezTo>
                    <a:pt x="640" y="34756"/>
                    <a:pt x="34756" y="640"/>
                    <a:pt x="76840" y="640"/>
                  </a:cubicBezTo>
                  <a:close/>
                </a:path>
              </a:pathLst>
            </a:custGeom>
            <a:solidFill>
              <a:srgbClr val="1E3A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4423410" y="5935980"/>
              <a:ext cx="3345180" cy="2914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核心策略：</a:t>
              </a:r>
              <a:r>
                <a:rPr lang="zh-CN" altLang="en-US" sz="1200" b="1" spc="0" baseline="0">
                  <a:solidFill>
                    <a:srgbClr val="22D3EE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模块化 + 增量式 + 充分投喂上下文</a:t>
              </a:r>
              <a:endParaRPr lang="zh-CN" altLang="en-US" sz="1200" b="1" spc="0" baseline="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/>
        </p:nvSpPr>
        <p:spPr>
          <a:xfrm>
            <a:off x="0" y="310515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EDE9FE"/>
              </a:gs>
              <a:gs pos="50000">
                <a:srgbClr val="E0F2FE"/>
              </a:gs>
              <a:gs pos="100000">
                <a:srgbClr val="DBEAFE"/>
              </a:gs>
            </a:gsLst>
            <a:lin ang="27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" name="任意多边形: 形状 4"/>
          <p:cNvSpPr/>
          <p:nvPr/>
        </p:nvSpPr>
        <p:spPr>
          <a:xfrm>
            <a:off x="0" y="0"/>
            <a:ext cx="12192000" cy="76200"/>
          </a:xfrm>
          <a:custGeom>
            <a:avLst/>
            <a:gdLst>
              <a:gd name="connsiteX0" fmla="*/ 0 w 12192000"/>
              <a:gd name="connsiteY0" fmla="*/ 0 h 76200"/>
              <a:gd name="connsiteX1" fmla="*/ 12192000 w 12192000"/>
              <a:gd name="connsiteY1" fmla="*/ 0 h 76200"/>
              <a:gd name="connsiteX2" fmla="*/ 12192000 w 12192000"/>
              <a:gd name="connsiteY2" fmla="*/ 76200 h 76200"/>
              <a:gd name="connsiteX3" fmla="*/ 0 w 12192000"/>
              <a:gd name="connsiteY3" fmla="*/ 76200 h 7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76200">
                <a:moveTo>
                  <a:pt x="0" y="0"/>
                </a:moveTo>
                <a:lnTo>
                  <a:pt x="12192000" y="0"/>
                </a:lnTo>
                <a:lnTo>
                  <a:pt x="1219200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1E3A5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128135" y="201930"/>
            <a:ext cx="3935730" cy="615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150" b="1" spc="0" baseline="0">
                <a:solidFill>
                  <a:srgbClr val="1E3A5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rPr>
              <a:t>从想法到上线的 SOP</a:t>
            </a:r>
            <a:endParaRPr lang="zh-CN" altLang="en-US" sz="3150" b="1" spc="0" baseline="0">
              <a:solidFill>
                <a:srgbClr val="1E3A5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  <a:rtl val="0"/>
            </a:endParaRPr>
          </a:p>
        </p:txBody>
      </p:sp>
      <p:sp>
        <p:nvSpPr>
          <p:cNvPr id="7" name="任意多边形: 形状 6"/>
          <p:cNvSpPr/>
          <p:nvPr/>
        </p:nvSpPr>
        <p:spPr>
          <a:xfrm>
            <a:off x="5143500" y="904875"/>
            <a:ext cx="1905000" cy="28575"/>
          </a:xfrm>
          <a:custGeom>
            <a:avLst/>
            <a:gdLst>
              <a:gd name="connsiteX0" fmla="*/ 0 w 1905000"/>
              <a:gd name="connsiteY0" fmla="*/ 0 h 28575"/>
              <a:gd name="connsiteX1" fmla="*/ 1905000 w 1905000"/>
              <a:gd name="connsiteY1" fmla="*/ 0 h 28575"/>
              <a:gd name="connsiteX2" fmla="*/ 1905000 w 1905000"/>
              <a:gd name="connsiteY2" fmla="*/ 28575 h 28575"/>
              <a:gd name="connsiteX3" fmla="*/ 0 w 1905000"/>
              <a:gd name="connsiteY3" fmla="*/ 28575 h 28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5000" h="28575">
                <a:moveTo>
                  <a:pt x="0" y="0"/>
                </a:moveTo>
                <a:lnTo>
                  <a:pt x="1905000" y="0"/>
                </a:lnTo>
                <a:lnTo>
                  <a:pt x="1905000" y="28575"/>
                </a:lnTo>
                <a:lnTo>
                  <a:pt x="0" y="28575"/>
                </a:lnTo>
                <a:close/>
              </a:path>
            </a:pathLst>
          </a:custGeom>
          <a:solidFill>
            <a:srgbClr val="22D3E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956810" y="1021080"/>
            <a:ext cx="2278380" cy="367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50" spc="0" baseline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rPr>
              <a:t>操作手册：标准工作流</a:t>
            </a:r>
            <a:endParaRPr lang="zh-CN" altLang="en-US" sz="1650" spc="0" baseline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  <a:rtl val="0"/>
            </a:endParaRPr>
          </a:p>
        </p:txBody>
      </p:sp>
      <p:grpSp>
        <p:nvGrpSpPr>
          <p:cNvPr id="9" name="SVG Image 7"/>
          <p:cNvGrpSpPr/>
          <p:nvPr/>
        </p:nvGrpSpPr>
        <p:grpSpPr>
          <a:xfrm>
            <a:off x="923925" y="1809750"/>
            <a:ext cx="10334625" cy="904875"/>
            <a:chOff x="923925" y="1809750"/>
            <a:chExt cx="10334625" cy="904875"/>
          </a:xfrm>
        </p:grpSpPr>
        <p:grpSp>
          <p:nvGrpSpPr>
            <p:cNvPr id="10" name="SVG Image 7"/>
            <p:cNvGrpSpPr/>
            <p:nvPr/>
          </p:nvGrpSpPr>
          <p:grpSpPr>
            <a:xfrm>
              <a:off x="923925" y="1809750"/>
              <a:ext cx="2095500" cy="904875"/>
              <a:chOff x="923925" y="1809750"/>
              <a:chExt cx="2095500" cy="904875"/>
            </a:xfrm>
          </p:grpSpPr>
          <p:sp>
            <p:nvSpPr>
              <p:cNvPr id="11" name="任意多边形: 形状 10"/>
              <p:cNvSpPr/>
              <p:nvPr/>
            </p:nvSpPr>
            <p:spPr>
              <a:xfrm>
                <a:off x="923925" y="1809750"/>
                <a:ext cx="2095500" cy="904875"/>
              </a:xfrm>
              <a:custGeom>
                <a:avLst/>
                <a:gdLst>
                  <a:gd name="connsiteX0" fmla="*/ 114397 w 2095500"/>
                  <a:gd name="connsiteY0" fmla="*/ 190 h 904875"/>
                  <a:gd name="connsiteX1" fmla="*/ 1981297 w 2095500"/>
                  <a:gd name="connsiteY1" fmla="*/ 190 h 904875"/>
                  <a:gd name="connsiteX2" fmla="*/ 2095597 w 2095500"/>
                  <a:gd name="connsiteY2" fmla="*/ 114490 h 904875"/>
                  <a:gd name="connsiteX3" fmla="*/ 2095597 w 2095500"/>
                  <a:gd name="connsiteY3" fmla="*/ 790765 h 904875"/>
                  <a:gd name="connsiteX4" fmla="*/ 1981297 w 2095500"/>
                  <a:gd name="connsiteY4" fmla="*/ 905065 h 904875"/>
                  <a:gd name="connsiteX5" fmla="*/ 114397 w 2095500"/>
                  <a:gd name="connsiteY5" fmla="*/ 905065 h 904875"/>
                  <a:gd name="connsiteX6" fmla="*/ 97 w 2095500"/>
                  <a:gd name="connsiteY6" fmla="*/ 790765 h 904875"/>
                  <a:gd name="connsiteX7" fmla="*/ 97 w 2095500"/>
                  <a:gd name="connsiteY7" fmla="*/ 114490 h 904875"/>
                  <a:gd name="connsiteX8" fmla="*/ 114397 w 2095500"/>
                  <a:gd name="connsiteY8" fmla="*/ 190 h 904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95500" h="904875">
                    <a:moveTo>
                      <a:pt x="114397" y="190"/>
                    </a:moveTo>
                    <a:lnTo>
                      <a:pt x="1981297" y="190"/>
                    </a:lnTo>
                    <a:cubicBezTo>
                      <a:pt x="2044423" y="190"/>
                      <a:pt x="2095597" y="51364"/>
                      <a:pt x="2095597" y="114490"/>
                    </a:cubicBezTo>
                    <a:lnTo>
                      <a:pt x="2095597" y="790765"/>
                    </a:lnTo>
                    <a:cubicBezTo>
                      <a:pt x="2095597" y="853891"/>
                      <a:pt x="2044423" y="905065"/>
                      <a:pt x="1981297" y="905065"/>
                    </a:cubicBezTo>
                    <a:lnTo>
                      <a:pt x="114397" y="905065"/>
                    </a:lnTo>
                    <a:cubicBezTo>
                      <a:pt x="51271" y="905065"/>
                      <a:pt x="97" y="853891"/>
                      <a:pt x="97" y="790765"/>
                    </a:cubicBezTo>
                    <a:lnTo>
                      <a:pt x="97" y="114490"/>
                    </a:lnTo>
                    <a:cubicBezTo>
                      <a:pt x="97" y="51364"/>
                      <a:pt x="51271" y="190"/>
                      <a:pt x="114397" y="1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flat">
                <a:solidFill>
                  <a:srgbClr val="22D3EE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" name="任意多边形: 形状 11"/>
              <p:cNvSpPr/>
              <p:nvPr/>
            </p:nvSpPr>
            <p:spPr>
              <a:xfrm>
                <a:off x="923925" y="1809750"/>
                <a:ext cx="428625" cy="904875"/>
              </a:xfrm>
              <a:custGeom>
                <a:avLst/>
                <a:gdLst>
                  <a:gd name="connsiteX0" fmla="*/ 114397 w 428625"/>
                  <a:gd name="connsiteY0" fmla="*/ 190 h 904875"/>
                  <a:gd name="connsiteX1" fmla="*/ 314422 w 428625"/>
                  <a:gd name="connsiteY1" fmla="*/ 190 h 904875"/>
                  <a:gd name="connsiteX2" fmla="*/ 428722 w 428625"/>
                  <a:gd name="connsiteY2" fmla="*/ 114490 h 904875"/>
                  <a:gd name="connsiteX3" fmla="*/ 428722 w 428625"/>
                  <a:gd name="connsiteY3" fmla="*/ 790765 h 904875"/>
                  <a:gd name="connsiteX4" fmla="*/ 314422 w 428625"/>
                  <a:gd name="connsiteY4" fmla="*/ 905065 h 904875"/>
                  <a:gd name="connsiteX5" fmla="*/ 114397 w 428625"/>
                  <a:gd name="connsiteY5" fmla="*/ 905065 h 904875"/>
                  <a:gd name="connsiteX6" fmla="*/ 97 w 428625"/>
                  <a:gd name="connsiteY6" fmla="*/ 790765 h 904875"/>
                  <a:gd name="connsiteX7" fmla="*/ 97 w 428625"/>
                  <a:gd name="connsiteY7" fmla="*/ 114490 h 904875"/>
                  <a:gd name="connsiteX8" fmla="*/ 114397 w 428625"/>
                  <a:gd name="connsiteY8" fmla="*/ 190 h 904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8625" h="904875">
                    <a:moveTo>
                      <a:pt x="114397" y="190"/>
                    </a:moveTo>
                    <a:lnTo>
                      <a:pt x="314422" y="190"/>
                    </a:lnTo>
                    <a:cubicBezTo>
                      <a:pt x="377548" y="190"/>
                      <a:pt x="428722" y="51364"/>
                      <a:pt x="428722" y="114490"/>
                    </a:cubicBezTo>
                    <a:lnTo>
                      <a:pt x="428722" y="790765"/>
                    </a:lnTo>
                    <a:cubicBezTo>
                      <a:pt x="428722" y="853891"/>
                      <a:pt x="377548" y="905065"/>
                      <a:pt x="314422" y="905065"/>
                    </a:cubicBezTo>
                    <a:lnTo>
                      <a:pt x="114397" y="905065"/>
                    </a:lnTo>
                    <a:cubicBezTo>
                      <a:pt x="51271" y="905065"/>
                      <a:pt x="97" y="853891"/>
                      <a:pt x="97" y="790765"/>
                    </a:cubicBezTo>
                    <a:lnTo>
                      <a:pt x="97" y="114490"/>
                    </a:lnTo>
                    <a:cubicBezTo>
                      <a:pt x="97" y="51364"/>
                      <a:pt x="51271" y="190"/>
                      <a:pt x="114397" y="190"/>
                    </a:cubicBezTo>
                    <a:close/>
                  </a:path>
                </a:pathLst>
              </a:custGeom>
              <a:solidFill>
                <a:srgbClr val="22D3E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989647" y="2097405"/>
                <a:ext cx="297180" cy="3295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650" b="1" spc="0" baseline="0">
                    <a:solidFill>
                      <a:srgbClr val="FFFFFF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  <a:rtl val="0"/>
                  </a:rPr>
                  <a:t>1</a:t>
                </a:r>
                <a:endParaRPr lang="zh-CN" altLang="en-US" sz="1650" b="1" spc="0" baseline="0">
                  <a:solidFill>
                    <a:srgbClr val="FFFFFF"/>
                  </a:solidFill>
                  <a:latin typeface="Arial" panose="020B0604020202020204"/>
                  <a:cs typeface="Arial" panose="020B0604020202020204"/>
                  <a:sym typeface="Arial" panose="020B0604020202020204"/>
                  <a:rtl val="0"/>
                </a:endParaRPr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1689735" y="1992630"/>
                <a:ext cx="992505" cy="300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75" b="1" spc="0" baseline="0">
                    <a:solidFill>
                      <a:srgbClr val="1E3A5F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需求结构化</a:t>
                </a:r>
                <a:endParaRPr lang="zh-CN" altLang="en-US" sz="1275" b="1" spc="0" baseline="0">
                  <a:solidFill>
                    <a:srgbClr val="1E3A5F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1604010" y="2259330"/>
                <a:ext cx="1163955" cy="2438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spc="0" baseline="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生成 PRD 和 ER 图</a:t>
                </a:r>
                <a:endParaRPr lang="zh-CN" altLang="en-US" sz="900" spc="0" baseline="0">
                  <a:solidFill>
                    <a:srgbClr val="64748B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3023235" y="2030730"/>
              <a:ext cx="468630" cy="4057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250" spc="0" baseline="0">
                  <a:solidFill>
                    <a:srgbClr val="22D3EE"/>
                  </a:solidFill>
                  <a:latin typeface="Arial" panose="020B0604020202020204"/>
                  <a:cs typeface="Arial" panose="020B0604020202020204"/>
                  <a:sym typeface="Arial" panose="020B0604020202020204"/>
                  <a:rtl val="0"/>
                </a:rPr>
                <a:t>→</a:t>
              </a:r>
              <a:endParaRPr lang="zh-CN" altLang="en-US" sz="2250" spc="0" baseline="0">
                <a:solidFill>
                  <a:srgbClr val="22D3EE"/>
                </a:solidFill>
                <a:latin typeface="Arial" panose="020B0604020202020204"/>
                <a:cs typeface="Arial" panose="020B0604020202020204"/>
                <a:sym typeface="Arial" panose="020B0604020202020204"/>
                <a:rtl val="0"/>
              </a:endParaRPr>
            </a:p>
          </p:txBody>
        </p:sp>
        <p:grpSp>
          <p:nvGrpSpPr>
            <p:cNvPr id="17" name="SVG Image 7"/>
            <p:cNvGrpSpPr/>
            <p:nvPr/>
          </p:nvGrpSpPr>
          <p:grpSpPr>
            <a:xfrm>
              <a:off x="3543300" y="1809750"/>
              <a:ext cx="2095500" cy="904875"/>
              <a:chOff x="3543300" y="1809750"/>
              <a:chExt cx="2095500" cy="904875"/>
            </a:xfrm>
          </p:grpSpPr>
          <p:sp>
            <p:nvSpPr>
              <p:cNvPr id="18" name="任意多边形: 形状 17"/>
              <p:cNvSpPr/>
              <p:nvPr/>
            </p:nvSpPr>
            <p:spPr>
              <a:xfrm>
                <a:off x="3543300" y="1809750"/>
                <a:ext cx="2095500" cy="904875"/>
              </a:xfrm>
              <a:custGeom>
                <a:avLst/>
                <a:gdLst>
                  <a:gd name="connsiteX0" fmla="*/ 114672 w 2095500"/>
                  <a:gd name="connsiteY0" fmla="*/ 190 h 904875"/>
                  <a:gd name="connsiteX1" fmla="*/ 1981572 w 2095500"/>
                  <a:gd name="connsiteY1" fmla="*/ 190 h 904875"/>
                  <a:gd name="connsiteX2" fmla="*/ 2095872 w 2095500"/>
                  <a:gd name="connsiteY2" fmla="*/ 114490 h 904875"/>
                  <a:gd name="connsiteX3" fmla="*/ 2095872 w 2095500"/>
                  <a:gd name="connsiteY3" fmla="*/ 790765 h 904875"/>
                  <a:gd name="connsiteX4" fmla="*/ 1981572 w 2095500"/>
                  <a:gd name="connsiteY4" fmla="*/ 905065 h 904875"/>
                  <a:gd name="connsiteX5" fmla="*/ 114672 w 2095500"/>
                  <a:gd name="connsiteY5" fmla="*/ 905065 h 904875"/>
                  <a:gd name="connsiteX6" fmla="*/ 372 w 2095500"/>
                  <a:gd name="connsiteY6" fmla="*/ 790765 h 904875"/>
                  <a:gd name="connsiteX7" fmla="*/ 372 w 2095500"/>
                  <a:gd name="connsiteY7" fmla="*/ 114490 h 904875"/>
                  <a:gd name="connsiteX8" fmla="*/ 114672 w 2095500"/>
                  <a:gd name="connsiteY8" fmla="*/ 190 h 904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95500" h="904875">
                    <a:moveTo>
                      <a:pt x="114672" y="190"/>
                    </a:moveTo>
                    <a:lnTo>
                      <a:pt x="1981572" y="190"/>
                    </a:lnTo>
                    <a:cubicBezTo>
                      <a:pt x="2044698" y="190"/>
                      <a:pt x="2095872" y="51364"/>
                      <a:pt x="2095872" y="114490"/>
                    </a:cubicBezTo>
                    <a:lnTo>
                      <a:pt x="2095872" y="790765"/>
                    </a:lnTo>
                    <a:cubicBezTo>
                      <a:pt x="2095872" y="853891"/>
                      <a:pt x="2044698" y="905065"/>
                      <a:pt x="1981572" y="905065"/>
                    </a:cubicBezTo>
                    <a:lnTo>
                      <a:pt x="114672" y="905065"/>
                    </a:lnTo>
                    <a:cubicBezTo>
                      <a:pt x="51546" y="905065"/>
                      <a:pt x="372" y="853891"/>
                      <a:pt x="372" y="790765"/>
                    </a:cubicBezTo>
                    <a:lnTo>
                      <a:pt x="372" y="114490"/>
                    </a:lnTo>
                    <a:cubicBezTo>
                      <a:pt x="372" y="51364"/>
                      <a:pt x="51546" y="190"/>
                      <a:pt x="114672" y="1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flat">
                <a:solidFill>
                  <a:srgbClr val="6366F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" name="任意多边形: 形状 18"/>
              <p:cNvSpPr/>
              <p:nvPr/>
            </p:nvSpPr>
            <p:spPr>
              <a:xfrm>
                <a:off x="3543300" y="1809750"/>
                <a:ext cx="428625" cy="904875"/>
              </a:xfrm>
              <a:custGeom>
                <a:avLst/>
                <a:gdLst>
                  <a:gd name="connsiteX0" fmla="*/ 114672 w 428625"/>
                  <a:gd name="connsiteY0" fmla="*/ 190 h 904875"/>
                  <a:gd name="connsiteX1" fmla="*/ 314697 w 428625"/>
                  <a:gd name="connsiteY1" fmla="*/ 190 h 904875"/>
                  <a:gd name="connsiteX2" fmla="*/ 428997 w 428625"/>
                  <a:gd name="connsiteY2" fmla="*/ 114490 h 904875"/>
                  <a:gd name="connsiteX3" fmla="*/ 428997 w 428625"/>
                  <a:gd name="connsiteY3" fmla="*/ 790765 h 904875"/>
                  <a:gd name="connsiteX4" fmla="*/ 314697 w 428625"/>
                  <a:gd name="connsiteY4" fmla="*/ 905065 h 904875"/>
                  <a:gd name="connsiteX5" fmla="*/ 114672 w 428625"/>
                  <a:gd name="connsiteY5" fmla="*/ 905065 h 904875"/>
                  <a:gd name="connsiteX6" fmla="*/ 372 w 428625"/>
                  <a:gd name="connsiteY6" fmla="*/ 790765 h 904875"/>
                  <a:gd name="connsiteX7" fmla="*/ 372 w 428625"/>
                  <a:gd name="connsiteY7" fmla="*/ 114490 h 904875"/>
                  <a:gd name="connsiteX8" fmla="*/ 114672 w 428625"/>
                  <a:gd name="connsiteY8" fmla="*/ 190 h 904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8625" h="904875">
                    <a:moveTo>
                      <a:pt x="114672" y="190"/>
                    </a:moveTo>
                    <a:lnTo>
                      <a:pt x="314697" y="190"/>
                    </a:lnTo>
                    <a:cubicBezTo>
                      <a:pt x="377823" y="190"/>
                      <a:pt x="428997" y="51364"/>
                      <a:pt x="428997" y="114490"/>
                    </a:cubicBezTo>
                    <a:lnTo>
                      <a:pt x="428997" y="790765"/>
                    </a:lnTo>
                    <a:cubicBezTo>
                      <a:pt x="428997" y="853891"/>
                      <a:pt x="377823" y="905065"/>
                      <a:pt x="314697" y="905065"/>
                    </a:cubicBezTo>
                    <a:lnTo>
                      <a:pt x="114672" y="905065"/>
                    </a:lnTo>
                    <a:cubicBezTo>
                      <a:pt x="51546" y="905065"/>
                      <a:pt x="372" y="853891"/>
                      <a:pt x="372" y="790765"/>
                    </a:cubicBezTo>
                    <a:lnTo>
                      <a:pt x="372" y="114490"/>
                    </a:lnTo>
                    <a:cubicBezTo>
                      <a:pt x="372" y="51364"/>
                      <a:pt x="51546" y="190"/>
                      <a:pt x="114672" y="190"/>
                    </a:cubicBezTo>
                    <a:close/>
                  </a:path>
                </a:pathLst>
              </a:custGeom>
              <a:solidFill>
                <a:srgbClr val="6366F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3609022" y="2097405"/>
                <a:ext cx="297180" cy="3295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650" b="1" spc="0" baseline="0">
                    <a:solidFill>
                      <a:srgbClr val="FFFFFF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  <a:rtl val="0"/>
                  </a:rPr>
                  <a:t>2</a:t>
                </a:r>
                <a:endParaRPr lang="zh-CN" altLang="en-US" sz="1650" b="1" spc="0" baseline="0">
                  <a:solidFill>
                    <a:srgbClr val="FFFFFF"/>
                  </a:solidFill>
                  <a:latin typeface="Arial" panose="020B0604020202020204"/>
                  <a:cs typeface="Arial" panose="020B0604020202020204"/>
                  <a:sym typeface="Arial" panose="020B0604020202020204"/>
                  <a:rtl val="0"/>
                </a:endParaRP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4390072" y="1992630"/>
                <a:ext cx="830580" cy="300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75" b="1" spc="0" baseline="0">
                    <a:solidFill>
                      <a:srgbClr val="1E3A5F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环境基座</a:t>
                </a:r>
                <a:endParaRPr lang="zh-CN" altLang="en-US" sz="1275" b="1" spc="0" baseline="0">
                  <a:solidFill>
                    <a:srgbClr val="1E3A5F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4256722" y="2259330"/>
                <a:ext cx="1097280" cy="2438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spc="0" baseline="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初始化配置与依赖</a:t>
                </a:r>
                <a:endParaRPr lang="zh-CN" altLang="en-US" sz="900" spc="0" baseline="0">
                  <a:solidFill>
                    <a:srgbClr val="64748B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</p:grpSp>
        <p:sp>
          <p:nvSpPr>
            <p:cNvPr id="23" name="文本框 22"/>
            <p:cNvSpPr txBox="1"/>
            <p:nvPr/>
          </p:nvSpPr>
          <p:spPr>
            <a:xfrm>
              <a:off x="5642610" y="2030730"/>
              <a:ext cx="468630" cy="4057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250" spc="0" baseline="0">
                  <a:solidFill>
                    <a:srgbClr val="22D3EE"/>
                  </a:solidFill>
                  <a:latin typeface="Arial" panose="020B0604020202020204"/>
                  <a:cs typeface="Arial" panose="020B0604020202020204"/>
                  <a:sym typeface="Arial" panose="020B0604020202020204"/>
                  <a:rtl val="0"/>
                </a:rPr>
                <a:t>→</a:t>
              </a:r>
              <a:endParaRPr lang="zh-CN" altLang="en-US" sz="2250" spc="0" baseline="0">
                <a:solidFill>
                  <a:srgbClr val="22D3EE"/>
                </a:solidFill>
                <a:latin typeface="Arial" panose="020B0604020202020204"/>
                <a:cs typeface="Arial" panose="020B0604020202020204"/>
                <a:sym typeface="Arial" panose="020B0604020202020204"/>
                <a:rtl val="0"/>
              </a:endParaRPr>
            </a:p>
          </p:txBody>
        </p:sp>
        <p:grpSp>
          <p:nvGrpSpPr>
            <p:cNvPr id="24" name="SVG Image 7"/>
            <p:cNvGrpSpPr/>
            <p:nvPr/>
          </p:nvGrpSpPr>
          <p:grpSpPr>
            <a:xfrm>
              <a:off x="6162675" y="1809750"/>
              <a:ext cx="2476500" cy="904875"/>
              <a:chOff x="6162675" y="1809750"/>
              <a:chExt cx="2476500" cy="904875"/>
            </a:xfrm>
          </p:grpSpPr>
          <p:sp>
            <p:nvSpPr>
              <p:cNvPr id="25" name="任意多边形: 形状 24"/>
              <p:cNvSpPr/>
              <p:nvPr/>
            </p:nvSpPr>
            <p:spPr>
              <a:xfrm>
                <a:off x="6162675" y="1809750"/>
                <a:ext cx="2476500" cy="904875"/>
              </a:xfrm>
              <a:custGeom>
                <a:avLst/>
                <a:gdLst>
                  <a:gd name="connsiteX0" fmla="*/ 114947 w 2476500"/>
                  <a:gd name="connsiteY0" fmla="*/ 190 h 904875"/>
                  <a:gd name="connsiteX1" fmla="*/ 2362847 w 2476500"/>
                  <a:gd name="connsiteY1" fmla="*/ 190 h 904875"/>
                  <a:gd name="connsiteX2" fmla="*/ 2477147 w 2476500"/>
                  <a:gd name="connsiteY2" fmla="*/ 114490 h 904875"/>
                  <a:gd name="connsiteX3" fmla="*/ 2477147 w 2476500"/>
                  <a:gd name="connsiteY3" fmla="*/ 790765 h 904875"/>
                  <a:gd name="connsiteX4" fmla="*/ 2362847 w 2476500"/>
                  <a:gd name="connsiteY4" fmla="*/ 905065 h 904875"/>
                  <a:gd name="connsiteX5" fmla="*/ 114947 w 2476500"/>
                  <a:gd name="connsiteY5" fmla="*/ 905065 h 904875"/>
                  <a:gd name="connsiteX6" fmla="*/ 647 w 2476500"/>
                  <a:gd name="connsiteY6" fmla="*/ 790765 h 904875"/>
                  <a:gd name="connsiteX7" fmla="*/ 647 w 2476500"/>
                  <a:gd name="connsiteY7" fmla="*/ 114490 h 904875"/>
                  <a:gd name="connsiteX8" fmla="*/ 114947 w 2476500"/>
                  <a:gd name="connsiteY8" fmla="*/ 190 h 904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76500" h="904875">
                    <a:moveTo>
                      <a:pt x="114947" y="190"/>
                    </a:moveTo>
                    <a:lnTo>
                      <a:pt x="2362847" y="190"/>
                    </a:lnTo>
                    <a:cubicBezTo>
                      <a:pt x="2425973" y="190"/>
                      <a:pt x="2477147" y="51364"/>
                      <a:pt x="2477147" y="114490"/>
                    </a:cubicBezTo>
                    <a:lnTo>
                      <a:pt x="2477147" y="790765"/>
                    </a:lnTo>
                    <a:cubicBezTo>
                      <a:pt x="2477147" y="853891"/>
                      <a:pt x="2425973" y="905065"/>
                      <a:pt x="2362847" y="905065"/>
                    </a:cubicBezTo>
                    <a:lnTo>
                      <a:pt x="114947" y="905065"/>
                    </a:lnTo>
                    <a:cubicBezTo>
                      <a:pt x="51821" y="905065"/>
                      <a:pt x="647" y="853891"/>
                      <a:pt x="647" y="790765"/>
                    </a:cubicBezTo>
                    <a:lnTo>
                      <a:pt x="647" y="114490"/>
                    </a:lnTo>
                    <a:cubicBezTo>
                      <a:pt x="647" y="51364"/>
                      <a:pt x="51821" y="190"/>
                      <a:pt x="114947" y="190"/>
                    </a:cubicBezTo>
                    <a:close/>
                  </a:path>
                </a:pathLst>
              </a:custGeom>
              <a:solidFill>
                <a:srgbClr val="FEF3C7"/>
              </a:solidFill>
              <a:ln w="38100" cap="flat">
                <a:solidFill>
                  <a:srgbClr val="F59E0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" name="任意多边形: 形状 25"/>
              <p:cNvSpPr/>
              <p:nvPr/>
            </p:nvSpPr>
            <p:spPr>
              <a:xfrm>
                <a:off x="6162675" y="1809750"/>
                <a:ext cx="428625" cy="904875"/>
              </a:xfrm>
              <a:custGeom>
                <a:avLst/>
                <a:gdLst>
                  <a:gd name="connsiteX0" fmla="*/ 114947 w 428625"/>
                  <a:gd name="connsiteY0" fmla="*/ 190 h 904875"/>
                  <a:gd name="connsiteX1" fmla="*/ 314972 w 428625"/>
                  <a:gd name="connsiteY1" fmla="*/ 190 h 904875"/>
                  <a:gd name="connsiteX2" fmla="*/ 429272 w 428625"/>
                  <a:gd name="connsiteY2" fmla="*/ 114490 h 904875"/>
                  <a:gd name="connsiteX3" fmla="*/ 429272 w 428625"/>
                  <a:gd name="connsiteY3" fmla="*/ 790765 h 904875"/>
                  <a:gd name="connsiteX4" fmla="*/ 314972 w 428625"/>
                  <a:gd name="connsiteY4" fmla="*/ 905065 h 904875"/>
                  <a:gd name="connsiteX5" fmla="*/ 114947 w 428625"/>
                  <a:gd name="connsiteY5" fmla="*/ 905065 h 904875"/>
                  <a:gd name="connsiteX6" fmla="*/ 647 w 428625"/>
                  <a:gd name="connsiteY6" fmla="*/ 790765 h 904875"/>
                  <a:gd name="connsiteX7" fmla="*/ 647 w 428625"/>
                  <a:gd name="connsiteY7" fmla="*/ 114490 h 904875"/>
                  <a:gd name="connsiteX8" fmla="*/ 114947 w 428625"/>
                  <a:gd name="connsiteY8" fmla="*/ 190 h 904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8625" h="904875">
                    <a:moveTo>
                      <a:pt x="114947" y="190"/>
                    </a:moveTo>
                    <a:lnTo>
                      <a:pt x="314972" y="190"/>
                    </a:lnTo>
                    <a:cubicBezTo>
                      <a:pt x="378098" y="190"/>
                      <a:pt x="429272" y="51364"/>
                      <a:pt x="429272" y="114490"/>
                    </a:cubicBezTo>
                    <a:lnTo>
                      <a:pt x="429272" y="790765"/>
                    </a:lnTo>
                    <a:cubicBezTo>
                      <a:pt x="429272" y="853891"/>
                      <a:pt x="378098" y="905065"/>
                      <a:pt x="314972" y="905065"/>
                    </a:cubicBezTo>
                    <a:lnTo>
                      <a:pt x="114947" y="905065"/>
                    </a:lnTo>
                    <a:cubicBezTo>
                      <a:pt x="51821" y="905065"/>
                      <a:pt x="647" y="853891"/>
                      <a:pt x="647" y="790765"/>
                    </a:cubicBezTo>
                    <a:lnTo>
                      <a:pt x="647" y="114490"/>
                    </a:lnTo>
                    <a:cubicBezTo>
                      <a:pt x="647" y="51364"/>
                      <a:pt x="51821" y="190"/>
                      <a:pt x="114947" y="190"/>
                    </a:cubicBezTo>
                    <a:close/>
                  </a:path>
                </a:pathLst>
              </a:custGeom>
              <a:solidFill>
                <a:srgbClr val="F59E0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6228397" y="2097405"/>
                <a:ext cx="297180" cy="3295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650" b="1" spc="0" baseline="0">
                    <a:solidFill>
                      <a:srgbClr val="FFFFFF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  <a:rtl val="0"/>
                  </a:rPr>
                  <a:t>3</a:t>
                </a:r>
                <a:endParaRPr lang="zh-CN" altLang="en-US" sz="1650" b="1" spc="0" baseline="0">
                  <a:solidFill>
                    <a:srgbClr val="FFFFFF"/>
                  </a:solidFill>
                  <a:latin typeface="Arial" panose="020B0604020202020204"/>
                  <a:cs typeface="Arial" panose="020B0604020202020204"/>
                  <a:sym typeface="Arial" panose="020B0604020202020204"/>
                  <a:rtl val="0"/>
                </a:endParaRPr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7038022" y="1992630"/>
                <a:ext cx="1154430" cy="300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75" b="1" spc="0" baseline="0">
                    <a:solidFill>
                      <a:srgbClr val="B45309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增量开发循环</a:t>
                </a:r>
                <a:endParaRPr lang="zh-CN" altLang="en-US" sz="1275" b="1" spc="0" baseline="0">
                  <a:solidFill>
                    <a:srgbClr val="B45309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6837997" y="2259330"/>
                <a:ext cx="1554480" cy="2438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spc="0" baseline="0">
                    <a:solidFill>
                      <a:srgbClr val="92400E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（内部迭代，见下方详解）</a:t>
                </a:r>
                <a:endParaRPr lang="zh-CN" altLang="en-US" sz="900" spc="0" baseline="0">
                  <a:solidFill>
                    <a:srgbClr val="92400E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</p:grpSp>
        <p:sp>
          <p:nvSpPr>
            <p:cNvPr id="30" name="文本框 29"/>
            <p:cNvSpPr txBox="1"/>
            <p:nvPr/>
          </p:nvSpPr>
          <p:spPr>
            <a:xfrm>
              <a:off x="8642985" y="2030730"/>
              <a:ext cx="468630" cy="4057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250" spc="0" baseline="0">
                  <a:solidFill>
                    <a:srgbClr val="22D3EE"/>
                  </a:solidFill>
                  <a:latin typeface="Arial" panose="020B0604020202020204"/>
                  <a:cs typeface="Arial" panose="020B0604020202020204"/>
                  <a:sym typeface="Arial" panose="020B0604020202020204"/>
                  <a:rtl val="0"/>
                </a:rPr>
                <a:t>→</a:t>
              </a:r>
              <a:endParaRPr lang="zh-CN" altLang="en-US" sz="2250" spc="0" baseline="0">
                <a:solidFill>
                  <a:srgbClr val="22D3EE"/>
                </a:solidFill>
                <a:latin typeface="Arial" panose="020B0604020202020204"/>
                <a:cs typeface="Arial" panose="020B0604020202020204"/>
                <a:sym typeface="Arial" panose="020B0604020202020204"/>
                <a:rtl val="0"/>
              </a:endParaRPr>
            </a:p>
          </p:txBody>
        </p:sp>
        <p:grpSp>
          <p:nvGrpSpPr>
            <p:cNvPr id="31" name="SVG Image 7"/>
            <p:cNvGrpSpPr/>
            <p:nvPr/>
          </p:nvGrpSpPr>
          <p:grpSpPr>
            <a:xfrm>
              <a:off x="9163050" y="1809750"/>
              <a:ext cx="2095500" cy="904875"/>
              <a:chOff x="9163050" y="1809750"/>
              <a:chExt cx="2095500" cy="904875"/>
            </a:xfrm>
          </p:grpSpPr>
          <p:sp>
            <p:nvSpPr>
              <p:cNvPr id="32" name="任意多边形: 形状 31"/>
              <p:cNvSpPr/>
              <p:nvPr/>
            </p:nvSpPr>
            <p:spPr>
              <a:xfrm>
                <a:off x="9163050" y="1809750"/>
                <a:ext cx="2095500" cy="904875"/>
              </a:xfrm>
              <a:custGeom>
                <a:avLst/>
                <a:gdLst>
                  <a:gd name="connsiteX0" fmla="*/ 115262 w 2095500"/>
                  <a:gd name="connsiteY0" fmla="*/ 190 h 904875"/>
                  <a:gd name="connsiteX1" fmla="*/ 1982162 w 2095500"/>
                  <a:gd name="connsiteY1" fmla="*/ 190 h 904875"/>
                  <a:gd name="connsiteX2" fmla="*/ 2096462 w 2095500"/>
                  <a:gd name="connsiteY2" fmla="*/ 114490 h 904875"/>
                  <a:gd name="connsiteX3" fmla="*/ 2096462 w 2095500"/>
                  <a:gd name="connsiteY3" fmla="*/ 790765 h 904875"/>
                  <a:gd name="connsiteX4" fmla="*/ 1982162 w 2095500"/>
                  <a:gd name="connsiteY4" fmla="*/ 905065 h 904875"/>
                  <a:gd name="connsiteX5" fmla="*/ 115262 w 2095500"/>
                  <a:gd name="connsiteY5" fmla="*/ 905065 h 904875"/>
                  <a:gd name="connsiteX6" fmla="*/ 962 w 2095500"/>
                  <a:gd name="connsiteY6" fmla="*/ 790765 h 904875"/>
                  <a:gd name="connsiteX7" fmla="*/ 962 w 2095500"/>
                  <a:gd name="connsiteY7" fmla="*/ 114490 h 904875"/>
                  <a:gd name="connsiteX8" fmla="*/ 115262 w 2095500"/>
                  <a:gd name="connsiteY8" fmla="*/ 190 h 904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95500" h="904875">
                    <a:moveTo>
                      <a:pt x="115262" y="190"/>
                    </a:moveTo>
                    <a:lnTo>
                      <a:pt x="1982162" y="190"/>
                    </a:lnTo>
                    <a:cubicBezTo>
                      <a:pt x="2045288" y="190"/>
                      <a:pt x="2096462" y="51364"/>
                      <a:pt x="2096462" y="114490"/>
                    </a:cubicBezTo>
                    <a:lnTo>
                      <a:pt x="2096462" y="790765"/>
                    </a:lnTo>
                    <a:cubicBezTo>
                      <a:pt x="2096462" y="853891"/>
                      <a:pt x="2045288" y="905065"/>
                      <a:pt x="1982162" y="905065"/>
                    </a:cubicBezTo>
                    <a:lnTo>
                      <a:pt x="115262" y="905065"/>
                    </a:lnTo>
                    <a:cubicBezTo>
                      <a:pt x="52136" y="905065"/>
                      <a:pt x="962" y="853891"/>
                      <a:pt x="962" y="790765"/>
                    </a:cubicBezTo>
                    <a:lnTo>
                      <a:pt x="962" y="114490"/>
                    </a:lnTo>
                    <a:cubicBezTo>
                      <a:pt x="962" y="51364"/>
                      <a:pt x="52136" y="190"/>
                      <a:pt x="115262" y="1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flat">
                <a:solidFill>
                  <a:srgbClr val="22D3EE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3" name="任意多边形: 形状 32"/>
              <p:cNvSpPr/>
              <p:nvPr/>
            </p:nvSpPr>
            <p:spPr>
              <a:xfrm>
                <a:off x="9163050" y="1809750"/>
                <a:ext cx="428625" cy="904875"/>
              </a:xfrm>
              <a:custGeom>
                <a:avLst/>
                <a:gdLst>
                  <a:gd name="connsiteX0" fmla="*/ 115262 w 428625"/>
                  <a:gd name="connsiteY0" fmla="*/ 190 h 904875"/>
                  <a:gd name="connsiteX1" fmla="*/ 315287 w 428625"/>
                  <a:gd name="connsiteY1" fmla="*/ 190 h 904875"/>
                  <a:gd name="connsiteX2" fmla="*/ 429587 w 428625"/>
                  <a:gd name="connsiteY2" fmla="*/ 114490 h 904875"/>
                  <a:gd name="connsiteX3" fmla="*/ 429587 w 428625"/>
                  <a:gd name="connsiteY3" fmla="*/ 790765 h 904875"/>
                  <a:gd name="connsiteX4" fmla="*/ 315287 w 428625"/>
                  <a:gd name="connsiteY4" fmla="*/ 905065 h 904875"/>
                  <a:gd name="connsiteX5" fmla="*/ 115262 w 428625"/>
                  <a:gd name="connsiteY5" fmla="*/ 905065 h 904875"/>
                  <a:gd name="connsiteX6" fmla="*/ 962 w 428625"/>
                  <a:gd name="connsiteY6" fmla="*/ 790765 h 904875"/>
                  <a:gd name="connsiteX7" fmla="*/ 962 w 428625"/>
                  <a:gd name="connsiteY7" fmla="*/ 114490 h 904875"/>
                  <a:gd name="connsiteX8" fmla="*/ 115262 w 428625"/>
                  <a:gd name="connsiteY8" fmla="*/ 190 h 904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8625" h="904875">
                    <a:moveTo>
                      <a:pt x="115262" y="190"/>
                    </a:moveTo>
                    <a:lnTo>
                      <a:pt x="315287" y="190"/>
                    </a:lnTo>
                    <a:cubicBezTo>
                      <a:pt x="378413" y="190"/>
                      <a:pt x="429587" y="51364"/>
                      <a:pt x="429587" y="114490"/>
                    </a:cubicBezTo>
                    <a:lnTo>
                      <a:pt x="429587" y="790765"/>
                    </a:lnTo>
                    <a:cubicBezTo>
                      <a:pt x="429587" y="853891"/>
                      <a:pt x="378413" y="905065"/>
                      <a:pt x="315287" y="905065"/>
                    </a:cubicBezTo>
                    <a:lnTo>
                      <a:pt x="115262" y="905065"/>
                    </a:lnTo>
                    <a:cubicBezTo>
                      <a:pt x="52136" y="905065"/>
                      <a:pt x="962" y="853891"/>
                      <a:pt x="962" y="790765"/>
                    </a:cubicBezTo>
                    <a:lnTo>
                      <a:pt x="962" y="114490"/>
                    </a:lnTo>
                    <a:cubicBezTo>
                      <a:pt x="962" y="51364"/>
                      <a:pt x="52136" y="190"/>
                      <a:pt x="115262" y="190"/>
                    </a:cubicBezTo>
                    <a:close/>
                  </a:path>
                </a:pathLst>
              </a:custGeom>
              <a:solidFill>
                <a:srgbClr val="22D3E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9228772" y="2097405"/>
                <a:ext cx="297180" cy="3295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650" b="1" spc="0" baseline="0">
                    <a:solidFill>
                      <a:srgbClr val="FFFFFF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  <a:rtl val="0"/>
                  </a:rPr>
                  <a:t>4</a:t>
                </a:r>
                <a:endParaRPr lang="zh-CN" altLang="en-US" sz="1650" b="1" spc="0" baseline="0">
                  <a:solidFill>
                    <a:srgbClr val="FFFFFF"/>
                  </a:solidFill>
                  <a:latin typeface="Arial" panose="020B0604020202020204"/>
                  <a:cs typeface="Arial" panose="020B0604020202020204"/>
                  <a:sym typeface="Arial" panose="020B0604020202020204"/>
                  <a:rtl val="0"/>
                </a:endParaRPr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10009822" y="1992630"/>
                <a:ext cx="830580" cy="300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75" b="1" spc="0" baseline="0">
                    <a:solidFill>
                      <a:srgbClr val="1E3A5F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部署交付</a:t>
                </a:r>
                <a:endParaRPr lang="zh-CN" altLang="en-US" sz="1275" b="1" spc="0" baseline="0">
                  <a:solidFill>
                    <a:srgbClr val="1E3A5F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9676447" y="2259330"/>
                <a:ext cx="1497330" cy="2438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spc="0" baseline="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Docker或脚本部署与启动</a:t>
                </a:r>
                <a:endParaRPr lang="zh-CN" altLang="en-US" sz="900" spc="0" baseline="0">
                  <a:solidFill>
                    <a:srgbClr val="64748B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</p:grpSp>
      </p:grpSp>
      <p:grpSp>
        <p:nvGrpSpPr>
          <p:cNvPr id="37" name="SVG Image 7"/>
          <p:cNvGrpSpPr/>
          <p:nvPr/>
        </p:nvGrpSpPr>
        <p:grpSpPr>
          <a:xfrm>
            <a:off x="3619500" y="3040380"/>
            <a:ext cx="4953000" cy="2769870"/>
            <a:chOff x="3619500" y="3040380"/>
            <a:chExt cx="4953000" cy="2769870"/>
          </a:xfrm>
        </p:grpSpPr>
        <p:grpSp>
          <p:nvGrpSpPr>
            <p:cNvPr id="38" name="SVG Image 7"/>
            <p:cNvGrpSpPr/>
            <p:nvPr/>
          </p:nvGrpSpPr>
          <p:grpSpPr>
            <a:xfrm>
              <a:off x="5143500" y="3429000"/>
              <a:ext cx="1905000" cy="476250"/>
              <a:chOff x="5143500" y="3429000"/>
              <a:chExt cx="1905000" cy="476250"/>
            </a:xfrm>
          </p:grpSpPr>
          <p:sp>
            <p:nvSpPr>
              <p:cNvPr id="39" name="任意多边形: 形状 38"/>
              <p:cNvSpPr/>
              <p:nvPr/>
            </p:nvSpPr>
            <p:spPr>
              <a:xfrm>
                <a:off x="5143500" y="3429000"/>
                <a:ext cx="1905000" cy="476250"/>
              </a:xfrm>
              <a:custGeom>
                <a:avLst/>
                <a:gdLst>
                  <a:gd name="connsiteX0" fmla="*/ 76840 w 1905000"/>
                  <a:gd name="connsiteY0" fmla="*/ 390 h 476250"/>
                  <a:gd name="connsiteX1" fmla="*/ 1829440 w 1905000"/>
                  <a:gd name="connsiteY1" fmla="*/ 390 h 476250"/>
                  <a:gd name="connsiteX2" fmla="*/ 1905640 w 1905000"/>
                  <a:gd name="connsiteY2" fmla="*/ 76590 h 476250"/>
                  <a:gd name="connsiteX3" fmla="*/ 1905640 w 1905000"/>
                  <a:gd name="connsiteY3" fmla="*/ 400440 h 476250"/>
                  <a:gd name="connsiteX4" fmla="*/ 1829440 w 1905000"/>
                  <a:gd name="connsiteY4" fmla="*/ 476640 h 476250"/>
                  <a:gd name="connsiteX5" fmla="*/ 76840 w 1905000"/>
                  <a:gd name="connsiteY5" fmla="*/ 476640 h 476250"/>
                  <a:gd name="connsiteX6" fmla="*/ 640 w 1905000"/>
                  <a:gd name="connsiteY6" fmla="*/ 400440 h 476250"/>
                  <a:gd name="connsiteX7" fmla="*/ 640 w 1905000"/>
                  <a:gd name="connsiteY7" fmla="*/ 76590 h 476250"/>
                  <a:gd name="connsiteX8" fmla="*/ 76840 w 1905000"/>
                  <a:gd name="connsiteY8" fmla="*/ 390 h 476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05000" h="476250">
                    <a:moveTo>
                      <a:pt x="76840" y="390"/>
                    </a:moveTo>
                    <a:lnTo>
                      <a:pt x="1829440" y="390"/>
                    </a:lnTo>
                    <a:cubicBezTo>
                      <a:pt x="1871524" y="390"/>
                      <a:pt x="1905640" y="34506"/>
                      <a:pt x="1905640" y="76590"/>
                    </a:cubicBezTo>
                    <a:lnTo>
                      <a:pt x="1905640" y="400440"/>
                    </a:lnTo>
                    <a:cubicBezTo>
                      <a:pt x="1905640" y="442524"/>
                      <a:pt x="1871524" y="476640"/>
                      <a:pt x="1829440" y="476640"/>
                    </a:cubicBezTo>
                    <a:lnTo>
                      <a:pt x="76840" y="476640"/>
                    </a:lnTo>
                    <a:cubicBezTo>
                      <a:pt x="34756" y="476640"/>
                      <a:pt x="640" y="442524"/>
                      <a:pt x="640" y="400440"/>
                    </a:cubicBezTo>
                    <a:lnTo>
                      <a:pt x="640" y="76590"/>
                    </a:lnTo>
                    <a:cubicBezTo>
                      <a:pt x="640" y="34506"/>
                      <a:pt x="34756" y="390"/>
                      <a:pt x="76840" y="3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flat">
                <a:solidFill>
                  <a:srgbClr val="F59E0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5575935" y="3516630"/>
                <a:ext cx="1040130" cy="2819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125" b="1" spc="0" baseline="0">
                    <a:solidFill>
                      <a:srgbClr val="B45309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给出开发指令</a:t>
                </a:r>
                <a:endParaRPr lang="zh-CN" altLang="en-US" sz="1125" b="1" spc="0" baseline="0">
                  <a:solidFill>
                    <a:srgbClr val="B45309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</p:grpSp>
        <p:grpSp>
          <p:nvGrpSpPr>
            <p:cNvPr id="41" name="SVG Image 7"/>
            <p:cNvGrpSpPr/>
            <p:nvPr/>
          </p:nvGrpSpPr>
          <p:grpSpPr>
            <a:xfrm>
              <a:off x="7048500" y="4429125"/>
              <a:ext cx="1524000" cy="476250"/>
              <a:chOff x="7048500" y="4429125"/>
              <a:chExt cx="1524000" cy="476250"/>
            </a:xfrm>
          </p:grpSpPr>
          <p:sp>
            <p:nvSpPr>
              <p:cNvPr id="42" name="任意多边形: 形状 41"/>
              <p:cNvSpPr/>
              <p:nvPr/>
            </p:nvSpPr>
            <p:spPr>
              <a:xfrm>
                <a:off x="7048500" y="4429125"/>
                <a:ext cx="1524000" cy="476250"/>
              </a:xfrm>
              <a:custGeom>
                <a:avLst/>
                <a:gdLst>
                  <a:gd name="connsiteX0" fmla="*/ 77020 w 1524000"/>
                  <a:gd name="connsiteY0" fmla="*/ 490 h 476250"/>
                  <a:gd name="connsiteX1" fmla="*/ 1448620 w 1524000"/>
                  <a:gd name="connsiteY1" fmla="*/ 490 h 476250"/>
                  <a:gd name="connsiteX2" fmla="*/ 1524820 w 1524000"/>
                  <a:gd name="connsiteY2" fmla="*/ 76690 h 476250"/>
                  <a:gd name="connsiteX3" fmla="*/ 1524820 w 1524000"/>
                  <a:gd name="connsiteY3" fmla="*/ 400540 h 476250"/>
                  <a:gd name="connsiteX4" fmla="*/ 1448620 w 1524000"/>
                  <a:gd name="connsiteY4" fmla="*/ 476740 h 476250"/>
                  <a:gd name="connsiteX5" fmla="*/ 77020 w 1524000"/>
                  <a:gd name="connsiteY5" fmla="*/ 476740 h 476250"/>
                  <a:gd name="connsiteX6" fmla="*/ 820 w 1524000"/>
                  <a:gd name="connsiteY6" fmla="*/ 400540 h 476250"/>
                  <a:gd name="connsiteX7" fmla="*/ 820 w 1524000"/>
                  <a:gd name="connsiteY7" fmla="*/ 76690 h 476250"/>
                  <a:gd name="connsiteX8" fmla="*/ 77020 w 1524000"/>
                  <a:gd name="connsiteY8" fmla="*/ 490 h 476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24000" h="476250">
                    <a:moveTo>
                      <a:pt x="77020" y="490"/>
                    </a:moveTo>
                    <a:lnTo>
                      <a:pt x="1448620" y="490"/>
                    </a:lnTo>
                    <a:cubicBezTo>
                      <a:pt x="1490704" y="490"/>
                      <a:pt x="1524820" y="34606"/>
                      <a:pt x="1524820" y="76690"/>
                    </a:cubicBezTo>
                    <a:lnTo>
                      <a:pt x="1524820" y="400540"/>
                    </a:lnTo>
                    <a:cubicBezTo>
                      <a:pt x="1524820" y="442624"/>
                      <a:pt x="1490704" y="476740"/>
                      <a:pt x="1448620" y="476740"/>
                    </a:cubicBezTo>
                    <a:lnTo>
                      <a:pt x="77020" y="476740"/>
                    </a:lnTo>
                    <a:cubicBezTo>
                      <a:pt x="34936" y="476740"/>
                      <a:pt x="820" y="442624"/>
                      <a:pt x="820" y="400540"/>
                    </a:cubicBezTo>
                    <a:lnTo>
                      <a:pt x="820" y="76690"/>
                    </a:lnTo>
                    <a:cubicBezTo>
                      <a:pt x="820" y="34606"/>
                      <a:pt x="34936" y="490"/>
                      <a:pt x="77020" y="4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flat">
                <a:solidFill>
                  <a:srgbClr val="F59E0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7338060" y="4516755"/>
                <a:ext cx="944880" cy="2819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125" b="1" spc="0" baseline="0">
                    <a:solidFill>
                      <a:srgbClr val="B45309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AI 生成代码</a:t>
                </a:r>
                <a:endParaRPr lang="zh-CN" altLang="en-US" sz="1125" b="1" spc="0" baseline="0">
                  <a:solidFill>
                    <a:srgbClr val="B45309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</p:grpSp>
        <p:grpSp>
          <p:nvGrpSpPr>
            <p:cNvPr id="44" name="SVG Image 7"/>
            <p:cNvGrpSpPr/>
            <p:nvPr/>
          </p:nvGrpSpPr>
          <p:grpSpPr>
            <a:xfrm>
              <a:off x="5143500" y="5334000"/>
              <a:ext cx="1905000" cy="476250"/>
              <a:chOff x="5143500" y="5334000"/>
              <a:chExt cx="1905000" cy="476250"/>
            </a:xfrm>
          </p:grpSpPr>
          <p:sp>
            <p:nvSpPr>
              <p:cNvPr id="45" name="任意多边形: 形状 44"/>
              <p:cNvSpPr/>
              <p:nvPr/>
            </p:nvSpPr>
            <p:spPr>
              <a:xfrm>
                <a:off x="5143500" y="5334000"/>
                <a:ext cx="1905000" cy="476250"/>
              </a:xfrm>
              <a:custGeom>
                <a:avLst/>
                <a:gdLst>
                  <a:gd name="connsiteX0" fmla="*/ 76840 w 1905000"/>
                  <a:gd name="connsiteY0" fmla="*/ 590 h 476250"/>
                  <a:gd name="connsiteX1" fmla="*/ 1829440 w 1905000"/>
                  <a:gd name="connsiteY1" fmla="*/ 590 h 476250"/>
                  <a:gd name="connsiteX2" fmla="*/ 1905640 w 1905000"/>
                  <a:gd name="connsiteY2" fmla="*/ 76790 h 476250"/>
                  <a:gd name="connsiteX3" fmla="*/ 1905640 w 1905000"/>
                  <a:gd name="connsiteY3" fmla="*/ 400640 h 476250"/>
                  <a:gd name="connsiteX4" fmla="*/ 1829440 w 1905000"/>
                  <a:gd name="connsiteY4" fmla="*/ 476840 h 476250"/>
                  <a:gd name="connsiteX5" fmla="*/ 76840 w 1905000"/>
                  <a:gd name="connsiteY5" fmla="*/ 476840 h 476250"/>
                  <a:gd name="connsiteX6" fmla="*/ 640 w 1905000"/>
                  <a:gd name="connsiteY6" fmla="*/ 400640 h 476250"/>
                  <a:gd name="connsiteX7" fmla="*/ 640 w 1905000"/>
                  <a:gd name="connsiteY7" fmla="*/ 76790 h 476250"/>
                  <a:gd name="connsiteX8" fmla="*/ 76840 w 1905000"/>
                  <a:gd name="connsiteY8" fmla="*/ 590 h 476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05000" h="476250">
                    <a:moveTo>
                      <a:pt x="76840" y="590"/>
                    </a:moveTo>
                    <a:lnTo>
                      <a:pt x="1829440" y="590"/>
                    </a:lnTo>
                    <a:cubicBezTo>
                      <a:pt x="1871524" y="590"/>
                      <a:pt x="1905640" y="34706"/>
                      <a:pt x="1905640" y="76790"/>
                    </a:cubicBezTo>
                    <a:lnTo>
                      <a:pt x="1905640" y="400640"/>
                    </a:lnTo>
                    <a:cubicBezTo>
                      <a:pt x="1905640" y="442724"/>
                      <a:pt x="1871524" y="476840"/>
                      <a:pt x="1829440" y="476840"/>
                    </a:cubicBezTo>
                    <a:lnTo>
                      <a:pt x="76840" y="476840"/>
                    </a:lnTo>
                    <a:cubicBezTo>
                      <a:pt x="34756" y="476840"/>
                      <a:pt x="640" y="442724"/>
                      <a:pt x="640" y="400640"/>
                    </a:cubicBezTo>
                    <a:lnTo>
                      <a:pt x="640" y="76790"/>
                    </a:lnTo>
                    <a:cubicBezTo>
                      <a:pt x="640" y="34706"/>
                      <a:pt x="34756" y="590"/>
                      <a:pt x="76840" y="5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flat">
                <a:solidFill>
                  <a:srgbClr val="F59E0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" name="文本框 45"/>
              <p:cNvSpPr txBox="1"/>
              <p:nvPr/>
            </p:nvSpPr>
            <p:spPr>
              <a:xfrm>
                <a:off x="5466397" y="5421630"/>
                <a:ext cx="1259205" cy="2819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125" b="1" spc="0" baseline="0">
                    <a:solidFill>
                      <a:srgbClr val="B45309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测试 → 报错修复</a:t>
                </a:r>
                <a:endParaRPr lang="zh-CN" altLang="en-US" sz="1125" b="1" spc="0" baseline="0">
                  <a:solidFill>
                    <a:srgbClr val="B45309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</p:grpSp>
        <p:grpSp>
          <p:nvGrpSpPr>
            <p:cNvPr id="47" name="SVG Image 7"/>
            <p:cNvGrpSpPr/>
            <p:nvPr/>
          </p:nvGrpSpPr>
          <p:grpSpPr>
            <a:xfrm>
              <a:off x="3619500" y="4429125"/>
              <a:ext cx="1524000" cy="476250"/>
              <a:chOff x="3619500" y="4429125"/>
              <a:chExt cx="1524000" cy="476250"/>
            </a:xfrm>
          </p:grpSpPr>
          <p:sp>
            <p:nvSpPr>
              <p:cNvPr id="48" name="任意多边形: 形状 47"/>
              <p:cNvSpPr/>
              <p:nvPr/>
            </p:nvSpPr>
            <p:spPr>
              <a:xfrm>
                <a:off x="3619500" y="4429125"/>
                <a:ext cx="1524000" cy="476250"/>
              </a:xfrm>
              <a:custGeom>
                <a:avLst/>
                <a:gdLst>
                  <a:gd name="connsiteX0" fmla="*/ 76660 w 1524000"/>
                  <a:gd name="connsiteY0" fmla="*/ 490 h 476250"/>
                  <a:gd name="connsiteX1" fmla="*/ 1448260 w 1524000"/>
                  <a:gd name="connsiteY1" fmla="*/ 490 h 476250"/>
                  <a:gd name="connsiteX2" fmla="*/ 1524460 w 1524000"/>
                  <a:gd name="connsiteY2" fmla="*/ 76690 h 476250"/>
                  <a:gd name="connsiteX3" fmla="*/ 1524460 w 1524000"/>
                  <a:gd name="connsiteY3" fmla="*/ 400540 h 476250"/>
                  <a:gd name="connsiteX4" fmla="*/ 1448260 w 1524000"/>
                  <a:gd name="connsiteY4" fmla="*/ 476740 h 476250"/>
                  <a:gd name="connsiteX5" fmla="*/ 76660 w 1524000"/>
                  <a:gd name="connsiteY5" fmla="*/ 476740 h 476250"/>
                  <a:gd name="connsiteX6" fmla="*/ 460 w 1524000"/>
                  <a:gd name="connsiteY6" fmla="*/ 400540 h 476250"/>
                  <a:gd name="connsiteX7" fmla="*/ 460 w 1524000"/>
                  <a:gd name="connsiteY7" fmla="*/ 76690 h 476250"/>
                  <a:gd name="connsiteX8" fmla="*/ 76660 w 1524000"/>
                  <a:gd name="connsiteY8" fmla="*/ 490 h 476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24000" h="476250">
                    <a:moveTo>
                      <a:pt x="76660" y="490"/>
                    </a:moveTo>
                    <a:lnTo>
                      <a:pt x="1448260" y="490"/>
                    </a:lnTo>
                    <a:cubicBezTo>
                      <a:pt x="1490344" y="490"/>
                      <a:pt x="1524460" y="34606"/>
                      <a:pt x="1524460" y="76690"/>
                    </a:cubicBezTo>
                    <a:lnTo>
                      <a:pt x="1524460" y="400540"/>
                    </a:lnTo>
                    <a:cubicBezTo>
                      <a:pt x="1524460" y="442624"/>
                      <a:pt x="1490344" y="476740"/>
                      <a:pt x="1448260" y="476740"/>
                    </a:cubicBezTo>
                    <a:lnTo>
                      <a:pt x="76660" y="476740"/>
                    </a:lnTo>
                    <a:cubicBezTo>
                      <a:pt x="34576" y="476740"/>
                      <a:pt x="460" y="442624"/>
                      <a:pt x="460" y="400540"/>
                    </a:cubicBezTo>
                    <a:lnTo>
                      <a:pt x="460" y="76690"/>
                    </a:lnTo>
                    <a:cubicBezTo>
                      <a:pt x="460" y="34606"/>
                      <a:pt x="34576" y="490"/>
                      <a:pt x="76660" y="490"/>
                    </a:cubicBezTo>
                    <a:close/>
                  </a:path>
                </a:pathLst>
              </a:custGeom>
              <a:solidFill>
                <a:srgbClr val="DCFCE7"/>
              </a:solidFill>
              <a:ln w="19050" cap="flat">
                <a:solidFill>
                  <a:srgbClr val="16A34A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9" name="文本框 48"/>
              <p:cNvSpPr txBox="1"/>
              <p:nvPr/>
            </p:nvSpPr>
            <p:spPr>
              <a:xfrm>
                <a:off x="3885247" y="4516755"/>
                <a:ext cx="992505" cy="2819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125" b="1" spc="0" baseline="0">
                    <a:solidFill>
                      <a:srgbClr val="166534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  <a:rtl val="0"/>
                  </a:rPr>
                  <a:t>Git 提交锁定</a:t>
                </a:r>
                <a:endParaRPr lang="zh-CN" altLang="en-US" sz="1125" b="1" spc="0" baseline="0">
                  <a:solidFill>
                    <a:srgbClr val="166534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endParaRPr>
              </a:p>
            </p:txBody>
          </p:sp>
        </p:grpSp>
        <p:sp>
          <p:nvSpPr>
            <p:cNvPr id="50" name="任意多边形: 形状 49"/>
            <p:cNvSpPr/>
            <p:nvPr/>
          </p:nvSpPr>
          <p:spPr>
            <a:xfrm>
              <a:off x="5619750" y="4191000"/>
              <a:ext cx="952500" cy="952500"/>
            </a:xfrm>
            <a:custGeom>
              <a:avLst/>
              <a:gdLst>
                <a:gd name="connsiteX0" fmla="*/ 953140 w 952500"/>
                <a:gd name="connsiteY0" fmla="*/ 476740 h 952500"/>
                <a:gd name="connsiteX1" fmla="*/ 476890 w 952500"/>
                <a:gd name="connsiteY1" fmla="*/ 952990 h 952500"/>
                <a:gd name="connsiteX2" fmla="*/ 640 w 952500"/>
                <a:gd name="connsiteY2" fmla="*/ 476740 h 952500"/>
                <a:gd name="connsiteX3" fmla="*/ 476890 w 952500"/>
                <a:gd name="connsiteY3" fmla="*/ 490 h 952500"/>
                <a:gd name="connsiteX4" fmla="*/ 953140 w 952500"/>
                <a:gd name="connsiteY4" fmla="*/ 476740 h 95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0" h="952500">
                  <a:moveTo>
                    <a:pt x="953140" y="476740"/>
                  </a:moveTo>
                  <a:cubicBezTo>
                    <a:pt x="953140" y="739766"/>
                    <a:pt x="739916" y="952990"/>
                    <a:pt x="476890" y="952990"/>
                  </a:cubicBezTo>
                  <a:cubicBezTo>
                    <a:pt x="213864" y="952990"/>
                    <a:pt x="640" y="739766"/>
                    <a:pt x="640" y="476740"/>
                  </a:cubicBezTo>
                  <a:cubicBezTo>
                    <a:pt x="640" y="213714"/>
                    <a:pt x="213864" y="490"/>
                    <a:pt x="476890" y="490"/>
                  </a:cubicBezTo>
                  <a:cubicBezTo>
                    <a:pt x="739916" y="490"/>
                    <a:pt x="953140" y="213714"/>
                    <a:pt x="953140" y="476740"/>
                  </a:cubicBezTo>
                  <a:close/>
                </a:path>
              </a:pathLst>
            </a:custGeom>
            <a:solidFill>
              <a:srgbClr val="F59E0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5890260" y="4450080"/>
              <a:ext cx="411480" cy="2438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b="1" spc="0" baseline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重复</a:t>
              </a:r>
              <a:endParaRPr lang="zh-CN" altLang="en-US" sz="900" b="1" spc="0" baseline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5890260" y="4612005"/>
              <a:ext cx="411480" cy="2438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b="1" spc="0" baseline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循环</a:t>
              </a:r>
              <a:endParaRPr lang="zh-CN" altLang="en-US" sz="900" b="1" spc="0" baseline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  <p:sp>
          <p:nvSpPr>
            <p:cNvPr id="53" name="任意多边形: 形状 52"/>
            <p:cNvSpPr/>
            <p:nvPr/>
          </p:nvSpPr>
          <p:spPr>
            <a:xfrm>
              <a:off x="7048500" y="3734435"/>
              <a:ext cx="806450" cy="694690"/>
            </a:xfrm>
            <a:custGeom>
              <a:avLst/>
              <a:gdLst>
                <a:gd name="connsiteX0" fmla="*/ 640 w 762000"/>
                <a:gd name="connsiteY0" fmla="*/ 490 h 238125"/>
                <a:gd name="connsiteX1" fmla="*/ 762640 w 762000"/>
                <a:gd name="connsiteY1" fmla="*/ 238615 h 23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62000" h="238125">
                  <a:moveTo>
                    <a:pt x="640" y="490"/>
                  </a:moveTo>
                  <a:cubicBezTo>
                    <a:pt x="445140" y="490"/>
                    <a:pt x="699140" y="79865"/>
                    <a:pt x="762640" y="238615"/>
                  </a:cubicBezTo>
                </a:path>
              </a:pathLst>
            </a:custGeom>
            <a:noFill/>
            <a:ln w="23813" cap="flat">
              <a:solidFill>
                <a:srgbClr val="F59E0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" name="任意多边形: 形状 53"/>
            <p:cNvSpPr/>
            <p:nvPr/>
          </p:nvSpPr>
          <p:spPr>
            <a:xfrm>
              <a:off x="7048500" y="4906010"/>
              <a:ext cx="806450" cy="666115"/>
            </a:xfrm>
            <a:custGeom>
              <a:avLst/>
              <a:gdLst>
                <a:gd name="connsiteX0" fmla="*/ 667390 w 666750"/>
                <a:gd name="connsiteY0" fmla="*/ 490 h 238125"/>
                <a:gd name="connsiteX1" fmla="*/ 640 w 666750"/>
                <a:gd name="connsiteY1" fmla="*/ 238615 h 23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6750" h="238125">
                  <a:moveTo>
                    <a:pt x="667390" y="490"/>
                  </a:moveTo>
                  <a:cubicBezTo>
                    <a:pt x="667390" y="159240"/>
                    <a:pt x="445140" y="238615"/>
                    <a:pt x="640" y="238615"/>
                  </a:cubicBezTo>
                </a:path>
              </a:pathLst>
            </a:custGeom>
            <a:noFill/>
            <a:ln w="23813" cap="flat">
              <a:solidFill>
                <a:srgbClr val="F59E0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" name="任意多边形: 形状 54"/>
            <p:cNvSpPr/>
            <p:nvPr/>
          </p:nvSpPr>
          <p:spPr>
            <a:xfrm>
              <a:off x="4286250" y="4906010"/>
              <a:ext cx="857250" cy="666115"/>
            </a:xfrm>
            <a:custGeom>
              <a:avLst/>
              <a:gdLst>
                <a:gd name="connsiteX0" fmla="*/ 572140 w 571500"/>
                <a:gd name="connsiteY0" fmla="*/ 238615 h 238125"/>
                <a:gd name="connsiteX1" fmla="*/ 640 w 571500"/>
                <a:gd name="connsiteY1" fmla="*/ 490 h 23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1500" h="238125">
                  <a:moveTo>
                    <a:pt x="572140" y="238615"/>
                  </a:moveTo>
                  <a:cubicBezTo>
                    <a:pt x="254640" y="238615"/>
                    <a:pt x="64140" y="159240"/>
                    <a:pt x="640" y="490"/>
                  </a:cubicBezTo>
                </a:path>
              </a:pathLst>
            </a:custGeom>
            <a:noFill/>
            <a:ln w="23813" cap="flat">
              <a:solidFill>
                <a:srgbClr val="F59E0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" name="任意多边形: 形状 55"/>
            <p:cNvSpPr/>
            <p:nvPr/>
          </p:nvSpPr>
          <p:spPr>
            <a:xfrm>
              <a:off x="4286250" y="3734435"/>
              <a:ext cx="857250" cy="694690"/>
            </a:xfrm>
            <a:custGeom>
              <a:avLst/>
              <a:gdLst>
                <a:gd name="connsiteX0" fmla="*/ 640 w 857250"/>
                <a:gd name="connsiteY0" fmla="*/ 238615 h 238125"/>
                <a:gd name="connsiteX1" fmla="*/ 857890 w 857250"/>
                <a:gd name="connsiteY1" fmla="*/ 490 h 23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57250" h="238125">
                  <a:moveTo>
                    <a:pt x="640" y="238615"/>
                  </a:moveTo>
                  <a:cubicBezTo>
                    <a:pt x="640" y="79865"/>
                    <a:pt x="286390" y="490"/>
                    <a:pt x="857890" y="490"/>
                  </a:cubicBezTo>
                </a:path>
              </a:pathLst>
            </a:custGeom>
            <a:noFill/>
            <a:ln w="23813" cap="flat">
              <a:solidFill>
                <a:srgbClr val="16A34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4847272" y="3040380"/>
              <a:ext cx="2497455" cy="3390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500" b="1" spc="0" baseline="0">
                  <a:solidFill>
                    <a:srgbClr val="B45309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Step 3：增量开发内部循环</a:t>
              </a:r>
              <a:endParaRPr lang="zh-CN" altLang="en-US" sz="1500" b="1" spc="0" baseline="0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</p:grpSp>
      <p:grpSp>
        <p:nvGrpSpPr>
          <p:cNvPr id="58" name="SVG Image 7"/>
          <p:cNvGrpSpPr/>
          <p:nvPr/>
        </p:nvGrpSpPr>
        <p:grpSpPr>
          <a:xfrm>
            <a:off x="1333500" y="5953125"/>
            <a:ext cx="9525000" cy="666750"/>
            <a:chOff x="1333500" y="5953125"/>
            <a:chExt cx="9525000" cy="666750"/>
          </a:xfrm>
        </p:grpSpPr>
        <p:sp>
          <p:nvSpPr>
            <p:cNvPr id="59" name="任意多边形: 形状 58"/>
            <p:cNvSpPr/>
            <p:nvPr/>
          </p:nvSpPr>
          <p:spPr>
            <a:xfrm>
              <a:off x="1333500" y="5953125"/>
              <a:ext cx="9525000" cy="666750"/>
            </a:xfrm>
            <a:custGeom>
              <a:avLst/>
              <a:gdLst>
                <a:gd name="connsiteX0" fmla="*/ 95890 w 9525000"/>
                <a:gd name="connsiteY0" fmla="*/ 660 h 666750"/>
                <a:gd name="connsiteX1" fmla="*/ 9430390 w 9525000"/>
                <a:gd name="connsiteY1" fmla="*/ 660 h 666750"/>
                <a:gd name="connsiteX2" fmla="*/ 9525640 w 9525000"/>
                <a:gd name="connsiteY2" fmla="*/ 95910 h 666750"/>
                <a:gd name="connsiteX3" fmla="*/ 9525640 w 9525000"/>
                <a:gd name="connsiteY3" fmla="*/ 572160 h 666750"/>
                <a:gd name="connsiteX4" fmla="*/ 9430390 w 9525000"/>
                <a:gd name="connsiteY4" fmla="*/ 667410 h 666750"/>
                <a:gd name="connsiteX5" fmla="*/ 95890 w 9525000"/>
                <a:gd name="connsiteY5" fmla="*/ 667410 h 666750"/>
                <a:gd name="connsiteX6" fmla="*/ 640 w 9525000"/>
                <a:gd name="connsiteY6" fmla="*/ 572160 h 666750"/>
                <a:gd name="connsiteX7" fmla="*/ 640 w 9525000"/>
                <a:gd name="connsiteY7" fmla="*/ 95910 h 666750"/>
                <a:gd name="connsiteX8" fmla="*/ 95890 w 9525000"/>
                <a:gd name="connsiteY8" fmla="*/ 66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25000" h="666750">
                  <a:moveTo>
                    <a:pt x="95890" y="660"/>
                  </a:moveTo>
                  <a:lnTo>
                    <a:pt x="9430390" y="660"/>
                  </a:lnTo>
                  <a:cubicBezTo>
                    <a:pt x="9482995" y="660"/>
                    <a:pt x="9525640" y="43305"/>
                    <a:pt x="9525640" y="95910"/>
                  </a:cubicBezTo>
                  <a:lnTo>
                    <a:pt x="9525640" y="572160"/>
                  </a:lnTo>
                  <a:cubicBezTo>
                    <a:pt x="9525640" y="624765"/>
                    <a:pt x="9482995" y="667410"/>
                    <a:pt x="9430390" y="667410"/>
                  </a:cubicBezTo>
                  <a:lnTo>
                    <a:pt x="95890" y="667410"/>
                  </a:lnTo>
                  <a:cubicBezTo>
                    <a:pt x="43285" y="667410"/>
                    <a:pt x="640" y="624765"/>
                    <a:pt x="640" y="572160"/>
                  </a:cubicBezTo>
                  <a:lnTo>
                    <a:pt x="640" y="95910"/>
                  </a:lnTo>
                  <a:cubicBezTo>
                    <a:pt x="640" y="43305"/>
                    <a:pt x="43285" y="660"/>
                    <a:pt x="95890" y="660"/>
                  </a:cubicBezTo>
                  <a:close/>
                </a:path>
              </a:pathLst>
            </a:custGeom>
            <a:solidFill>
              <a:srgbClr val="1E3A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5594985" y="6012180"/>
              <a:ext cx="1002030" cy="2819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125" b="1" spc="0" baseline="0">
                  <a:solidFill>
                    <a:srgbClr val="22D3EE"/>
                  </a:solidFill>
                  <a:latin typeface="Segoe UI Emoji" panose="020B0502040204020203"/>
                  <a:sym typeface="Segoe UI Emoji" panose="020B0502040204020203"/>
                  <a:rtl val="0"/>
                </a:rPr>
                <a:t>💡</a:t>
              </a:r>
              <a:r>
                <a:rPr lang="zh-CN" altLang="en-US" sz="1125" b="1" spc="0" baseline="0">
                  <a:solidFill>
                    <a:srgbClr val="22D3EE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 核心要点</a:t>
              </a:r>
              <a:endParaRPr lang="zh-CN" altLang="en-US" sz="1125" b="1" spc="0" baseline="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3637597" y="6269355"/>
              <a:ext cx="4916805" cy="2724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50" spc="0" baseline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1→2→3→4 是线性流程 | Step 3 内部是循环迭代 | 每次功能稳定后立即 Git 提交</a:t>
              </a:r>
              <a:endParaRPr lang="zh-CN" altLang="en-US" sz="1050" spc="0" baseline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0F172A"/>
              </a:gs>
              <a:gs pos="50000">
                <a:srgbClr val="162844"/>
              </a:gs>
              <a:gs pos="100000">
                <a:srgbClr val="1E3A5F"/>
              </a:gs>
            </a:gsLst>
            <a:lin ang="27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" name="任意多边形: 形状 4"/>
          <p:cNvSpPr/>
          <p:nvPr/>
        </p:nvSpPr>
        <p:spPr>
          <a:xfrm>
            <a:off x="0" y="0"/>
            <a:ext cx="12192000" cy="76200"/>
          </a:xfrm>
          <a:custGeom>
            <a:avLst/>
            <a:gdLst>
              <a:gd name="connsiteX0" fmla="*/ 0 w 12192000"/>
              <a:gd name="connsiteY0" fmla="*/ 0 h 76200"/>
              <a:gd name="connsiteX1" fmla="*/ 12192000 w 12192000"/>
              <a:gd name="connsiteY1" fmla="*/ 0 h 76200"/>
              <a:gd name="connsiteX2" fmla="*/ 12192000 w 12192000"/>
              <a:gd name="connsiteY2" fmla="*/ 76200 h 76200"/>
              <a:gd name="connsiteX3" fmla="*/ 0 w 12192000"/>
              <a:gd name="connsiteY3" fmla="*/ 76200 h 7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76200">
                <a:moveTo>
                  <a:pt x="0" y="0"/>
                </a:moveTo>
                <a:lnTo>
                  <a:pt x="12192000" y="0"/>
                </a:lnTo>
                <a:lnTo>
                  <a:pt x="1219200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22D3E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004310" y="201930"/>
            <a:ext cx="4183380" cy="615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150" b="1" spc="0" baseline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rPr>
              <a:t>成为精明的技术管理者</a:t>
            </a:r>
            <a:endParaRPr lang="zh-CN" altLang="en-US" sz="3150" b="1" spc="0" baseline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  <a:rtl val="0"/>
            </a:endParaRPr>
          </a:p>
        </p:txBody>
      </p:sp>
      <p:sp>
        <p:nvSpPr>
          <p:cNvPr id="7" name="任意多边形: 形状 6"/>
          <p:cNvSpPr/>
          <p:nvPr/>
        </p:nvSpPr>
        <p:spPr>
          <a:xfrm>
            <a:off x="5143500" y="904875"/>
            <a:ext cx="1905000" cy="28575"/>
          </a:xfrm>
          <a:custGeom>
            <a:avLst/>
            <a:gdLst>
              <a:gd name="connsiteX0" fmla="*/ 0 w 1905000"/>
              <a:gd name="connsiteY0" fmla="*/ 0 h 28575"/>
              <a:gd name="connsiteX1" fmla="*/ 1905000 w 1905000"/>
              <a:gd name="connsiteY1" fmla="*/ 0 h 28575"/>
              <a:gd name="connsiteX2" fmla="*/ 1905000 w 1905000"/>
              <a:gd name="connsiteY2" fmla="*/ 28575 h 28575"/>
              <a:gd name="connsiteX3" fmla="*/ 0 w 1905000"/>
              <a:gd name="connsiteY3" fmla="*/ 28575 h 28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5000" h="28575">
                <a:moveTo>
                  <a:pt x="0" y="0"/>
                </a:moveTo>
                <a:lnTo>
                  <a:pt x="1905000" y="0"/>
                </a:lnTo>
                <a:lnTo>
                  <a:pt x="1905000" y="28575"/>
                </a:lnTo>
                <a:lnTo>
                  <a:pt x="0" y="28575"/>
                </a:lnTo>
                <a:close/>
              </a:path>
            </a:pathLst>
          </a:custGeom>
          <a:solidFill>
            <a:srgbClr val="22D3E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480685" y="1021080"/>
            <a:ext cx="1230630" cy="367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50" spc="0" baseline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rPr>
              <a:t>总结与建议</a:t>
            </a:r>
            <a:endParaRPr lang="zh-CN" altLang="en-US" sz="1650" spc="0" baseline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  <a:rtl val="0"/>
            </a:endParaRPr>
          </a:p>
        </p:txBody>
      </p:sp>
      <p:grpSp>
        <p:nvGrpSpPr>
          <p:cNvPr id="9" name="SVG Image 8"/>
          <p:cNvGrpSpPr/>
          <p:nvPr/>
        </p:nvGrpSpPr>
        <p:grpSpPr>
          <a:xfrm>
            <a:off x="2286000" y="1419225"/>
            <a:ext cx="7620000" cy="1133475"/>
            <a:chOff x="2286000" y="1419225"/>
            <a:chExt cx="7620000" cy="1133475"/>
          </a:xfrm>
        </p:grpSpPr>
        <p:sp>
          <p:nvSpPr>
            <p:cNvPr id="10" name="任意多边形: 形状 9"/>
            <p:cNvSpPr/>
            <p:nvPr/>
          </p:nvSpPr>
          <p:spPr>
            <a:xfrm>
              <a:off x="2286000" y="1524000"/>
              <a:ext cx="7620000" cy="952500"/>
            </a:xfrm>
            <a:custGeom>
              <a:avLst/>
              <a:gdLst>
                <a:gd name="connsiteX0" fmla="*/ 153040 w 7620000"/>
                <a:gd name="connsiteY0" fmla="*/ 210 h 952500"/>
                <a:gd name="connsiteX1" fmla="*/ 7468240 w 7620000"/>
                <a:gd name="connsiteY1" fmla="*/ 210 h 952500"/>
                <a:gd name="connsiteX2" fmla="*/ 7620640 w 7620000"/>
                <a:gd name="connsiteY2" fmla="*/ 152610 h 952500"/>
                <a:gd name="connsiteX3" fmla="*/ 7620640 w 7620000"/>
                <a:gd name="connsiteY3" fmla="*/ 800310 h 952500"/>
                <a:gd name="connsiteX4" fmla="*/ 7468240 w 7620000"/>
                <a:gd name="connsiteY4" fmla="*/ 952710 h 952500"/>
                <a:gd name="connsiteX5" fmla="*/ 153040 w 7620000"/>
                <a:gd name="connsiteY5" fmla="*/ 952710 h 952500"/>
                <a:gd name="connsiteX6" fmla="*/ 640 w 7620000"/>
                <a:gd name="connsiteY6" fmla="*/ 800310 h 952500"/>
                <a:gd name="connsiteX7" fmla="*/ 640 w 7620000"/>
                <a:gd name="connsiteY7" fmla="*/ 152610 h 952500"/>
                <a:gd name="connsiteX8" fmla="*/ 153040 w 7620000"/>
                <a:gd name="connsiteY8" fmla="*/ 210 h 95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20000" h="952500">
                  <a:moveTo>
                    <a:pt x="153040" y="210"/>
                  </a:moveTo>
                  <a:lnTo>
                    <a:pt x="7468240" y="210"/>
                  </a:lnTo>
                  <a:cubicBezTo>
                    <a:pt x="7552408" y="210"/>
                    <a:pt x="7620640" y="68442"/>
                    <a:pt x="7620640" y="152610"/>
                  </a:cubicBezTo>
                  <a:lnTo>
                    <a:pt x="7620640" y="800310"/>
                  </a:lnTo>
                  <a:cubicBezTo>
                    <a:pt x="7620640" y="884478"/>
                    <a:pt x="7552408" y="952710"/>
                    <a:pt x="7468240" y="952710"/>
                  </a:cubicBezTo>
                  <a:lnTo>
                    <a:pt x="153040" y="952710"/>
                  </a:lnTo>
                  <a:cubicBezTo>
                    <a:pt x="68872" y="952710"/>
                    <a:pt x="640" y="884478"/>
                    <a:pt x="640" y="800310"/>
                  </a:cubicBezTo>
                  <a:lnTo>
                    <a:pt x="640" y="152610"/>
                  </a:lnTo>
                  <a:cubicBezTo>
                    <a:pt x="640" y="68442"/>
                    <a:pt x="68872" y="210"/>
                    <a:pt x="153040" y="210"/>
                  </a:cubicBezTo>
                  <a:close/>
                </a:path>
              </a:pathLst>
            </a:custGeom>
            <a:solidFill>
              <a:srgbClr val="22D3EE">
                <a:alpha val="2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575560" y="1373505"/>
              <a:ext cx="421005" cy="748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4500" spc="0" baseline="0">
                  <a:solidFill>
                    <a:srgbClr val="22D3EE">
                      <a:alpha val="50000"/>
                    </a:srgbClr>
                  </a:solidFill>
                  <a:latin typeface="Georgia" panose="02040502050405020303"/>
                  <a:sym typeface="Georgia" panose="02040502050405020303"/>
                  <a:rtl val="0"/>
                </a:rPr>
                <a:t>"</a:t>
              </a:r>
              <a:endParaRPr lang="zh-CN" altLang="en-US" sz="4500" spc="0" baseline="0">
                <a:solidFill>
                  <a:srgbClr val="22D3EE">
                    <a:alpha val="50000"/>
                  </a:srgbClr>
                </a:solidFill>
                <a:latin typeface="Georgia" panose="02040502050405020303"/>
                <a:sym typeface="Georgia" panose="02040502050405020303"/>
                <a:rtl val="0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5471160" y="1621155"/>
              <a:ext cx="1249680" cy="4438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100" b="1" spc="0" baseline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核心结论</a:t>
              </a:r>
              <a:endParaRPr lang="zh-CN" altLang="en-US" sz="2100" b="1" spc="0" baseline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4466272" y="1954530"/>
              <a:ext cx="3259455" cy="4438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800" spc="0" baseline="0">
                  <a:solidFill>
                    <a:srgbClr val="22D3EE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逻辑思维能力 </a:t>
              </a:r>
              <a:r>
                <a:rPr lang="zh-CN" altLang="en-US" sz="2100" b="1" spc="0" baseline="0">
                  <a:solidFill>
                    <a:srgbClr val="22D3EE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&gt;</a:t>
              </a:r>
              <a:r>
                <a:rPr lang="zh-CN" altLang="en-US" sz="1800" b="1" spc="0" baseline="0">
                  <a:solidFill>
                    <a:srgbClr val="22D3EE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 编码语法能力</a:t>
              </a:r>
              <a:endParaRPr lang="zh-CN" altLang="en-US" sz="1800" b="1" spc="0" baseline="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9433560" y="1849755"/>
              <a:ext cx="421005" cy="748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4500" spc="0" baseline="0">
                  <a:solidFill>
                    <a:srgbClr val="22D3EE">
                      <a:alpha val="50000"/>
                    </a:srgbClr>
                  </a:solidFill>
                  <a:latin typeface="Georgia" panose="02040502050405020303"/>
                  <a:sym typeface="Georgia" panose="02040502050405020303"/>
                  <a:rtl val="0"/>
                </a:rPr>
                <a:t>"</a:t>
              </a:r>
              <a:endParaRPr lang="zh-CN" altLang="en-US" sz="4500" spc="0" baseline="0">
                <a:solidFill>
                  <a:srgbClr val="22D3EE">
                    <a:alpha val="50000"/>
                  </a:srgbClr>
                </a:solidFill>
                <a:latin typeface="Georgia" panose="02040502050405020303"/>
                <a:sym typeface="Georgia" panose="02040502050405020303"/>
                <a:rtl val="0"/>
              </a:endParaRPr>
            </a:p>
          </p:txBody>
        </p:sp>
      </p:grpSp>
      <p:grpSp>
        <p:nvGrpSpPr>
          <p:cNvPr id="15" name="SVG Image 8"/>
          <p:cNvGrpSpPr/>
          <p:nvPr/>
        </p:nvGrpSpPr>
        <p:grpSpPr>
          <a:xfrm>
            <a:off x="1333500" y="2952750"/>
            <a:ext cx="3048000" cy="2667000"/>
            <a:chOff x="1333500" y="2952750"/>
            <a:chExt cx="3048000" cy="2667000"/>
          </a:xfrm>
        </p:grpSpPr>
        <p:sp>
          <p:nvSpPr>
            <p:cNvPr id="16" name="任意多边形: 形状 15"/>
            <p:cNvSpPr/>
            <p:nvPr/>
          </p:nvSpPr>
          <p:spPr>
            <a:xfrm>
              <a:off x="1333500" y="2952750"/>
              <a:ext cx="3048000" cy="2667000"/>
            </a:xfrm>
            <a:custGeom>
              <a:avLst/>
              <a:gdLst>
                <a:gd name="connsiteX0" fmla="*/ 152540 w 3048000"/>
                <a:gd name="connsiteY0" fmla="*/ 310 h 2667000"/>
                <a:gd name="connsiteX1" fmla="*/ 2895740 w 3048000"/>
                <a:gd name="connsiteY1" fmla="*/ 310 h 2667000"/>
                <a:gd name="connsiteX2" fmla="*/ 3048140 w 3048000"/>
                <a:gd name="connsiteY2" fmla="*/ 152710 h 2667000"/>
                <a:gd name="connsiteX3" fmla="*/ 3048140 w 3048000"/>
                <a:gd name="connsiteY3" fmla="*/ 2514910 h 2667000"/>
                <a:gd name="connsiteX4" fmla="*/ 2895740 w 3048000"/>
                <a:gd name="connsiteY4" fmla="*/ 2667310 h 2667000"/>
                <a:gd name="connsiteX5" fmla="*/ 152540 w 3048000"/>
                <a:gd name="connsiteY5" fmla="*/ 2667310 h 2667000"/>
                <a:gd name="connsiteX6" fmla="*/ 140 w 3048000"/>
                <a:gd name="connsiteY6" fmla="*/ 2514910 h 2667000"/>
                <a:gd name="connsiteX7" fmla="*/ 140 w 3048000"/>
                <a:gd name="connsiteY7" fmla="*/ 152710 h 2667000"/>
                <a:gd name="connsiteX8" fmla="*/ 152540 w 3048000"/>
                <a:gd name="connsiteY8" fmla="*/ 310 h 266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48000" h="2667000">
                  <a:moveTo>
                    <a:pt x="152540" y="310"/>
                  </a:moveTo>
                  <a:lnTo>
                    <a:pt x="2895740" y="310"/>
                  </a:lnTo>
                  <a:cubicBezTo>
                    <a:pt x="2979908" y="310"/>
                    <a:pt x="3048140" y="68542"/>
                    <a:pt x="3048140" y="152710"/>
                  </a:cubicBezTo>
                  <a:lnTo>
                    <a:pt x="3048140" y="2514910"/>
                  </a:lnTo>
                  <a:cubicBezTo>
                    <a:pt x="3048140" y="2599078"/>
                    <a:pt x="2979908" y="2667310"/>
                    <a:pt x="2895740" y="2667310"/>
                  </a:cubicBezTo>
                  <a:lnTo>
                    <a:pt x="152540" y="2667310"/>
                  </a:lnTo>
                  <a:cubicBezTo>
                    <a:pt x="68372" y="2667310"/>
                    <a:pt x="140" y="2599078"/>
                    <a:pt x="140" y="2514910"/>
                  </a:cubicBezTo>
                  <a:lnTo>
                    <a:pt x="140" y="152710"/>
                  </a:lnTo>
                  <a:cubicBezTo>
                    <a:pt x="140" y="68542"/>
                    <a:pt x="68372" y="310"/>
                    <a:pt x="152540" y="310"/>
                  </a:cubicBezTo>
                  <a:close/>
                </a:path>
              </a:pathLst>
            </a:custGeom>
            <a:solidFill>
              <a:srgbClr val="1E3A5F">
                <a:alpha val="80000"/>
              </a:srgbClr>
            </a:solidFill>
            <a:ln w="28575" cap="flat">
              <a:solidFill>
                <a:srgbClr val="22D3E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多边形: 形状 16"/>
            <p:cNvSpPr/>
            <p:nvPr/>
          </p:nvSpPr>
          <p:spPr>
            <a:xfrm>
              <a:off x="3638550" y="3067050"/>
              <a:ext cx="533400" cy="533400"/>
            </a:xfrm>
            <a:custGeom>
              <a:avLst/>
              <a:gdLst>
                <a:gd name="connsiteX0" fmla="*/ 533540 w 533400"/>
                <a:gd name="connsiteY0" fmla="*/ 267010 h 533400"/>
                <a:gd name="connsiteX1" fmla="*/ 266840 w 533400"/>
                <a:gd name="connsiteY1" fmla="*/ 533710 h 533400"/>
                <a:gd name="connsiteX2" fmla="*/ 140 w 533400"/>
                <a:gd name="connsiteY2" fmla="*/ 267010 h 533400"/>
                <a:gd name="connsiteX3" fmla="*/ 266840 w 533400"/>
                <a:gd name="connsiteY3" fmla="*/ 310 h 533400"/>
                <a:gd name="connsiteX4" fmla="*/ 533540 w 533400"/>
                <a:gd name="connsiteY4" fmla="*/ 26701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3400" h="533400">
                  <a:moveTo>
                    <a:pt x="533540" y="267010"/>
                  </a:moveTo>
                  <a:cubicBezTo>
                    <a:pt x="533540" y="414304"/>
                    <a:pt x="414134" y="533710"/>
                    <a:pt x="266840" y="533710"/>
                  </a:cubicBezTo>
                  <a:cubicBezTo>
                    <a:pt x="119546" y="533710"/>
                    <a:pt x="140" y="414304"/>
                    <a:pt x="140" y="267010"/>
                  </a:cubicBezTo>
                  <a:cubicBezTo>
                    <a:pt x="140" y="119716"/>
                    <a:pt x="119546" y="310"/>
                    <a:pt x="266840" y="310"/>
                  </a:cubicBezTo>
                  <a:cubicBezTo>
                    <a:pt x="414134" y="310"/>
                    <a:pt x="533540" y="119716"/>
                    <a:pt x="533540" y="267010"/>
                  </a:cubicBezTo>
                  <a:close/>
                </a:path>
              </a:pathLst>
            </a:custGeom>
            <a:solidFill>
              <a:srgbClr val="E0F2F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3604260" y="3068955"/>
              <a:ext cx="601980" cy="5010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 spc="0" baseline="0">
                  <a:solidFill>
                    <a:srgbClr val="000000"/>
                  </a:solidFill>
                  <a:latin typeface="Segoe UI Emoji" panose="020B0502040204020203"/>
                  <a:sym typeface="Segoe UI Emoji" panose="020B0502040204020203"/>
                  <a:rtl val="0"/>
                </a:rPr>
                <a:t>🎯</a:t>
              </a:r>
              <a:endParaRPr lang="zh-CN" altLang="en-US" sz="2400" spc="0" baseline="0">
                <a:solidFill>
                  <a:srgbClr val="000000"/>
                </a:solidFill>
                <a:latin typeface="Segoe UI Emoji" panose="020B0502040204020203"/>
                <a:sym typeface="Segoe UI Emoji" panose="020B0502040204020203"/>
                <a:rtl val="0"/>
              </a:endParaRPr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1447800" y="3067050"/>
              <a:ext cx="533400" cy="533400"/>
            </a:xfrm>
            <a:custGeom>
              <a:avLst/>
              <a:gdLst>
                <a:gd name="connsiteX0" fmla="*/ 533540 w 533400"/>
                <a:gd name="connsiteY0" fmla="*/ 267010 h 533400"/>
                <a:gd name="connsiteX1" fmla="*/ 266840 w 533400"/>
                <a:gd name="connsiteY1" fmla="*/ 533710 h 533400"/>
                <a:gd name="connsiteX2" fmla="*/ 140 w 533400"/>
                <a:gd name="connsiteY2" fmla="*/ 267010 h 533400"/>
                <a:gd name="connsiteX3" fmla="*/ 266840 w 533400"/>
                <a:gd name="connsiteY3" fmla="*/ 310 h 533400"/>
                <a:gd name="connsiteX4" fmla="*/ 533540 w 533400"/>
                <a:gd name="connsiteY4" fmla="*/ 26701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3400" h="533400">
                  <a:moveTo>
                    <a:pt x="533540" y="267010"/>
                  </a:moveTo>
                  <a:cubicBezTo>
                    <a:pt x="533540" y="414304"/>
                    <a:pt x="414134" y="533710"/>
                    <a:pt x="266840" y="533710"/>
                  </a:cubicBezTo>
                  <a:cubicBezTo>
                    <a:pt x="119546" y="533710"/>
                    <a:pt x="140" y="414304"/>
                    <a:pt x="140" y="267010"/>
                  </a:cubicBezTo>
                  <a:cubicBezTo>
                    <a:pt x="140" y="119716"/>
                    <a:pt x="119546" y="310"/>
                    <a:pt x="266840" y="310"/>
                  </a:cubicBezTo>
                  <a:cubicBezTo>
                    <a:pt x="414134" y="310"/>
                    <a:pt x="533540" y="119716"/>
                    <a:pt x="533540" y="267010"/>
                  </a:cubicBezTo>
                  <a:close/>
                </a:path>
              </a:pathLst>
            </a:custGeom>
            <a:solidFill>
              <a:srgbClr val="22D3E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556385" y="3154680"/>
              <a:ext cx="316230" cy="3771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950" b="1" spc="0" baseline="0">
                  <a:solidFill>
                    <a:srgbClr val="FFFFFF"/>
                  </a:solidFill>
                  <a:latin typeface="Arial" panose="020B0604020202020204"/>
                  <a:cs typeface="Arial" panose="020B0604020202020204"/>
                  <a:sym typeface="Arial" panose="020B0604020202020204"/>
                  <a:rtl val="0"/>
                </a:rPr>
                <a:t>1</a:t>
              </a:r>
              <a:endParaRPr lang="zh-CN" altLang="en-US" sz="1950" b="1" spc="0" baseline="0">
                <a:solidFill>
                  <a:srgbClr val="FFFFFF"/>
                </a:solidFill>
                <a:latin typeface="Arial" panose="020B0604020202020204"/>
                <a:cs typeface="Arial" panose="020B0604020202020204"/>
                <a:sym typeface="Arial" panose="020B0604020202020204"/>
                <a:rtl val="0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2242185" y="3164205"/>
              <a:ext cx="1230630" cy="367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650" b="1" spc="0" baseline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保持小而美</a:t>
              </a:r>
              <a:endParaRPr lang="zh-CN" altLang="en-US" sz="1650" b="1" spc="0" baseline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  <p:sp>
          <p:nvSpPr>
            <p:cNvPr id="22" name="任意多边形: 形状 21"/>
            <p:cNvSpPr/>
            <p:nvPr/>
          </p:nvSpPr>
          <p:spPr>
            <a:xfrm>
              <a:off x="1619250" y="3762375"/>
              <a:ext cx="2476500" cy="9525"/>
            </a:xfrm>
            <a:custGeom>
              <a:avLst/>
              <a:gdLst>
                <a:gd name="connsiteX0" fmla="*/ 140 w 2476500"/>
                <a:gd name="connsiteY0" fmla="*/ 310 h 9525"/>
                <a:gd name="connsiteX1" fmla="*/ 2476640 w 2476500"/>
                <a:gd name="connsiteY1" fmla="*/ 31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76500" h="9525">
                  <a:moveTo>
                    <a:pt x="140" y="310"/>
                  </a:moveTo>
                  <a:lnTo>
                    <a:pt x="2476640" y="310"/>
                  </a:lnTo>
                </a:path>
              </a:pathLst>
            </a:custGeom>
            <a:ln w="19050" cap="flat">
              <a:solidFill>
                <a:srgbClr val="47556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527810" y="3888105"/>
              <a:ext cx="1363980" cy="2914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solidFill>
                    <a:srgbClr val="E2E8F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• 控制系统复杂度</a:t>
              </a:r>
              <a:endParaRPr lang="zh-CN" altLang="en-US" sz="1200" spc="0" baseline="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527810" y="4192905"/>
              <a:ext cx="1516380" cy="2914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solidFill>
                    <a:srgbClr val="E2E8F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• 避免大型单体应用</a:t>
              </a:r>
              <a:endParaRPr lang="zh-CN" altLang="en-US" sz="1200" spc="0" baseline="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527810" y="4497705"/>
              <a:ext cx="1516380" cy="2914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solidFill>
                    <a:srgbClr val="E2E8F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• 优先实现核心功能</a:t>
              </a:r>
              <a:endParaRPr lang="zh-CN" altLang="en-US" sz="1200" spc="0" baseline="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527810" y="4802505"/>
              <a:ext cx="1363980" cy="2914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solidFill>
                    <a:srgbClr val="E2E8F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• 后期可逐步迭代</a:t>
              </a:r>
              <a:endParaRPr lang="zh-CN" altLang="en-US" sz="1200" spc="0" baseline="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</p:grpSp>
      <p:grpSp>
        <p:nvGrpSpPr>
          <p:cNvPr id="27" name="SVG Image 8"/>
          <p:cNvGrpSpPr/>
          <p:nvPr/>
        </p:nvGrpSpPr>
        <p:grpSpPr>
          <a:xfrm>
            <a:off x="4572000" y="2952750"/>
            <a:ext cx="3048000" cy="2667000"/>
            <a:chOff x="4572000" y="2952750"/>
            <a:chExt cx="3048000" cy="2667000"/>
          </a:xfrm>
        </p:grpSpPr>
        <p:sp>
          <p:nvSpPr>
            <p:cNvPr id="28" name="任意多边形: 形状 27"/>
            <p:cNvSpPr/>
            <p:nvPr/>
          </p:nvSpPr>
          <p:spPr>
            <a:xfrm>
              <a:off x="4572000" y="2952750"/>
              <a:ext cx="3048000" cy="2667000"/>
            </a:xfrm>
            <a:custGeom>
              <a:avLst/>
              <a:gdLst>
                <a:gd name="connsiteX0" fmla="*/ 152880 w 3048000"/>
                <a:gd name="connsiteY0" fmla="*/ 310 h 2667000"/>
                <a:gd name="connsiteX1" fmla="*/ 2896080 w 3048000"/>
                <a:gd name="connsiteY1" fmla="*/ 310 h 2667000"/>
                <a:gd name="connsiteX2" fmla="*/ 3048480 w 3048000"/>
                <a:gd name="connsiteY2" fmla="*/ 152710 h 2667000"/>
                <a:gd name="connsiteX3" fmla="*/ 3048480 w 3048000"/>
                <a:gd name="connsiteY3" fmla="*/ 2514910 h 2667000"/>
                <a:gd name="connsiteX4" fmla="*/ 2896080 w 3048000"/>
                <a:gd name="connsiteY4" fmla="*/ 2667310 h 2667000"/>
                <a:gd name="connsiteX5" fmla="*/ 152880 w 3048000"/>
                <a:gd name="connsiteY5" fmla="*/ 2667310 h 2667000"/>
                <a:gd name="connsiteX6" fmla="*/ 480 w 3048000"/>
                <a:gd name="connsiteY6" fmla="*/ 2514910 h 2667000"/>
                <a:gd name="connsiteX7" fmla="*/ 480 w 3048000"/>
                <a:gd name="connsiteY7" fmla="*/ 152710 h 2667000"/>
                <a:gd name="connsiteX8" fmla="*/ 152880 w 3048000"/>
                <a:gd name="connsiteY8" fmla="*/ 310 h 266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48000" h="2667000">
                  <a:moveTo>
                    <a:pt x="152880" y="310"/>
                  </a:moveTo>
                  <a:lnTo>
                    <a:pt x="2896080" y="310"/>
                  </a:lnTo>
                  <a:cubicBezTo>
                    <a:pt x="2980248" y="310"/>
                    <a:pt x="3048480" y="68542"/>
                    <a:pt x="3048480" y="152710"/>
                  </a:cubicBezTo>
                  <a:lnTo>
                    <a:pt x="3048480" y="2514910"/>
                  </a:lnTo>
                  <a:cubicBezTo>
                    <a:pt x="3048480" y="2599078"/>
                    <a:pt x="2980248" y="2667310"/>
                    <a:pt x="2896080" y="2667310"/>
                  </a:cubicBezTo>
                  <a:lnTo>
                    <a:pt x="152880" y="2667310"/>
                  </a:lnTo>
                  <a:cubicBezTo>
                    <a:pt x="68712" y="2667310"/>
                    <a:pt x="480" y="2599078"/>
                    <a:pt x="480" y="2514910"/>
                  </a:cubicBezTo>
                  <a:lnTo>
                    <a:pt x="480" y="152710"/>
                  </a:lnTo>
                  <a:cubicBezTo>
                    <a:pt x="480" y="68542"/>
                    <a:pt x="68712" y="310"/>
                    <a:pt x="152880" y="310"/>
                  </a:cubicBezTo>
                  <a:close/>
                </a:path>
              </a:pathLst>
            </a:custGeom>
            <a:solidFill>
              <a:srgbClr val="1E3A5F">
                <a:alpha val="80000"/>
              </a:srgbClr>
            </a:solidFill>
            <a:ln w="28575" cap="flat">
              <a:solidFill>
                <a:srgbClr val="F59E0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" name="任意多边形: 形状 28"/>
            <p:cNvSpPr/>
            <p:nvPr/>
          </p:nvSpPr>
          <p:spPr>
            <a:xfrm>
              <a:off x="6877050" y="3067050"/>
              <a:ext cx="533400" cy="533400"/>
            </a:xfrm>
            <a:custGeom>
              <a:avLst/>
              <a:gdLst>
                <a:gd name="connsiteX0" fmla="*/ 533880 w 533400"/>
                <a:gd name="connsiteY0" fmla="*/ 267010 h 533400"/>
                <a:gd name="connsiteX1" fmla="*/ 267180 w 533400"/>
                <a:gd name="connsiteY1" fmla="*/ 533710 h 533400"/>
                <a:gd name="connsiteX2" fmla="*/ 480 w 533400"/>
                <a:gd name="connsiteY2" fmla="*/ 267010 h 533400"/>
                <a:gd name="connsiteX3" fmla="*/ 267180 w 533400"/>
                <a:gd name="connsiteY3" fmla="*/ 310 h 533400"/>
                <a:gd name="connsiteX4" fmla="*/ 533880 w 533400"/>
                <a:gd name="connsiteY4" fmla="*/ 26701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3400" h="533400">
                  <a:moveTo>
                    <a:pt x="533880" y="267010"/>
                  </a:moveTo>
                  <a:cubicBezTo>
                    <a:pt x="533880" y="414304"/>
                    <a:pt x="414474" y="533710"/>
                    <a:pt x="267180" y="533710"/>
                  </a:cubicBezTo>
                  <a:cubicBezTo>
                    <a:pt x="119886" y="533710"/>
                    <a:pt x="480" y="414304"/>
                    <a:pt x="480" y="267010"/>
                  </a:cubicBezTo>
                  <a:cubicBezTo>
                    <a:pt x="480" y="119716"/>
                    <a:pt x="119886" y="310"/>
                    <a:pt x="267180" y="310"/>
                  </a:cubicBezTo>
                  <a:cubicBezTo>
                    <a:pt x="414474" y="310"/>
                    <a:pt x="533880" y="119716"/>
                    <a:pt x="533880" y="267010"/>
                  </a:cubicBezTo>
                  <a:close/>
                </a:path>
              </a:pathLst>
            </a:custGeom>
            <a:solidFill>
              <a:srgbClr val="FEF3C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6842760" y="3068955"/>
              <a:ext cx="601980" cy="5010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 spc="0" baseline="0">
                  <a:solidFill>
                    <a:srgbClr val="000000"/>
                  </a:solidFill>
                  <a:latin typeface="Segoe UI Emoji" panose="020B0502040204020203"/>
                  <a:sym typeface="Segoe UI Emoji" panose="020B0502040204020203"/>
                  <a:rtl val="0"/>
                </a:rPr>
                <a:t>👁️</a:t>
              </a:r>
              <a:endParaRPr lang="zh-CN" altLang="en-US" sz="2400" spc="0" baseline="0">
                <a:solidFill>
                  <a:srgbClr val="000000"/>
                </a:solidFill>
                <a:latin typeface="Segoe UI Emoji" panose="020B0502040204020203"/>
                <a:sym typeface="Segoe UI Emoji" panose="020B0502040204020203"/>
                <a:rtl val="0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4686300" y="3067050"/>
              <a:ext cx="533400" cy="533400"/>
            </a:xfrm>
            <a:custGeom>
              <a:avLst/>
              <a:gdLst>
                <a:gd name="connsiteX0" fmla="*/ 533880 w 533400"/>
                <a:gd name="connsiteY0" fmla="*/ 267010 h 533400"/>
                <a:gd name="connsiteX1" fmla="*/ 267180 w 533400"/>
                <a:gd name="connsiteY1" fmla="*/ 533710 h 533400"/>
                <a:gd name="connsiteX2" fmla="*/ 480 w 533400"/>
                <a:gd name="connsiteY2" fmla="*/ 267010 h 533400"/>
                <a:gd name="connsiteX3" fmla="*/ 267180 w 533400"/>
                <a:gd name="connsiteY3" fmla="*/ 310 h 533400"/>
                <a:gd name="connsiteX4" fmla="*/ 533880 w 533400"/>
                <a:gd name="connsiteY4" fmla="*/ 26701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3400" h="533400">
                  <a:moveTo>
                    <a:pt x="533880" y="267010"/>
                  </a:moveTo>
                  <a:cubicBezTo>
                    <a:pt x="533880" y="414304"/>
                    <a:pt x="414474" y="533710"/>
                    <a:pt x="267180" y="533710"/>
                  </a:cubicBezTo>
                  <a:cubicBezTo>
                    <a:pt x="119886" y="533710"/>
                    <a:pt x="480" y="414304"/>
                    <a:pt x="480" y="267010"/>
                  </a:cubicBezTo>
                  <a:cubicBezTo>
                    <a:pt x="480" y="119716"/>
                    <a:pt x="119886" y="310"/>
                    <a:pt x="267180" y="310"/>
                  </a:cubicBezTo>
                  <a:cubicBezTo>
                    <a:pt x="414474" y="310"/>
                    <a:pt x="533880" y="119716"/>
                    <a:pt x="533880" y="267010"/>
                  </a:cubicBezTo>
                  <a:close/>
                </a:path>
              </a:pathLst>
            </a:custGeom>
            <a:solidFill>
              <a:srgbClr val="F59E0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4794885" y="3154680"/>
              <a:ext cx="316230" cy="3771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950" b="1" spc="0" baseline="0">
                  <a:solidFill>
                    <a:srgbClr val="FFFFFF"/>
                  </a:solidFill>
                  <a:latin typeface="Arial" panose="020B0604020202020204"/>
                  <a:cs typeface="Arial" panose="020B0604020202020204"/>
                  <a:sym typeface="Arial" panose="020B0604020202020204"/>
                  <a:rtl val="0"/>
                </a:rPr>
                <a:t>2</a:t>
              </a:r>
              <a:endParaRPr lang="zh-CN" altLang="en-US" sz="1950" b="1" spc="0" baseline="0">
                <a:solidFill>
                  <a:srgbClr val="FFFFFF"/>
                </a:solidFill>
                <a:latin typeface="Arial" panose="020B0604020202020204"/>
                <a:cs typeface="Arial" panose="020B0604020202020204"/>
                <a:sym typeface="Arial" panose="020B0604020202020204"/>
                <a:rtl val="0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5585460" y="3164205"/>
              <a:ext cx="1021080" cy="367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650" b="1" spc="0" baseline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人工介入</a:t>
              </a:r>
              <a:endParaRPr lang="zh-CN" altLang="en-US" sz="1650" b="1" spc="0" baseline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  <p:sp>
          <p:nvSpPr>
            <p:cNvPr id="34" name="任意多边形: 形状 33"/>
            <p:cNvSpPr/>
            <p:nvPr/>
          </p:nvSpPr>
          <p:spPr>
            <a:xfrm>
              <a:off x="4857750" y="3762375"/>
              <a:ext cx="2476500" cy="9525"/>
            </a:xfrm>
            <a:custGeom>
              <a:avLst/>
              <a:gdLst>
                <a:gd name="connsiteX0" fmla="*/ 480 w 2476500"/>
                <a:gd name="connsiteY0" fmla="*/ 310 h 9525"/>
                <a:gd name="connsiteX1" fmla="*/ 2476980 w 2476500"/>
                <a:gd name="connsiteY1" fmla="*/ 31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76500" h="9525">
                  <a:moveTo>
                    <a:pt x="480" y="310"/>
                  </a:moveTo>
                  <a:lnTo>
                    <a:pt x="2476980" y="310"/>
                  </a:lnTo>
                </a:path>
              </a:pathLst>
            </a:custGeom>
            <a:ln w="19050" cap="flat">
              <a:solidFill>
                <a:srgbClr val="47556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4766310" y="3888105"/>
              <a:ext cx="1764030" cy="2914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solidFill>
                    <a:srgbClr val="E2E8F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• 支付环节人工 Review</a:t>
              </a:r>
              <a:endParaRPr lang="zh-CN" altLang="en-US" sz="1200" spc="0" baseline="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4766310" y="4192905"/>
              <a:ext cx="1516380" cy="2914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solidFill>
                    <a:srgbClr val="E2E8F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• 安全代码人工审计</a:t>
              </a:r>
              <a:endParaRPr lang="zh-CN" altLang="en-US" sz="1200" spc="0" baseline="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4766310" y="4497705"/>
              <a:ext cx="1516380" cy="2914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solidFill>
                    <a:srgbClr val="E2E8F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• 核心架构人工决策</a:t>
              </a:r>
              <a:endParaRPr lang="zh-CN" altLang="en-US" sz="1200" spc="0" baseline="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4766310" y="4802505"/>
              <a:ext cx="1564005" cy="2914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solidFill>
                    <a:srgbClr val="E2E8F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• AI 是助手不是替代</a:t>
              </a:r>
              <a:endParaRPr lang="zh-CN" altLang="en-US" sz="1200" spc="0" baseline="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</p:grpSp>
      <p:grpSp>
        <p:nvGrpSpPr>
          <p:cNvPr id="39" name="SVG Image 8"/>
          <p:cNvGrpSpPr/>
          <p:nvPr/>
        </p:nvGrpSpPr>
        <p:grpSpPr>
          <a:xfrm>
            <a:off x="7810500" y="2952750"/>
            <a:ext cx="3048000" cy="2667000"/>
            <a:chOff x="7810500" y="2952750"/>
            <a:chExt cx="3048000" cy="2667000"/>
          </a:xfrm>
        </p:grpSpPr>
        <p:sp>
          <p:nvSpPr>
            <p:cNvPr id="40" name="任意多边形: 形状 39"/>
            <p:cNvSpPr/>
            <p:nvPr/>
          </p:nvSpPr>
          <p:spPr>
            <a:xfrm>
              <a:off x="7810500" y="2952750"/>
              <a:ext cx="3048000" cy="2667000"/>
            </a:xfrm>
            <a:custGeom>
              <a:avLst/>
              <a:gdLst>
                <a:gd name="connsiteX0" fmla="*/ 153220 w 3048000"/>
                <a:gd name="connsiteY0" fmla="*/ 310 h 2667000"/>
                <a:gd name="connsiteX1" fmla="*/ 2896420 w 3048000"/>
                <a:gd name="connsiteY1" fmla="*/ 310 h 2667000"/>
                <a:gd name="connsiteX2" fmla="*/ 3048820 w 3048000"/>
                <a:gd name="connsiteY2" fmla="*/ 152710 h 2667000"/>
                <a:gd name="connsiteX3" fmla="*/ 3048820 w 3048000"/>
                <a:gd name="connsiteY3" fmla="*/ 2514910 h 2667000"/>
                <a:gd name="connsiteX4" fmla="*/ 2896420 w 3048000"/>
                <a:gd name="connsiteY4" fmla="*/ 2667310 h 2667000"/>
                <a:gd name="connsiteX5" fmla="*/ 153220 w 3048000"/>
                <a:gd name="connsiteY5" fmla="*/ 2667310 h 2667000"/>
                <a:gd name="connsiteX6" fmla="*/ 820 w 3048000"/>
                <a:gd name="connsiteY6" fmla="*/ 2514910 h 2667000"/>
                <a:gd name="connsiteX7" fmla="*/ 820 w 3048000"/>
                <a:gd name="connsiteY7" fmla="*/ 152710 h 2667000"/>
                <a:gd name="connsiteX8" fmla="*/ 153220 w 3048000"/>
                <a:gd name="connsiteY8" fmla="*/ 310 h 266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48000" h="2667000">
                  <a:moveTo>
                    <a:pt x="153220" y="310"/>
                  </a:moveTo>
                  <a:lnTo>
                    <a:pt x="2896420" y="310"/>
                  </a:lnTo>
                  <a:cubicBezTo>
                    <a:pt x="2980588" y="310"/>
                    <a:pt x="3048820" y="68542"/>
                    <a:pt x="3048820" y="152710"/>
                  </a:cubicBezTo>
                  <a:lnTo>
                    <a:pt x="3048820" y="2514910"/>
                  </a:lnTo>
                  <a:cubicBezTo>
                    <a:pt x="3048820" y="2599078"/>
                    <a:pt x="2980588" y="2667310"/>
                    <a:pt x="2896420" y="2667310"/>
                  </a:cubicBezTo>
                  <a:lnTo>
                    <a:pt x="153220" y="2667310"/>
                  </a:lnTo>
                  <a:cubicBezTo>
                    <a:pt x="69052" y="2667310"/>
                    <a:pt x="820" y="2599078"/>
                    <a:pt x="820" y="2514910"/>
                  </a:cubicBezTo>
                  <a:lnTo>
                    <a:pt x="820" y="152710"/>
                  </a:lnTo>
                  <a:cubicBezTo>
                    <a:pt x="820" y="68542"/>
                    <a:pt x="69052" y="310"/>
                    <a:pt x="153220" y="310"/>
                  </a:cubicBezTo>
                  <a:close/>
                </a:path>
              </a:pathLst>
            </a:custGeom>
            <a:solidFill>
              <a:srgbClr val="1E3A5F">
                <a:alpha val="80000"/>
              </a:srgbClr>
            </a:solidFill>
            <a:ln w="28575" cap="flat">
              <a:solidFill>
                <a:srgbClr val="6366F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" name="任意多边形: 形状 40"/>
            <p:cNvSpPr/>
            <p:nvPr/>
          </p:nvSpPr>
          <p:spPr>
            <a:xfrm>
              <a:off x="10115550" y="3067050"/>
              <a:ext cx="533400" cy="533400"/>
            </a:xfrm>
            <a:custGeom>
              <a:avLst/>
              <a:gdLst>
                <a:gd name="connsiteX0" fmla="*/ 534220 w 533400"/>
                <a:gd name="connsiteY0" fmla="*/ 267010 h 533400"/>
                <a:gd name="connsiteX1" fmla="*/ 267520 w 533400"/>
                <a:gd name="connsiteY1" fmla="*/ 533710 h 533400"/>
                <a:gd name="connsiteX2" fmla="*/ 820 w 533400"/>
                <a:gd name="connsiteY2" fmla="*/ 267010 h 533400"/>
                <a:gd name="connsiteX3" fmla="*/ 267520 w 533400"/>
                <a:gd name="connsiteY3" fmla="*/ 310 h 533400"/>
                <a:gd name="connsiteX4" fmla="*/ 534220 w 533400"/>
                <a:gd name="connsiteY4" fmla="*/ 26701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3400" h="533400">
                  <a:moveTo>
                    <a:pt x="534220" y="267010"/>
                  </a:moveTo>
                  <a:cubicBezTo>
                    <a:pt x="534220" y="414304"/>
                    <a:pt x="414814" y="533710"/>
                    <a:pt x="267520" y="533710"/>
                  </a:cubicBezTo>
                  <a:cubicBezTo>
                    <a:pt x="120226" y="533710"/>
                    <a:pt x="820" y="414304"/>
                    <a:pt x="820" y="267010"/>
                  </a:cubicBezTo>
                  <a:cubicBezTo>
                    <a:pt x="820" y="119716"/>
                    <a:pt x="120226" y="310"/>
                    <a:pt x="267520" y="310"/>
                  </a:cubicBezTo>
                  <a:cubicBezTo>
                    <a:pt x="414814" y="310"/>
                    <a:pt x="534220" y="119716"/>
                    <a:pt x="534220" y="267010"/>
                  </a:cubicBezTo>
                  <a:close/>
                </a:path>
              </a:pathLst>
            </a:custGeom>
            <a:solidFill>
              <a:srgbClr val="EDE9F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0081260" y="3068955"/>
              <a:ext cx="601980" cy="5010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 spc="0" baseline="0">
                  <a:solidFill>
                    <a:srgbClr val="000000"/>
                  </a:solidFill>
                  <a:latin typeface="Segoe UI Emoji" panose="020B0502040204020203"/>
                  <a:sym typeface="Segoe UI Emoji" panose="020B0502040204020203"/>
                  <a:rtl val="0"/>
                </a:rPr>
                <a:t>🧘</a:t>
              </a:r>
              <a:endParaRPr lang="zh-CN" altLang="en-US" sz="2400" spc="0" baseline="0">
                <a:solidFill>
                  <a:srgbClr val="000000"/>
                </a:solidFill>
                <a:latin typeface="Segoe UI Emoji" panose="020B0502040204020203"/>
                <a:sym typeface="Segoe UI Emoji" panose="020B0502040204020203"/>
                <a:rtl val="0"/>
              </a:endParaRPr>
            </a:p>
          </p:txBody>
        </p:sp>
        <p:sp>
          <p:nvSpPr>
            <p:cNvPr id="43" name="任意多边形: 形状 42"/>
            <p:cNvSpPr/>
            <p:nvPr/>
          </p:nvSpPr>
          <p:spPr>
            <a:xfrm>
              <a:off x="7924800" y="3067050"/>
              <a:ext cx="533400" cy="533400"/>
            </a:xfrm>
            <a:custGeom>
              <a:avLst/>
              <a:gdLst>
                <a:gd name="connsiteX0" fmla="*/ 534220 w 533400"/>
                <a:gd name="connsiteY0" fmla="*/ 267010 h 533400"/>
                <a:gd name="connsiteX1" fmla="*/ 267520 w 533400"/>
                <a:gd name="connsiteY1" fmla="*/ 533710 h 533400"/>
                <a:gd name="connsiteX2" fmla="*/ 820 w 533400"/>
                <a:gd name="connsiteY2" fmla="*/ 267010 h 533400"/>
                <a:gd name="connsiteX3" fmla="*/ 267520 w 533400"/>
                <a:gd name="connsiteY3" fmla="*/ 310 h 533400"/>
                <a:gd name="connsiteX4" fmla="*/ 534220 w 533400"/>
                <a:gd name="connsiteY4" fmla="*/ 26701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3400" h="533400">
                  <a:moveTo>
                    <a:pt x="534220" y="267010"/>
                  </a:moveTo>
                  <a:cubicBezTo>
                    <a:pt x="534220" y="414304"/>
                    <a:pt x="414814" y="533710"/>
                    <a:pt x="267520" y="533710"/>
                  </a:cubicBezTo>
                  <a:cubicBezTo>
                    <a:pt x="120226" y="533710"/>
                    <a:pt x="820" y="414304"/>
                    <a:pt x="820" y="267010"/>
                  </a:cubicBezTo>
                  <a:cubicBezTo>
                    <a:pt x="820" y="119716"/>
                    <a:pt x="120226" y="310"/>
                    <a:pt x="267520" y="310"/>
                  </a:cubicBezTo>
                  <a:cubicBezTo>
                    <a:pt x="414814" y="310"/>
                    <a:pt x="534220" y="119716"/>
                    <a:pt x="534220" y="267010"/>
                  </a:cubicBezTo>
                  <a:close/>
                </a:path>
              </a:pathLst>
            </a:custGeom>
            <a:solidFill>
              <a:srgbClr val="6366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8033385" y="3154680"/>
              <a:ext cx="316230" cy="3771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950" b="1" spc="0" baseline="0">
                  <a:solidFill>
                    <a:srgbClr val="FFFFFF"/>
                  </a:solidFill>
                  <a:latin typeface="Arial" panose="020B0604020202020204"/>
                  <a:cs typeface="Arial" panose="020B0604020202020204"/>
                  <a:sym typeface="Arial" panose="020B0604020202020204"/>
                  <a:rtl val="0"/>
                </a:rPr>
                <a:t>3</a:t>
              </a:r>
              <a:endParaRPr lang="zh-CN" altLang="en-US" sz="1950" b="1" spc="0" baseline="0">
                <a:solidFill>
                  <a:srgbClr val="FFFFFF"/>
                </a:solidFill>
                <a:latin typeface="Arial" panose="020B0604020202020204"/>
                <a:cs typeface="Arial" panose="020B0604020202020204"/>
                <a:sym typeface="Arial" panose="020B0604020202020204"/>
                <a:rtl val="0"/>
              </a:endParaRP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8823960" y="3164205"/>
              <a:ext cx="1021080" cy="367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650" b="1" spc="0" baseline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心态管理</a:t>
              </a:r>
              <a:endParaRPr lang="zh-CN" altLang="en-US" sz="1650" b="1" spc="0" baseline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8096250" y="3762375"/>
              <a:ext cx="2476500" cy="9525"/>
            </a:xfrm>
            <a:custGeom>
              <a:avLst/>
              <a:gdLst>
                <a:gd name="connsiteX0" fmla="*/ 820 w 2476500"/>
                <a:gd name="connsiteY0" fmla="*/ 310 h 9525"/>
                <a:gd name="connsiteX1" fmla="*/ 2477320 w 2476500"/>
                <a:gd name="connsiteY1" fmla="*/ 31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76500" h="9525">
                  <a:moveTo>
                    <a:pt x="820" y="310"/>
                  </a:moveTo>
                  <a:lnTo>
                    <a:pt x="2477320" y="310"/>
                  </a:lnTo>
                </a:path>
              </a:pathLst>
            </a:custGeom>
            <a:ln w="19050" cap="flat">
              <a:solidFill>
                <a:srgbClr val="47556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8004810" y="3888105"/>
              <a:ext cx="1459230" cy="2914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solidFill>
                    <a:srgbClr val="E2E8F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• 把 AI 当初级搭档</a:t>
              </a:r>
              <a:endParaRPr lang="zh-CN" altLang="en-US" sz="1200" spc="0" baseline="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8004810" y="4192905"/>
              <a:ext cx="1363980" cy="2914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solidFill>
                    <a:srgbClr val="E2E8F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• 保持耐心和细致</a:t>
              </a:r>
              <a:endParaRPr lang="zh-CN" altLang="en-US" sz="1200" spc="0" baseline="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8004810" y="4497705"/>
              <a:ext cx="1516380" cy="2914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solidFill>
                    <a:srgbClr val="E2E8F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• 接受反复迭代调试</a:t>
              </a:r>
              <a:endParaRPr lang="zh-CN" altLang="en-US" sz="1200" spc="0" baseline="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8004810" y="4802505"/>
              <a:ext cx="1363980" cy="2914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solidFill>
                    <a:srgbClr val="E2E8F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• 持续学习新技巧</a:t>
              </a:r>
              <a:endParaRPr lang="zh-CN" altLang="en-US" sz="1200" spc="0" baseline="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</p:grpSp>
      <p:grpSp>
        <p:nvGrpSpPr>
          <p:cNvPr id="51" name="SVG Image 8"/>
          <p:cNvGrpSpPr/>
          <p:nvPr/>
        </p:nvGrpSpPr>
        <p:grpSpPr>
          <a:xfrm>
            <a:off x="3238500" y="6000750"/>
            <a:ext cx="5715000" cy="571500"/>
            <a:chOff x="3238500" y="6000750"/>
            <a:chExt cx="5715000" cy="571500"/>
          </a:xfrm>
        </p:grpSpPr>
        <p:sp>
          <p:nvSpPr>
            <p:cNvPr id="52" name="任意多边形: 形状 51"/>
            <p:cNvSpPr/>
            <p:nvPr/>
          </p:nvSpPr>
          <p:spPr>
            <a:xfrm>
              <a:off x="3238500" y="6000750"/>
              <a:ext cx="5715000" cy="571500"/>
            </a:xfrm>
            <a:custGeom>
              <a:avLst/>
              <a:gdLst>
                <a:gd name="connsiteX0" fmla="*/ 286390 w 5715000"/>
                <a:gd name="connsiteY0" fmla="*/ 660 h 571500"/>
                <a:gd name="connsiteX1" fmla="*/ 5429890 w 5715000"/>
                <a:gd name="connsiteY1" fmla="*/ 660 h 571500"/>
                <a:gd name="connsiteX2" fmla="*/ 5715640 w 5715000"/>
                <a:gd name="connsiteY2" fmla="*/ 286410 h 571500"/>
                <a:gd name="connsiteX3" fmla="*/ 5715640 w 5715000"/>
                <a:gd name="connsiteY3" fmla="*/ 286410 h 571500"/>
                <a:gd name="connsiteX4" fmla="*/ 5429890 w 5715000"/>
                <a:gd name="connsiteY4" fmla="*/ 572160 h 571500"/>
                <a:gd name="connsiteX5" fmla="*/ 286390 w 5715000"/>
                <a:gd name="connsiteY5" fmla="*/ 572160 h 571500"/>
                <a:gd name="connsiteX6" fmla="*/ 640 w 5715000"/>
                <a:gd name="connsiteY6" fmla="*/ 286410 h 571500"/>
                <a:gd name="connsiteX7" fmla="*/ 640 w 5715000"/>
                <a:gd name="connsiteY7" fmla="*/ 286410 h 571500"/>
                <a:gd name="connsiteX8" fmla="*/ 286390 w 5715000"/>
                <a:gd name="connsiteY8" fmla="*/ 66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5000" h="571500">
                  <a:moveTo>
                    <a:pt x="286390" y="660"/>
                  </a:moveTo>
                  <a:lnTo>
                    <a:pt x="5429890" y="660"/>
                  </a:lnTo>
                  <a:cubicBezTo>
                    <a:pt x="5587706" y="660"/>
                    <a:pt x="5715640" y="128595"/>
                    <a:pt x="5715640" y="286410"/>
                  </a:cubicBezTo>
                  <a:lnTo>
                    <a:pt x="5715640" y="286410"/>
                  </a:lnTo>
                  <a:cubicBezTo>
                    <a:pt x="5715640" y="444225"/>
                    <a:pt x="5587706" y="572160"/>
                    <a:pt x="5429890" y="572160"/>
                  </a:cubicBezTo>
                  <a:lnTo>
                    <a:pt x="286390" y="572160"/>
                  </a:lnTo>
                  <a:cubicBezTo>
                    <a:pt x="128575" y="572160"/>
                    <a:pt x="640" y="444225"/>
                    <a:pt x="640" y="286410"/>
                  </a:cubicBezTo>
                  <a:lnTo>
                    <a:pt x="640" y="286410"/>
                  </a:lnTo>
                  <a:cubicBezTo>
                    <a:pt x="640" y="128595"/>
                    <a:pt x="128575" y="660"/>
                    <a:pt x="286390" y="660"/>
                  </a:cubicBezTo>
                  <a:close/>
                </a:path>
              </a:pathLst>
            </a:custGeom>
            <a:solidFill>
              <a:srgbClr val="22D3EE">
                <a:alpha val="30000"/>
              </a:srgbClr>
            </a:solidFill>
            <a:ln w="19050" cap="flat">
              <a:solidFill>
                <a:srgbClr val="22D3E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5099684" y="6126480"/>
              <a:ext cx="1992630" cy="3200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350" spc="0" baseline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  <a:rtl val="0"/>
                </a:rPr>
                <a:t>让 AI 成为你的开发利器</a:t>
              </a:r>
              <a:endParaRPr lang="zh-CN" altLang="en-US" sz="1350" spc="0" baseline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1599</Words>
  <Application>WPS 演示</Application>
  <PresentationFormat>宽屏</PresentationFormat>
  <Paragraphs>385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宋体</vt:lpstr>
      <vt:lpstr>Wingdings</vt:lpstr>
      <vt:lpstr>Arial</vt:lpstr>
      <vt:lpstr>Consolas</vt:lpstr>
      <vt:lpstr>Segoe UI Symbol</vt:lpstr>
      <vt:lpstr>微软雅黑</vt:lpstr>
      <vt:lpstr>Segoe UI Emoji</vt:lpstr>
      <vt:lpstr>Georgia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修明</cp:lastModifiedBy>
  <cp:revision>5</cp:revision>
  <dcterms:created xsi:type="dcterms:W3CDTF">2013-01-27T09:14:00Z</dcterms:created>
  <dcterms:modified xsi:type="dcterms:W3CDTF">2026-01-13T06:37:34Z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53C6B085DAF74C6DB711AED2AD92AAF1_12</vt:lpwstr>
  </property>
  <property fmtid="{D5CDD505-2E9C-101B-9397-08002B2CF9AE}" pid="3" name="KSOProductBuildVer">
    <vt:lpwstr>2052-12.1.0.24034</vt:lpwstr>
  </property>
</Properties>
</file>